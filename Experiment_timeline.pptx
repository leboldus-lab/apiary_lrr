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</p:sldIdLst>
  <p:sldSz cx="10080625" cy="5670550"/>
  <p:notesSz cx="7772400" cy="10058400"/>
</p:presentation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3288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3288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504000" y="226080"/>
            <a:ext cx="9072000" cy="43884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3288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3288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5152680" y="304452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907200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504000" y="3044520"/>
            <a:ext cx="907200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body"/>
          </p:nvPr>
        </p:nvSpPr>
        <p:spPr>
          <a:xfrm>
            <a:off x="5152680" y="304452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292104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3571560" y="1326600"/>
            <a:ext cx="292104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body"/>
          </p:nvPr>
        </p:nvSpPr>
        <p:spPr>
          <a:xfrm>
            <a:off x="6639120" y="1326600"/>
            <a:ext cx="292104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body"/>
          </p:nvPr>
        </p:nvSpPr>
        <p:spPr>
          <a:xfrm>
            <a:off x="504000" y="3044520"/>
            <a:ext cx="292104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 type="body"/>
          </p:nvPr>
        </p:nvSpPr>
        <p:spPr>
          <a:xfrm>
            <a:off x="3571560" y="3044520"/>
            <a:ext cx="292104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 type="body"/>
          </p:nvPr>
        </p:nvSpPr>
        <p:spPr>
          <a:xfrm>
            <a:off x="6639120" y="3044520"/>
            <a:ext cx="292104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Straight Connector 37"/>
          <p:cNvSpPr/>
          <p:nvPr/>
        </p:nvSpPr>
        <p:spPr>
          <a:xfrm>
            <a:off x="51840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9" name="Straight Connector 38"/>
          <p:cNvSpPr/>
          <p:nvPr/>
        </p:nvSpPr>
        <p:spPr>
          <a:xfrm>
            <a:off x="42696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0" name="Straight Connector 39"/>
          <p:cNvSpPr/>
          <p:nvPr/>
        </p:nvSpPr>
        <p:spPr>
          <a:xfrm>
            <a:off x="33552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1" name="Straight Connector 40"/>
          <p:cNvSpPr/>
          <p:nvPr/>
        </p:nvSpPr>
        <p:spPr>
          <a:xfrm>
            <a:off x="24408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2" name="Straight Connector 41"/>
          <p:cNvSpPr/>
          <p:nvPr/>
        </p:nvSpPr>
        <p:spPr>
          <a:xfrm>
            <a:off x="60984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3" name="Straight Connector 42"/>
          <p:cNvSpPr/>
          <p:nvPr/>
        </p:nvSpPr>
        <p:spPr>
          <a:xfrm>
            <a:off x="70128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4" name="Straight Connector 43"/>
          <p:cNvSpPr/>
          <p:nvPr/>
        </p:nvSpPr>
        <p:spPr>
          <a:xfrm>
            <a:off x="79272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5" name="Straight Connector 44"/>
          <p:cNvSpPr/>
          <p:nvPr/>
        </p:nvSpPr>
        <p:spPr>
          <a:xfrm>
            <a:off x="88416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6" name="Straight Connector 45"/>
          <p:cNvSpPr/>
          <p:nvPr/>
        </p:nvSpPr>
        <p:spPr>
          <a:xfrm>
            <a:off x="97560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7" name="Rectangle 46"/>
          <p:cNvSpPr/>
          <p:nvPr/>
        </p:nvSpPr>
        <p:spPr>
          <a:xfrm>
            <a:off x="2290320" y="4682880"/>
            <a:ext cx="4827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80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3132720" y="4682880"/>
            <a:ext cx="4827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85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49" name="Rectangle 48"/>
          <p:cNvSpPr/>
          <p:nvPr/>
        </p:nvSpPr>
        <p:spPr>
          <a:xfrm>
            <a:off x="4047120" y="4682880"/>
            <a:ext cx="4827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90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50" name="Rectangle 49"/>
          <p:cNvSpPr/>
          <p:nvPr/>
        </p:nvSpPr>
        <p:spPr>
          <a:xfrm>
            <a:off x="4961520" y="4682880"/>
            <a:ext cx="4827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95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5715000" y="4682880"/>
            <a:ext cx="68508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2000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52" name="Rectangle 51"/>
          <p:cNvSpPr/>
          <p:nvPr/>
        </p:nvSpPr>
        <p:spPr>
          <a:xfrm>
            <a:off x="6790320" y="4682880"/>
            <a:ext cx="4827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05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7698600" y="4682880"/>
            <a:ext cx="5295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10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8619120" y="4682880"/>
            <a:ext cx="4827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15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9533520" y="4682880"/>
            <a:ext cx="4827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20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56" name="Rectangle 55"/>
          <p:cNvSpPr/>
          <p:nvPr/>
        </p:nvSpPr>
        <p:spPr>
          <a:xfrm>
            <a:off x="1405800" y="4682880"/>
            <a:ext cx="68508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1975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57" name="Rectangle 56"/>
          <p:cNvSpPr/>
          <p:nvPr/>
        </p:nvSpPr>
        <p:spPr>
          <a:xfrm>
            <a:off x="4919400" y="5140080"/>
            <a:ext cx="7941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Year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8" name="Rectangle 57"/>
          <p:cNvSpPr/>
          <p:nvPr/>
        </p:nvSpPr>
        <p:spPr>
          <a:xfrm>
            <a:off x="457200" y="950400"/>
            <a:ext cx="12243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(D) RA 20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9" name="Rectangle 58"/>
          <p:cNvSpPr/>
          <p:nvPr/>
        </p:nvSpPr>
        <p:spPr>
          <a:xfrm>
            <a:off x="408600" y="1636200"/>
            <a:ext cx="13809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(E) CW 20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60" name="Rectangle 59"/>
          <p:cNvSpPr/>
          <p:nvPr/>
        </p:nvSpPr>
        <p:spPr>
          <a:xfrm>
            <a:off x="465120" y="2345400"/>
            <a:ext cx="118044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(A) RA 10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61" name="Rectangle 60"/>
          <p:cNvSpPr/>
          <p:nvPr/>
        </p:nvSpPr>
        <p:spPr>
          <a:xfrm>
            <a:off x="408600" y="3021480"/>
            <a:ext cx="13449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(B) CW 10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62" name="Rectangle 61"/>
          <p:cNvSpPr/>
          <p:nvPr/>
        </p:nvSpPr>
        <p:spPr>
          <a:xfrm>
            <a:off x="541800" y="3704400"/>
            <a:ext cx="11037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(C) DF 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63" name="Straight Connector 62"/>
          <p:cNvSpPr/>
          <p:nvPr/>
        </p:nvSpPr>
        <p:spPr>
          <a:xfrm>
            <a:off x="1576800" y="91476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64" name="Rectangle 63"/>
          <p:cNvSpPr/>
          <p:nvPr/>
        </p:nvSpPr>
        <p:spPr>
          <a:xfrm>
            <a:off x="1576800" y="3657600"/>
            <a:ext cx="8177760" cy="4554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65" name="Rectangle 64"/>
          <p:cNvSpPr/>
          <p:nvPr/>
        </p:nvSpPr>
        <p:spPr>
          <a:xfrm>
            <a:off x="9516600" y="3692160"/>
            <a:ext cx="471960" cy="38484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45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66" name="Rectangle 65"/>
          <p:cNvSpPr/>
          <p:nvPr/>
        </p:nvSpPr>
        <p:spPr>
          <a:xfrm>
            <a:off x="7855200" y="3692160"/>
            <a:ext cx="462600" cy="38484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36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67" name="Rectangle 67"/>
          <p:cNvSpPr/>
          <p:nvPr/>
        </p:nvSpPr>
        <p:spPr>
          <a:xfrm>
            <a:off x="3463200" y="3685320"/>
            <a:ext cx="471960" cy="38484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12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1987</a:t>
            </a:r>
            <a:endParaRPr b="0" lang="en-US" sz="1000" spc="-1" strike="noStrike">
              <a:latin typeface="Arial"/>
            </a:endParaRPr>
          </a:p>
        </p:txBody>
      </p:sp>
      <p:grpSp>
        <p:nvGrpSpPr>
          <p:cNvPr id="68" name="Group 68"/>
          <p:cNvGrpSpPr/>
          <p:nvPr/>
        </p:nvGrpSpPr>
        <p:grpSpPr>
          <a:xfrm>
            <a:off x="1575000" y="914400"/>
            <a:ext cx="8397360" cy="2512800"/>
            <a:chOff x="1575000" y="914400"/>
            <a:chExt cx="8397360" cy="2512800"/>
          </a:xfrm>
        </p:grpSpPr>
        <p:sp>
          <p:nvSpPr>
            <p:cNvPr id="69" name="Rectangle 69"/>
            <p:cNvSpPr/>
            <p:nvPr/>
          </p:nvSpPr>
          <p:spPr>
            <a:xfrm>
              <a:off x="5184000" y="914400"/>
              <a:ext cx="4557960" cy="45540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0" name="Rectangle 70"/>
            <p:cNvSpPr/>
            <p:nvPr/>
          </p:nvSpPr>
          <p:spPr>
            <a:xfrm>
              <a:off x="5184000" y="1599840"/>
              <a:ext cx="4557960" cy="45540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1" name="Rectangle 71"/>
            <p:cNvSpPr/>
            <p:nvPr/>
          </p:nvSpPr>
          <p:spPr>
            <a:xfrm>
              <a:off x="9500400" y="1634760"/>
              <a:ext cx="471960" cy="38484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25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2020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72" name="Rectangle 72"/>
            <p:cNvSpPr/>
            <p:nvPr/>
          </p:nvSpPr>
          <p:spPr>
            <a:xfrm>
              <a:off x="9500400" y="948960"/>
              <a:ext cx="471960" cy="38484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25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2020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73" name="Rectangle 73"/>
            <p:cNvSpPr/>
            <p:nvPr/>
          </p:nvSpPr>
          <p:spPr>
            <a:xfrm>
              <a:off x="7867800" y="948960"/>
              <a:ext cx="462600" cy="38484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16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2011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74" name="Rectangle 74"/>
            <p:cNvSpPr/>
            <p:nvPr/>
          </p:nvSpPr>
          <p:spPr>
            <a:xfrm>
              <a:off x="7860960" y="1635840"/>
              <a:ext cx="462600" cy="38484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16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2011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75" name="Rectangle 75"/>
            <p:cNvSpPr/>
            <p:nvPr/>
          </p:nvSpPr>
          <p:spPr>
            <a:xfrm>
              <a:off x="1576800" y="914400"/>
              <a:ext cx="3605760" cy="455400"/>
            </a:xfrm>
            <a:prstGeom prst="rect">
              <a:avLst/>
            </a:prstGeom>
            <a:solidFill>
              <a:srgbClr val="ff3838"/>
            </a:solidFill>
            <a:ln w="0">
              <a:solidFill>
                <a:srgbClr val="c9211e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6" name="Rectangle 76"/>
            <p:cNvSpPr/>
            <p:nvPr/>
          </p:nvSpPr>
          <p:spPr>
            <a:xfrm>
              <a:off x="1576800" y="2286360"/>
              <a:ext cx="1776960" cy="455400"/>
            </a:xfrm>
            <a:prstGeom prst="rect">
              <a:avLst/>
            </a:prstGeom>
            <a:solidFill>
              <a:srgbClr val="ff3838"/>
            </a:solidFill>
            <a:ln w="0">
              <a:solidFill>
                <a:srgbClr val="c9211e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7" name="Rectangle 77"/>
            <p:cNvSpPr/>
            <p:nvPr/>
          </p:nvSpPr>
          <p:spPr>
            <a:xfrm>
              <a:off x="1576800" y="1600560"/>
              <a:ext cx="3605760" cy="455400"/>
            </a:xfrm>
            <a:prstGeom prst="rect">
              <a:avLst/>
            </a:prstGeom>
            <a:solidFill>
              <a:srgbClr val="3faf46"/>
            </a:solidFill>
            <a:ln w="0">
              <a:solidFill>
                <a:srgbClr val="127622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8" name="Rectangle 78"/>
            <p:cNvSpPr/>
            <p:nvPr/>
          </p:nvSpPr>
          <p:spPr>
            <a:xfrm>
              <a:off x="1575000" y="2971800"/>
              <a:ext cx="1778760" cy="455400"/>
            </a:xfrm>
            <a:prstGeom prst="rect">
              <a:avLst/>
            </a:prstGeom>
            <a:solidFill>
              <a:srgbClr val="3faf46"/>
            </a:solidFill>
            <a:ln w="0">
              <a:solidFill>
                <a:srgbClr val="127622"/>
              </a:solidFill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79" name="Group 79"/>
          <p:cNvGrpSpPr/>
          <p:nvPr/>
        </p:nvGrpSpPr>
        <p:grpSpPr>
          <a:xfrm>
            <a:off x="3355200" y="2286360"/>
            <a:ext cx="6636960" cy="1140840"/>
            <a:chOff x="3355200" y="2286360"/>
            <a:chExt cx="6636960" cy="1140840"/>
          </a:xfrm>
        </p:grpSpPr>
        <p:sp>
          <p:nvSpPr>
            <p:cNvPr id="80" name="Rectangle 80"/>
            <p:cNvSpPr/>
            <p:nvPr/>
          </p:nvSpPr>
          <p:spPr>
            <a:xfrm>
              <a:off x="3355200" y="2286360"/>
              <a:ext cx="6406560" cy="45540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1" name="Rectangle 81"/>
            <p:cNvSpPr/>
            <p:nvPr/>
          </p:nvSpPr>
          <p:spPr>
            <a:xfrm>
              <a:off x="3355200" y="2971800"/>
              <a:ext cx="6406560" cy="45540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2" name="Rectangle 82"/>
            <p:cNvSpPr/>
            <p:nvPr/>
          </p:nvSpPr>
          <p:spPr>
            <a:xfrm>
              <a:off x="9520200" y="3007800"/>
              <a:ext cx="471960" cy="38484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35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2020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83" name="Rectangle 83"/>
            <p:cNvSpPr/>
            <p:nvPr/>
          </p:nvSpPr>
          <p:spPr>
            <a:xfrm>
              <a:off x="9520200" y="2322360"/>
              <a:ext cx="471960" cy="38484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35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2020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84" name="Rectangle 84"/>
            <p:cNvSpPr/>
            <p:nvPr/>
          </p:nvSpPr>
          <p:spPr>
            <a:xfrm>
              <a:off x="7851600" y="3007800"/>
              <a:ext cx="462600" cy="38484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26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2011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85" name="Rectangle 85"/>
            <p:cNvSpPr/>
            <p:nvPr/>
          </p:nvSpPr>
          <p:spPr>
            <a:xfrm>
              <a:off x="7857360" y="2320920"/>
              <a:ext cx="462600" cy="38484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26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2011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86" name="Rectangle 86"/>
            <p:cNvSpPr/>
            <p:nvPr/>
          </p:nvSpPr>
          <p:spPr>
            <a:xfrm>
              <a:off x="4964400" y="2320920"/>
              <a:ext cx="471960" cy="384840"/>
            </a:xfrm>
            <a:prstGeom prst="rect">
              <a:avLst/>
            </a:prstGeom>
            <a:solidFill>
              <a:srgbClr val="ffffa6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10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1995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87" name="Rectangle 87"/>
            <p:cNvSpPr/>
            <p:nvPr/>
          </p:nvSpPr>
          <p:spPr>
            <a:xfrm>
              <a:off x="4948200" y="3007800"/>
              <a:ext cx="471960" cy="38484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10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1995</a:t>
              </a:r>
              <a:endParaRPr b="0" lang="en-US" sz="1000" spc="-1" strike="noStrike">
                <a:latin typeface="Arial"/>
              </a:endParaRPr>
            </a:p>
          </p:txBody>
        </p:sp>
      </p:grpSp>
      <p:sp>
        <p:nvSpPr>
          <p:cNvPr id="88" name="Rectangle 88"/>
          <p:cNvSpPr/>
          <p:nvPr/>
        </p:nvSpPr>
        <p:spPr>
          <a:xfrm rot="16180800">
            <a:off x="-392040" y="2382840"/>
            <a:ext cx="140436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  <a:ea typeface="DejaVu Sans"/>
              </a:rPr>
              <a:t>Treatment</a:t>
            </a:r>
            <a:endParaRPr b="0" lang="en-US" sz="2000" spc="-1" strike="noStrike">
              <a:latin typeface="Arial"/>
            </a:endParaRPr>
          </a:p>
        </p:txBody>
      </p:sp>
      <p:grpSp>
        <p:nvGrpSpPr>
          <p:cNvPr id="89" name="Group 89"/>
          <p:cNvGrpSpPr/>
          <p:nvPr/>
        </p:nvGrpSpPr>
        <p:grpSpPr>
          <a:xfrm>
            <a:off x="7592400" y="228600"/>
            <a:ext cx="2007360" cy="384840"/>
            <a:chOff x="7592400" y="228600"/>
            <a:chExt cx="2007360" cy="384840"/>
          </a:xfrm>
        </p:grpSpPr>
        <p:sp>
          <p:nvSpPr>
            <p:cNvPr id="90" name="Rectangle 90"/>
            <p:cNvSpPr/>
            <p:nvPr/>
          </p:nvSpPr>
          <p:spPr>
            <a:xfrm>
              <a:off x="7772400" y="268560"/>
              <a:ext cx="1827360" cy="344880"/>
            </a:xfrm>
            <a:prstGeom prst="rect">
              <a:avLst/>
            </a:pr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grpSp>
          <p:nvGrpSpPr>
            <p:cNvPr id="91" name="Group 91"/>
            <p:cNvGrpSpPr/>
            <p:nvPr/>
          </p:nvGrpSpPr>
          <p:grpSpPr>
            <a:xfrm>
              <a:off x="7592400" y="228600"/>
              <a:ext cx="1986480" cy="384840"/>
              <a:chOff x="7592400" y="228600"/>
              <a:chExt cx="1986480" cy="384840"/>
            </a:xfrm>
          </p:grpSpPr>
          <p:sp>
            <p:nvSpPr>
              <p:cNvPr id="92" name="Rectangle 92"/>
              <p:cNvSpPr/>
              <p:nvPr/>
            </p:nvSpPr>
            <p:spPr>
              <a:xfrm>
                <a:off x="7592400" y="228600"/>
                <a:ext cx="612000" cy="384840"/>
              </a:xfrm>
              <a:prstGeom prst="rect">
                <a:avLst/>
              </a:prstGeom>
              <a:solidFill>
                <a:srgbClr val="ffffff">
                  <a:alpha val="53000"/>
                </a:srgbClr>
              </a:solidFill>
              <a:ln w="0">
                <a:solidFill>
                  <a:srgbClr val="000000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>
                <a:noAutofit/>
              </a:bodyPr>
              <a:p>
                <a:pPr algn="ctr">
                  <a:lnSpc>
                    <a:spcPct val="100000"/>
                  </a:lnSpc>
                </a:pPr>
                <a:r>
                  <a:rPr b="0" lang="en-US" sz="10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DF age</a:t>
                </a:r>
                <a:endParaRPr b="0" lang="en-US" sz="1000" spc="-1" strike="noStrike">
                  <a:latin typeface="Arial"/>
                </a:endParaRPr>
              </a:p>
              <a:p>
                <a:pPr algn="ctr">
                  <a:lnSpc>
                    <a:spcPct val="100000"/>
                  </a:lnSpc>
                </a:pPr>
                <a:r>
                  <a:rPr b="0" lang="en-US" sz="10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year</a:t>
                </a:r>
                <a:endParaRPr b="0" lang="en-US" sz="1000" spc="-1" strike="noStrike">
                  <a:latin typeface="Arial"/>
                </a:endParaRPr>
              </a:p>
            </p:txBody>
          </p:sp>
          <p:sp>
            <p:nvSpPr>
              <p:cNvPr id="93" name="Rectangle 93"/>
              <p:cNvSpPr/>
              <p:nvPr/>
            </p:nvSpPr>
            <p:spPr>
              <a:xfrm>
                <a:off x="8174520" y="268560"/>
                <a:ext cx="1404360" cy="3448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>
                <a:noAutofit/>
              </a:bodyPr>
              <a:p>
                <a:pPr>
                  <a:lnSpc>
                    <a:spcPct val="100000"/>
                  </a:lnSpc>
                </a:pPr>
                <a:r>
                  <a:rPr b="0" lang="en-US" sz="14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Measurement</a:t>
                </a:r>
                <a:endParaRPr b="0" lang="en-US" sz="1400" spc="-1" strike="noStrike">
                  <a:latin typeface="Arial"/>
                </a:endParaRPr>
              </a:p>
            </p:txBody>
          </p:sp>
        </p:grpSp>
      </p:grpSp>
      <p:sp>
        <p:nvSpPr>
          <p:cNvPr id="94" name="Rectangle 94"/>
          <p:cNvSpPr/>
          <p:nvPr/>
        </p:nvSpPr>
        <p:spPr>
          <a:xfrm>
            <a:off x="3429000" y="685800"/>
            <a:ext cx="5028840" cy="3885840"/>
          </a:xfrm>
          <a:prstGeom prst="rect">
            <a:avLst/>
          </a:prstGeom>
          <a:noFill/>
          <a:ln w="12600">
            <a:solidFill>
              <a:srgbClr val="3465a4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5" name="Rectangle 95"/>
          <p:cNvSpPr/>
          <p:nvPr/>
        </p:nvSpPr>
        <p:spPr>
          <a:xfrm>
            <a:off x="7772400" y="649800"/>
            <a:ext cx="2285640" cy="3885840"/>
          </a:xfrm>
          <a:prstGeom prst="rect">
            <a:avLst/>
          </a:prstGeom>
          <a:noFill/>
          <a:ln w="12600">
            <a:solidFill>
              <a:srgbClr val="1f497d">
                <a:lumMod val="40000"/>
                <a:lumOff val="6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6" name="TextBox 96"/>
          <p:cNvSpPr/>
          <p:nvPr/>
        </p:nvSpPr>
        <p:spPr>
          <a:xfrm>
            <a:off x="4114800" y="623880"/>
            <a:ext cx="228564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Transcribed datasheets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97" name="TextBox 97"/>
          <p:cNvSpPr/>
          <p:nvPr/>
        </p:nvSpPr>
        <p:spPr>
          <a:xfrm>
            <a:off x="8330760" y="613800"/>
            <a:ext cx="127584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Spreadsheet</a:t>
            </a:r>
            <a:endParaRPr b="0" lang="en-US" sz="1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Straight Connector 98"/>
          <p:cNvSpPr/>
          <p:nvPr/>
        </p:nvSpPr>
        <p:spPr>
          <a:xfrm>
            <a:off x="51840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99" name="Straight Connector 99"/>
          <p:cNvSpPr/>
          <p:nvPr/>
        </p:nvSpPr>
        <p:spPr>
          <a:xfrm>
            <a:off x="42696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00" name="Straight Connector 100"/>
          <p:cNvSpPr/>
          <p:nvPr/>
        </p:nvSpPr>
        <p:spPr>
          <a:xfrm>
            <a:off x="33552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01" name="Straight Connector 101"/>
          <p:cNvSpPr/>
          <p:nvPr/>
        </p:nvSpPr>
        <p:spPr>
          <a:xfrm>
            <a:off x="24408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02" name="Straight Connector 102"/>
          <p:cNvSpPr/>
          <p:nvPr/>
        </p:nvSpPr>
        <p:spPr>
          <a:xfrm>
            <a:off x="60984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03" name="Straight Connector 103"/>
          <p:cNvSpPr/>
          <p:nvPr/>
        </p:nvSpPr>
        <p:spPr>
          <a:xfrm>
            <a:off x="70128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04" name="Straight Connector 104"/>
          <p:cNvSpPr/>
          <p:nvPr/>
        </p:nvSpPr>
        <p:spPr>
          <a:xfrm>
            <a:off x="79272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05" name="Straight Connector 105"/>
          <p:cNvSpPr/>
          <p:nvPr/>
        </p:nvSpPr>
        <p:spPr>
          <a:xfrm>
            <a:off x="88416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06" name="Straight Connector 106"/>
          <p:cNvSpPr/>
          <p:nvPr/>
        </p:nvSpPr>
        <p:spPr>
          <a:xfrm>
            <a:off x="97560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07" name="Rectangle 107"/>
          <p:cNvSpPr/>
          <p:nvPr/>
        </p:nvSpPr>
        <p:spPr>
          <a:xfrm>
            <a:off x="2290320" y="4682880"/>
            <a:ext cx="30564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08" name="Rectangle 108"/>
          <p:cNvSpPr/>
          <p:nvPr/>
        </p:nvSpPr>
        <p:spPr>
          <a:xfrm>
            <a:off x="3132720" y="4682880"/>
            <a:ext cx="4323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10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09" name="Rectangle 109"/>
          <p:cNvSpPr/>
          <p:nvPr/>
        </p:nvSpPr>
        <p:spPr>
          <a:xfrm>
            <a:off x="4047120" y="4682880"/>
            <a:ext cx="4323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15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10" name="Rectangle 110"/>
          <p:cNvSpPr/>
          <p:nvPr/>
        </p:nvSpPr>
        <p:spPr>
          <a:xfrm>
            <a:off x="4961520" y="4682880"/>
            <a:ext cx="4323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20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11" name="Rectangle 111"/>
          <p:cNvSpPr/>
          <p:nvPr/>
        </p:nvSpPr>
        <p:spPr>
          <a:xfrm>
            <a:off x="5875920" y="4682880"/>
            <a:ext cx="4323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25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12" name="Rectangle 112"/>
          <p:cNvSpPr/>
          <p:nvPr/>
        </p:nvSpPr>
        <p:spPr>
          <a:xfrm>
            <a:off x="6790320" y="4682880"/>
            <a:ext cx="4323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30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13" name="Rectangle 113"/>
          <p:cNvSpPr/>
          <p:nvPr/>
        </p:nvSpPr>
        <p:spPr>
          <a:xfrm>
            <a:off x="7698600" y="4682880"/>
            <a:ext cx="4557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35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14" name="Rectangle 114"/>
          <p:cNvSpPr/>
          <p:nvPr/>
        </p:nvSpPr>
        <p:spPr>
          <a:xfrm>
            <a:off x="8619120" y="4682880"/>
            <a:ext cx="4323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40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15" name="Rectangle 115"/>
          <p:cNvSpPr/>
          <p:nvPr/>
        </p:nvSpPr>
        <p:spPr>
          <a:xfrm>
            <a:off x="9533520" y="4682880"/>
            <a:ext cx="4323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45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16" name="Rectangle 116"/>
          <p:cNvSpPr/>
          <p:nvPr/>
        </p:nvSpPr>
        <p:spPr>
          <a:xfrm>
            <a:off x="1405800" y="4682880"/>
            <a:ext cx="30564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17" name="Rectangle 117"/>
          <p:cNvSpPr/>
          <p:nvPr/>
        </p:nvSpPr>
        <p:spPr>
          <a:xfrm>
            <a:off x="4233600" y="5140080"/>
            <a:ext cx="32349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Douglas Fir Stand Age (years)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18" name="Rectangle 118"/>
          <p:cNvSpPr/>
          <p:nvPr/>
        </p:nvSpPr>
        <p:spPr>
          <a:xfrm>
            <a:off x="658800" y="950400"/>
            <a:ext cx="10227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RA 20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9" name="Rectangle 119"/>
          <p:cNvSpPr/>
          <p:nvPr/>
        </p:nvSpPr>
        <p:spPr>
          <a:xfrm>
            <a:off x="586800" y="1636200"/>
            <a:ext cx="10227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CW 20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20" name="Rectangle 120"/>
          <p:cNvSpPr/>
          <p:nvPr/>
        </p:nvSpPr>
        <p:spPr>
          <a:xfrm>
            <a:off x="658800" y="2345400"/>
            <a:ext cx="10227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RA 10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21" name="Rectangle 121"/>
          <p:cNvSpPr/>
          <p:nvPr/>
        </p:nvSpPr>
        <p:spPr>
          <a:xfrm>
            <a:off x="550800" y="3021480"/>
            <a:ext cx="10227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CW 10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22" name="Rectangle 122"/>
          <p:cNvSpPr/>
          <p:nvPr/>
        </p:nvSpPr>
        <p:spPr>
          <a:xfrm>
            <a:off x="766800" y="3704400"/>
            <a:ext cx="10227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DF 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23" name="Straight Connector 123"/>
          <p:cNvSpPr/>
          <p:nvPr/>
        </p:nvSpPr>
        <p:spPr>
          <a:xfrm>
            <a:off x="1576800" y="91476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24" name="Rectangle 124"/>
          <p:cNvSpPr/>
          <p:nvPr/>
        </p:nvSpPr>
        <p:spPr>
          <a:xfrm>
            <a:off x="1576800" y="914760"/>
            <a:ext cx="4520160" cy="4554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25" name="Rectangle 125"/>
          <p:cNvSpPr/>
          <p:nvPr/>
        </p:nvSpPr>
        <p:spPr>
          <a:xfrm>
            <a:off x="1576800" y="1600200"/>
            <a:ext cx="4520160" cy="4554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26" name="Rectangle 126"/>
          <p:cNvSpPr/>
          <p:nvPr/>
        </p:nvSpPr>
        <p:spPr>
          <a:xfrm>
            <a:off x="1576800" y="2286360"/>
            <a:ext cx="6348960" cy="4554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27" name="Rectangle 127"/>
          <p:cNvSpPr/>
          <p:nvPr/>
        </p:nvSpPr>
        <p:spPr>
          <a:xfrm>
            <a:off x="1576800" y="2971800"/>
            <a:ext cx="6348960" cy="4554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28" name="Rectangle 128"/>
          <p:cNvSpPr/>
          <p:nvPr/>
        </p:nvSpPr>
        <p:spPr>
          <a:xfrm>
            <a:off x="1576800" y="3657600"/>
            <a:ext cx="8177760" cy="4554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29" name="Rectangle 129"/>
          <p:cNvSpPr/>
          <p:nvPr/>
        </p:nvSpPr>
        <p:spPr>
          <a:xfrm>
            <a:off x="9516600" y="3692160"/>
            <a:ext cx="471960" cy="38484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45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30" name="Rectangle 130"/>
          <p:cNvSpPr/>
          <p:nvPr/>
        </p:nvSpPr>
        <p:spPr>
          <a:xfrm>
            <a:off x="7684200" y="3007800"/>
            <a:ext cx="471960" cy="38484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35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31" name="Rectangle 131"/>
          <p:cNvSpPr/>
          <p:nvPr/>
        </p:nvSpPr>
        <p:spPr>
          <a:xfrm>
            <a:off x="7684200" y="2322360"/>
            <a:ext cx="471960" cy="38484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35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32" name="Rectangle 132"/>
          <p:cNvSpPr/>
          <p:nvPr/>
        </p:nvSpPr>
        <p:spPr>
          <a:xfrm>
            <a:off x="5855400" y="1635120"/>
            <a:ext cx="471960" cy="38484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25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33" name="Rectangle 133"/>
          <p:cNvSpPr/>
          <p:nvPr/>
        </p:nvSpPr>
        <p:spPr>
          <a:xfrm>
            <a:off x="5855400" y="949320"/>
            <a:ext cx="471960" cy="38484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25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34" name="Rectangle 134"/>
          <p:cNvSpPr/>
          <p:nvPr/>
        </p:nvSpPr>
        <p:spPr>
          <a:xfrm>
            <a:off x="7819200" y="3692160"/>
            <a:ext cx="462600" cy="38484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36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35" name="Rectangle 136"/>
          <p:cNvSpPr/>
          <p:nvPr/>
        </p:nvSpPr>
        <p:spPr>
          <a:xfrm>
            <a:off x="3463200" y="3685320"/>
            <a:ext cx="471960" cy="38484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12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1987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36" name="Rectangle 137"/>
          <p:cNvSpPr/>
          <p:nvPr/>
        </p:nvSpPr>
        <p:spPr>
          <a:xfrm>
            <a:off x="6051600" y="3007800"/>
            <a:ext cx="462600" cy="38484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26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37" name="Rectangle 138"/>
          <p:cNvSpPr/>
          <p:nvPr/>
        </p:nvSpPr>
        <p:spPr>
          <a:xfrm>
            <a:off x="6057360" y="2320920"/>
            <a:ext cx="462600" cy="38484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26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38" name="Rectangle 139"/>
          <p:cNvSpPr/>
          <p:nvPr/>
        </p:nvSpPr>
        <p:spPr>
          <a:xfrm>
            <a:off x="4222800" y="949320"/>
            <a:ext cx="462600" cy="38484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16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39" name="Rectangle 140"/>
          <p:cNvSpPr/>
          <p:nvPr/>
        </p:nvSpPr>
        <p:spPr>
          <a:xfrm>
            <a:off x="4215960" y="1636200"/>
            <a:ext cx="462600" cy="38484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16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40" name="Rectangle 141"/>
          <p:cNvSpPr/>
          <p:nvPr/>
        </p:nvSpPr>
        <p:spPr>
          <a:xfrm>
            <a:off x="3128400" y="2320920"/>
            <a:ext cx="471960" cy="384840"/>
          </a:xfrm>
          <a:prstGeom prst="rect">
            <a:avLst/>
          </a:prstGeom>
          <a:solidFill>
            <a:srgbClr val="ffffa6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10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1995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41" name="Rectangle 142"/>
          <p:cNvSpPr/>
          <p:nvPr/>
        </p:nvSpPr>
        <p:spPr>
          <a:xfrm>
            <a:off x="3112200" y="3007800"/>
            <a:ext cx="471960" cy="38484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10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1995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42" name="Rectangle 143"/>
          <p:cNvSpPr/>
          <p:nvPr/>
        </p:nvSpPr>
        <p:spPr>
          <a:xfrm rot="16180800">
            <a:off x="-392040" y="2382840"/>
            <a:ext cx="140436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  <a:ea typeface="DejaVu Sans"/>
              </a:rPr>
              <a:t>Treatment</a:t>
            </a:r>
            <a:endParaRPr b="0" lang="en-US" sz="2000" spc="-1" strike="noStrike">
              <a:latin typeface="Arial"/>
            </a:endParaRPr>
          </a:p>
        </p:txBody>
      </p:sp>
      <p:grpSp>
        <p:nvGrpSpPr>
          <p:cNvPr id="143" name="Group 144"/>
          <p:cNvGrpSpPr/>
          <p:nvPr/>
        </p:nvGrpSpPr>
        <p:grpSpPr>
          <a:xfrm>
            <a:off x="7664400" y="299520"/>
            <a:ext cx="2022480" cy="384840"/>
            <a:chOff x="7664400" y="299520"/>
            <a:chExt cx="2022480" cy="384840"/>
          </a:xfrm>
        </p:grpSpPr>
        <p:sp>
          <p:nvSpPr>
            <p:cNvPr id="144" name="Rectangle 145"/>
            <p:cNvSpPr/>
            <p:nvPr/>
          </p:nvSpPr>
          <p:spPr>
            <a:xfrm>
              <a:off x="7772400" y="339480"/>
              <a:ext cx="1827360" cy="344880"/>
            </a:xfrm>
            <a:prstGeom prst="rect">
              <a:avLst/>
            </a:pr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grpSp>
          <p:nvGrpSpPr>
            <p:cNvPr id="145" name="Group 146"/>
            <p:cNvGrpSpPr/>
            <p:nvPr/>
          </p:nvGrpSpPr>
          <p:grpSpPr>
            <a:xfrm>
              <a:off x="7664400" y="299520"/>
              <a:ext cx="2022480" cy="384840"/>
              <a:chOff x="7664400" y="299520"/>
              <a:chExt cx="2022480" cy="384840"/>
            </a:xfrm>
          </p:grpSpPr>
          <p:sp>
            <p:nvSpPr>
              <p:cNvPr id="146" name="Rectangle 147"/>
              <p:cNvSpPr/>
              <p:nvPr/>
            </p:nvSpPr>
            <p:spPr>
              <a:xfrm>
                <a:off x="7664400" y="299520"/>
                <a:ext cx="648720" cy="384840"/>
              </a:xfrm>
              <a:prstGeom prst="rect">
                <a:avLst/>
              </a:prstGeom>
              <a:solidFill>
                <a:srgbClr val="ffffff">
                  <a:alpha val="53000"/>
                </a:srgbClr>
              </a:solidFill>
              <a:ln w="0">
                <a:solidFill>
                  <a:srgbClr val="000000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>
                <a:noAutofit/>
              </a:bodyPr>
              <a:p>
                <a:pPr algn="ctr">
                  <a:lnSpc>
                    <a:spcPct val="100000"/>
                  </a:lnSpc>
                </a:pPr>
                <a:r>
                  <a:rPr b="0" lang="en-US" sz="10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 </a:t>
                </a:r>
                <a:r>
                  <a:rPr b="0" lang="en-US" sz="10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DF age</a:t>
                </a:r>
                <a:endParaRPr b="0" lang="en-US" sz="1000" spc="-1" strike="noStrike">
                  <a:latin typeface="Arial"/>
                </a:endParaRPr>
              </a:p>
              <a:p>
                <a:pPr algn="ctr">
                  <a:lnSpc>
                    <a:spcPct val="100000"/>
                  </a:lnSpc>
                </a:pPr>
                <a:r>
                  <a:rPr b="0" lang="en-US" sz="10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year</a:t>
                </a:r>
                <a:endParaRPr b="0" lang="en-US" sz="1000" spc="-1" strike="noStrike">
                  <a:latin typeface="Arial"/>
                </a:endParaRPr>
              </a:p>
            </p:txBody>
          </p:sp>
          <p:sp>
            <p:nvSpPr>
              <p:cNvPr id="147" name="Rectangle 148"/>
              <p:cNvSpPr/>
              <p:nvPr/>
            </p:nvSpPr>
            <p:spPr>
              <a:xfrm>
                <a:off x="8282520" y="339480"/>
                <a:ext cx="1404360" cy="3448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>
                <a:noAutofit/>
              </a:bodyPr>
              <a:p>
                <a:pPr>
                  <a:lnSpc>
                    <a:spcPct val="100000"/>
                  </a:lnSpc>
                </a:pPr>
                <a:r>
                  <a:rPr b="0" lang="en-US" sz="14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Measurement</a:t>
                </a:r>
                <a:endParaRPr b="0" lang="en-US" sz="1400" spc="-1" strike="noStrike">
                  <a:latin typeface="Arial"/>
                </a:endParaRPr>
              </a:p>
            </p:txBody>
          </p:sp>
        </p:grp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Rectangle 46"/>
          <p:cNvSpPr/>
          <p:nvPr/>
        </p:nvSpPr>
        <p:spPr>
          <a:xfrm>
            <a:off x="2290320" y="4682880"/>
            <a:ext cx="4827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80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49" name="Rectangle 47"/>
          <p:cNvSpPr/>
          <p:nvPr/>
        </p:nvSpPr>
        <p:spPr>
          <a:xfrm>
            <a:off x="3132720" y="4682880"/>
            <a:ext cx="4827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85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50" name="Rectangle 48"/>
          <p:cNvSpPr/>
          <p:nvPr/>
        </p:nvSpPr>
        <p:spPr>
          <a:xfrm>
            <a:off x="4047120" y="4682880"/>
            <a:ext cx="4827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90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51" name="Rectangle 49"/>
          <p:cNvSpPr/>
          <p:nvPr/>
        </p:nvSpPr>
        <p:spPr>
          <a:xfrm>
            <a:off x="4961520" y="4682880"/>
            <a:ext cx="4827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95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52" name="Rectangle 50"/>
          <p:cNvSpPr/>
          <p:nvPr/>
        </p:nvSpPr>
        <p:spPr>
          <a:xfrm>
            <a:off x="5715000" y="4682880"/>
            <a:ext cx="68508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2000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53" name="Rectangle 51"/>
          <p:cNvSpPr/>
          <p:nvPr/>
        </p:nvSpPr>
        <p:spPr>
          <a:xfrm>
            <a:off x="6790320" y="4682880"/>
            <a:ext cx="4827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05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54" name="Rectangle 52"/>
          <p:cNvSpPr/>
          <p:nvPr/>
        </p:nvSpPr>
        <p:spPr>
          <a:xfrm>
            <a:off x="7698600" y="4682880"/>
            <a:ext cx="5295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10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55" name="Rectangle 53"/>
          <p:cNvSpPr/>
          <p:nvPr/>
        </p:nvSpPr>
        <p:spPr>
          <a:xfrm>
            <a:off x="8619120" y="4682880"/>
            <a:ext cx="4827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15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56" name="Rectangle 54"/>
          <p:cNvSpPr/>
          <p:nvPr/>
        </p:nvSpPr>
        <p:spPr>
          <a:xfrm>
            <a:off x="9533520" y="4682880"/>
            <a:ext cx="4827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20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57" name="Rectangle 55"/>
          <p:cNvSpPr/>
          <p:nvPr/>
        </p:nvSpPr>
        <p:spPr>
          <a:xfrm>
            <a:off x="1405800" y="4682880"/>
            <a:ext cx="68508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1975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58" name="Rectangle 56"/>
          <p:cNvSpPr/>
          <p:nvPr/>
        </p:nvSpPr>
        <p:spPr>
          <a:xfrm>
            <a:off x="4919400" y="5140080"/>
            <a:ext cx="7941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Year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59" name="Rectangle 59"/>
          <p:cNvSpPr/>
          <p:nvPr/>
        </p:nvSpPr>
        <p:spPr>
          <a:xfrm>
            <a:off x="465120" y="2345400"/>
            <a:ext cx="118044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(A) RA 10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60" name="Rectangle 60"/>
          <p:cNvSpPr/>
          <p:nvPr/>
        </p:nvSpPr>
        <p:spPr>
          <a:xfrm>
            <a:off x="408600" y="3021480"/>
            <a:ext cx="13449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(B) CW 10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61" name="Rectangle 61"/>
          <p:cNvSpPr/>
          <p:nvPr/>
        </p:nvSpPr>
        <p:spPr>
          <a:xfrm>
            <a:off x="541800" y="3704400"/>
            <a:ext cx="11037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(C) DF 0</a:t>
            </a:r>
            <a:endParaRPr b="0" lang="en-US" sz="1800" spc="-1" strike="noStrike">
              <a:latin typeface="Arial"/>
            </a:endParaRPr>
          </a:p>
        </p:txBody>
      </p:sp>
      <p:grpSp>
        <p:nvGrpSpPr>
          <p:cNvPr id="162" name="Group 1"/>
          <p:cNvGrpSpPr/>
          <p:nvPr/>
        </p:nvGrpSpPr>
        <p:grpSpPr>
          <a:xfrm>
            <a:off x="1576800" y="2089800"/>
            <a:ext cx="8178120" cy="2253600"/>
            <a:chOff x="1576800" y="2089800"/>
            <a:chExt cx="8178120" cy="2253600"/>
          </a:xfrm>
        </p:grpSpPr>
        <p:sp>
          <p:nvSpPr>
            <p:cNvPr id="163" name="Straight Connector 37"/>
            <p:cNvSpPr/>
            <p:nvPr/>
          </p:nvSpPr>
          <p:spPr>
            <a:xfrm>
              <a:off x="5183280" y="2089800"/>
              <a:ext cx="360" cy="225360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64" name="Straight Connector 38"/>
            <p:cNvSpPr/>
            <p:nvPr/>
          </p:nvSpPr>
          <p:spPr>
            <a:xfrm>
              <a:off x="4268880" y="2089800"/>
              <a:ext cx="360" cy="225360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65" name="Straight Connector 39"/>
            <p:cNvSpPr/>
            <p:nvPr/>
          </p:nvSpPr>
          <p:spPr>
            <a:xfrm>
              <a:off x="3354840" y="2089800"/>
              <a:ext cx="360" cy="225360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66" name="Straight Connector 40"/>
            <p:cNvSpPr/>
            <p:nvPr/>
          </p:nvSpPr>
          <p:spPr>
            <a:xfrm>
              <a:off x="2440440" y="2089800"/>
              <a:ext cx="360" cy="225360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67" name="Straight Connector 41"/>
            <p:cNvSpPr/>
            <p:nvPr/>
          </p:nvSpPr>
          <p:spPr>
            <a:xfrm>
              <a:off x="6097680" y="2119320"/>
              <a:ext cx="360" cy="222408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68" name="Straight Connector 42"/>
            <p:cNvSpPr/>
            <p:nvPr/>
          </p:nvSpPr>
          <p:spPr>
            <a:xfrm>
              <a:off x="7011720" y="2089800"/>
              <a:ext cx="360" cy="225360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69" name="Straight Connector 43"/>
            <p:cNvSpPr/>
            <p:nvPr/>
          </p:nvSpPr>
          <p:spPr>
            <a:xfrm>
              <a:off x="7925760" y="2089800"/>
              <a:ext cx="360" cy="225360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70" name="Straight Connector 44"/>
            <p:cNvSpPr/>
            <p:nvPr/>
          </p:nvSpPr>
          <p:spPr>
            <a:xfrm>
              <a:off x="8840160" y="2089800"/>
              <a:ext cx="360" cy="225360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71" name="Straight Connector 45"/>
            <p:cNvSpPr/>
            <p:nvPr/>
          </p:nvSpPr>
          <p:spPr>
            <a:xfrm>
              <a:off x="9754560" y="2089800"/>
              <a:ext cx="360" cy="225360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72" name="Straight Connector 62"/>
            <p:cNvSpPr/>
            <p:nvPr/>
          </p:nvSpPr>
          <p:spPr>
            <a:xfrm>
              <a:off x="1576800" y="2090160"/>
              <a:ext cx="0" cy="225324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73" name="Rectangle 63"/>
          <p:cNvSpPr/>
          <p:nvPr/>
        </p:nvSpPr>
        <p:spPr>
          <a:xfrm>
            <a:off x="1576800" y="3657600"/>
            <a:ext cx="8177760" cy="4554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74" name="Rectangle 64"/>
          <p:cNvSpPr/>
          <p:nvPr/>
        </p:nvSpPr>
        <p:spPr>
          <a:xfrm>
            <a:off x="9516600" y="3692160"/>
            <a:ext cx="471960" cy="38484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45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75" name="Rectangle 65"/>
          <p:cNvSpPr/>
          <p:nvPr/>
        </p:nvSpPr>
        <p:spPr>
          <a:xfrm>
            <a:off x="7855200" y="3692160"/>
            <a:ext cx="462600" cy="38484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36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76" name="Rectangle 67"/>
          <p:cNvSpPr/>
          <p:nvPr/>
        </p:nvSpPr>
        <p:spPr>
          <a:xfrm>
            <a:off x="3463200" y="3685320"/>
            <a:ext cx="471960" cy="38484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12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1987</a:t>
            </a:r>
            <a:endParaRPr b="0" lang="en-US" sz="1000" spc="-1" strike="noStrike">
              <a:latin typeface="Arial"/>
            </a:endParaRPr>
          </a:p>
        </p:txBody>
      </p:sp>
      <p:grpSp>
        <p:nvGrpSpPr>
          <p:cNvPr id="177" name="Group 68"/>
          <p:cNvGrpSpPr/>
          <p:nvPr/>
        </p:nvGrpSpPr>
        <p:grpSpPr>
          <a:xfrm>
            <a:off x="1575000" y="2286360"/>
            <a:ext cx="1778760" cy="1140840"/>
            <a:chOff x="1575000" y="2286360"/>
            <a:chExt cx="1778760" cy="1140840"/>
          </a:xfrm>
        </p:grpSpPr>
        <p:sp>
          <p:nvSpPr>
            <p:cNvPr id="178" name="Rectangle 76"/>
            <p:cNvSpPr/>
            <p:nvPr/>
          </p:nvSpPr>
          <p:spPr>
            <a:xfrm>
              <a:off x="1576800" y="2286360"/>
              <a:ext cx="1776960" cy="455400"/>
            </a:xfrm>
            <a:prstGeom prst="rect">
              <a:avLst/>
            </a:prstGeom>
            <a:solidFill>
              <a:srgbClr val="ff3838"/>
            </a:solidFill>
            <a:ln w="0">
              <a:solidFill>
                <a:srgbClr val="c9211e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79" name="Rectangle 78"/>
            <p:cNvSpPr/>
            <p:nvPr/>
          </p:nvSpPr>
          <p:spPr>
            <a:xfrm>
              <a:off x="1575000" y="2971800"/>
              <a:ext cx="1778760" cy="455400"/>
            </a:xfrm>
            <a:prstGeom prst="rect">
              <a:avLst/>
            </a:prstGeom>
            <a:solidFill>
              <a:srgbClr val="3faf46"/>
            </a:solidFill>
            <a:ln w="0">
              <a:solidFill>
                <a:srgbClr val="127622"/>
              </a:solidFill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180" name="Group 79"/>
          <p:cNvGrpSpPr/>
          <p:nvPr/>
        </p:nvGrpSpPr>
        <p:grpSpPr>
          <a:xfrm>
            <a:off x="3355200" y="2286360"/>
            <a:ext cx="6636960" cy="1140840"/>
            <a:chOff x="3355200" y="2286360"/>
            <a:chExt cx="6636960" cy="1140840"/>
          </a:xfrm>
        </p:grpSpPr>
        <p:sp>
          <p:nvSpPr>
            <p:cNvPr id="181" name="Rectangle 80"/>
            <p:cNvSpPr/>
            <p:nvPr/>
          </p:nvSpPr>
          <p:spPr>
            <a:xfrm>
              <a:off x="3355200" y="2286360"/>
              <a:ext cx="6406560" cy="45540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82" name="Rectangle 81"/>
            <p:cNvSpPr/>
            <p:nvPr/>
          </p:nvSpPr>
          <p:spPr>
            <a:xfrm>
              <a:off x="3355200" y="2971800"/>
              <a:ext cx="6406560" cy="45540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83" name="Rectangle 82"/>
            <p:cNvSpPr/>
            <p:nvPr/>
          </p:nvSpPr>
          <p:spPr>
            <a:xfrm>
              <a:off x="9520200" y="3007800"/>
              <a:ext cx="471960" cy="38484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35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2020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184" name="Rectangle 83"/>
            <p:cNvSpPr/>
            <p:nvPr/>
          </p:nvSpPr>
          <p:spPr>
            <a:xfrm>
              <a:off x="9520200" y="2322360"/>
              <a:ext cx="471960" cy="38484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35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2020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185" name="Rectangle 84"/>
            <p:cNvSpPr/>
            <p:nvPr/>
          </p:nvSpPr>
          <p:spPr>
            <a:xfrm>
              <a:off x="7851600" y="3007800"/>
              <a:ext cx="462600" cy="38484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26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2011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186" name="Rectangle 85"/>
            <p:cNvSpPr/>
            <p:nvPr/>
          </p:nvSpPr>
          <p:spPr>
            <a:xfrm>
              <a:off x="7857360" y="2320920"/>
              <a:ext cx="462600" cy="38484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26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2011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187" name="Rectangle 86"/>
            <p:cNvSpPr/>
            <p:nvPr/>
          </p:nvSpPr>
          <p:spPr>
            <a:xfrm>
              <a:off x="4964400" y="2320920"/>
              <a:ext cx="471960" cy="384840"/>
            </a:xfrm>
            <a:prstGeom prst="rect">
              <a:avLst/>
            </a:prstGeom>
            <a:solidFill>
              <a:srgbClr val="ffffa6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10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1995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188" name="Rectangle 87"/>
            <p:cNvSpPr/>
            <p:nvPr/>
          </p:nvSpPr>
          <p:spPr>
            <a:xfrm>
              <a:off x="4948200" y="3007800"/>
              <a:ext cx="471960" cy="38484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10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1995</a:t>
              </a:r>
              <a:endParaRPr b="0" lang="en-US" sz="1000" spc="-1" strike="noStrike">
                <a:latin typeface="Arial"/>
              </a:endParaRPr>
            </a:p>
          </p:txBody>
        </p:sp>
      </p:grpSp>
      <p:sp>
        <p:nvSpPr>
          <p:cNvPr id="189" name="Rectangle 88"/>
          <p:cNvSpPr/>
          <p:nvPr/>
        </p:nvSpPr>
        <p:spPr>
          <a:xfrm rot="16180800">
            <a:off x="-459360" y="3068640"/>
            <a:ext cx="140436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  <a:ea typeface="DejaVu Sans"/>
              </a:rPr>
              <a:t>Treatment</a:t>
            </a:r>
            <a:endParaRPr b="0" lang="en-US" sz="2000" spc="-1" strike="noStrike">
              <a:latin typeface="Arial"/>
            </a:endParaRPr>
          </a:p>
        </p:txBody>
      </p:sp>
      <p:grpSp>
        <p:nvGrpSpPr>
          <p:cNvPr id="190" name="Group 89"/>
          <p:cNvGrpSpPr/>
          <p:nvPr/>
        </p:nvGrpSpPr>
        <p:grpSpPr>
          <a:xfrm>
            <a:off x="433080" y="5032800"/>
            <a:ext cx="2007360" cy="384840"/>
            <a:chOff x="433080" y="5032800"/>
            <a:chExt cx="2007360" cy="384840"/>
          </a:xfrm>
        </p:grpSpPr>
        <p:sp>
          <p:nvSpPr>
            <p:cNvPr id="191" name="Rectangle 90"/>
            <p:cNvSpPr/>
            <p:nvPr/>
          </p:nvSpPr>
          <p:spPr>
            <a:xfrm>
              <a:off x="613080" y="5072760"/>
              <a:ext cx="1827360" cy="344880"/>
            </a:xfrm>
            <a:prstGeom prst="rect">
              <a:avLst/>
            </a:pr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grpSp>
          <p:nvGrpSpPr>
            <p:cNvPr id="192" name="Group 91"/>
            <p:cNvGrpSpPr/>
            <p:nvPr/>
          </p:nvGrpSpPr>
          <p:grpSpPr>
            <a:xfrm>
              <a:off x="433080" y="5032800"/>
              <a:ext cx="1986480" cy="384840"/>
              <a:chOff x="433080" y="5032800"/>
              <a:chExt cx="1986480" cy="384840"/>
            </a:xfrm>
          </p:grpSpPr>
          <p:sp>
            <p:nvSpPr>
              <p:cNvPr id="193" name="Rectangle 92"/>
              <p:cNvSpPr/>
              <p:nvPr/>
            </p:nvSpPr>
            <p:spPr>
              <a:xfrm>
                <a:off x="433080" y="5032800"/>
                <a:ext cx="612000" cy="384840"/>
              </a:xfrm>
              <a:prstGeom prst="rect">
                <a:avLst/>
              </a:prstGeom>
              <a:solidFill>
                <a:srgbClr val="ffffff">
                  <a:alpha val="53000"/>
                </a:srgbClr>
              </a:solidFill>
              <a:ln w="0">
                <a:solidFill>
                  <a:srgbClr val="000000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>
                <a:noAutofit/>
              </a:bodyPr>
              <a:p>
                <a:pPr algn="ctr">
                  <a:lnSpc>
                    <a:spcPct val="100000"/>
                  </a:lnSpc>
                </a:pPr>
                <a:r>
                  <a:rPr b="0" lang="en-US" sz="10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DF age</a:t>
                </a:r>
                <a:endParaRPr b="0" lang="en-US" sz="1000" spc="-1" strike="noStrike">
                  <a:latin typeface="Arial"/>
                </a:endParaRPr>
              </a:p>
              <a:p>
                <a:pPr algn="ctr">
                  <a:lnSpc>
                    <a:spcPct val="100000"/>
                  </a:lnSpc>
                </a:pPr>
                <a:r>
                  <a:rPr b="0" lang="en-US" sz="10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year</a:t>
                </a:r>
                <a:endParaRPr b="0" lang="en-US" sz="1000" spc="-1" strike="noStrike">
                  <a:latin typeface="Arial"/>
                </a:endParaRPr>
              </a:p>
            </p:txBody>
          </p:sp>
          <p:sp>
            <p:nvSpPr>
              <p:cNvPr id="194" name="Rectangle 93"/>
              <p:cNvSpPr/>
              <p:nvPr/>
            </p:nvSpPr>
            <p:spPr>
              <a:xfrm>
                <a:off x="1015200" y="5072760"/>
                <a:ext cx="1404360" cy="3448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>
                <a:noAutofit/>
              </a:bodyPr>
              <a:p>
                <a:pPr>
                  <a:lnSpc>
                    <a:spcPct val="100000"/>
                  </a:lnSpc>
                </a:pPr>
                <a:r>
                  <a:rPr b="0" lang="en-US" sz="14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Measurement</a:t>
                </a:r>
                <a:endParaRPr b="0" lang="en-US" sz="1400" spc="-1" strike="noStrike">
                  <a:latin typeface="Arial"/>
                </a:endParaRPr>
              </a:p>
            </p:txBody>
          </p:sp>
        </p:grpSp>
      </p:grpSp>
      <p:sp>
        <p:nvSpPr>
          <p:cNvPr id="195" name="Rectangle 94"/>
          <p:cNvSpPr/>
          <p:nvPr/>
        </p:nvSpPr>
        <p:spPr>
          <a:xfrm>
            <a:off x="3429000" y="1937520"/>
            <a:ext cx="5028840" cy="2634120"/>
          </a:xfrm>
          <a:prstGeom prst="rect">
            <a:avLst/>
          </a:prstGeom>
          <a:noFill/>
          <a:ln w="12600">
            <a:solidFill>
              <a:srgbClr val="3465a4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96" name="Rectangle 95"/>
          <p:cNvSpPr/>
          <p:nvPr/>
        </p:nvSpPr>
        <p:spPr>
          <a:xfrm>
            <a:off x="7772400" y="1865880"/>
            <a:ext cx="2285640" cy="2669760"/>
          </a:xfrm>
          <a:prstGeom prst="rect">
            <a:avLst/>
          </a:prstGeom>
          <a:noFill/>
          <a:ln w="12600">
            <a:solidFill>
              <a:srgbClr val="1f497d">
                <a:lumMod val="40000"/>
                <a:lumOff val="6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97" name="TextBox 96"/>
          <p:cNvSpPr/>
          <p:nvPr/>
        </p:nvSpPr>
        <p:spPr>
          <a:xfrm>
            <a:off x="4114800" y="1552680"/>
            <a:ext cx="228564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Transcribed datasheets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98" name="TextBox 97"/>
          <p:cNvSpPr/>
          <p:nvPr/>
        </p:nvSpPr>
        <p:spPr>
          <a:xfrm>
            <a:off x="8330760" y="1542600"/>
            <a:ext cx="127584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Spreadsheet</a:t>
            </a:r>
            <a:endParaRPr b="0" lang="en-US" sz="1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Rectangle 107"/>
          <p:cNvSpPr/>
          <p:nvPr/>
        </p:nvSpPr>
        <p:spPr>
          <a:xfrm>
            <a:off x="2290320" y="4682880"/>
            <a:ext cx="30564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00" name="Rectangle 108"/>
          <p:cNvSpPr/>
          <p:nvPr/>
        </p:nvSpPr>
        <p:spPr>
          <a:xfrm>
            <a:off x="3132720" y="4682880"/>
            <a:ext cx="4323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10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01" name="Rectangle 109"/>
          <p:cNvSpPr/>
          <p:nvPr/>
        </p:nvSpPr>
        <p:spPr>
          <a:xfrm>
            <a:off x="4047120" y="4682880"/>
            <a:ext cx="4323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15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02" name="Rectangle 110"/>
          <p:cNvSpPr/>
          <p:nvPr/>
        </p:nvSpPr>
        <p:spPr>
          <a:xfrm>
            <a:off x="4961520" y="4682880"/>
            <a:ext cx="4323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20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03" name="Rectangle 111"/>
          <p:cNvSpPr/>
          <p:nvPr/>
        </p:nvSpPr>
        <p:spPr>
          <a:xfrm>
            <a:off x="5875920" y="4682880"/>
            <a:ext cx="4323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25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04" name="Rectangle 112"/>
          <p:cNvSpPr/>
          <p:nvPr/>
        </p:nvSpPr>
        <p:spPr>
          <a:xfrm>
            <a:off x="6790320" y="4682880"/>
            <a:ext cx="4323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30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05" name="Rectangle 113"/>
          <p:cNvSpPr/>
          <p:nvPr/>
        </p:nvSpPr>
        <p:spPr>
          <a:xfrm>
            <a:off x="7698600" y="4682880"/>
            <a:ext cx="4557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35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06" name="Rectangle 114"/>
          <p:cNvSpPr/>
          <p:nvPr/>
        </p:nvSpPr>
        <p:spPr>
          <a:xfrm>
            <a:off x="8619120" y="4682880"/>
            <a:ext cx="4323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40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07" name="Rectangle 115"/>
          <p:cNvSpPr/>
          <p:nvPr/>
        </p:nvSpPr>
        <p:spPr>
          <a:xfrm>
            <a:off x="9533520" y="4682880"/>
            <a:ext cx="4323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45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08" name="Rectangle 116"/>
          <p:cNvSpPr/>
          <p:nvPr/>
        </p:nvSpPr>
        <p:spPr>
          <a:xfrm>
            <a:off x="1405800" y="4682880"/>
            <a:ext cx="30564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09" name="Rectangle 117"/>
          <p:cNvSpPr/>
          <p:nvPr/>
        </p:nvSpPr>
        <p:spPr>
          <a:xfrm>
            <a:off x="4233600" y="5140080"/>
            <a:ext cx="32349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Douglas Fir Stand Age (years)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10" name="Rectangle 120"/>
          <p:cNvSpPr/>
          <p:nvPr/>
        </p:nvSpPr>
        <p:spPr>
          <a:xfrm>
            <a:off x="658800" y="2345400"/>
            <a:ext cx="10227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RA 10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211" name="Rectangle 121"/>
          <p:cNvSpPr/>
          <p:nvPr/>
        </p:nvSpPr>
        <p:spPr>
          <a:xfrm>
            <a:off x="550800" y="3021480"/>
            <a:ext cx="10227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CW 10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212" name="Rectangle 122"/>
          <p:cNvSpPr/>
          <p:nvPr/>
        </p:nvSpPr>
        <p:spPr>
          <a:xfrm>
            <a:off x="766800" y="3704400"/>
            <a:ext cx="10227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DF 0</a:t>
            </a:r>
            <a:endParaRPr b="0" lang="en-US" sz="1800" spc="-1" strike="noStrike">
              <a:latin typeface="Arial"/>
            </a:endParaRPr>
          </a:p>
        </p:txBody>
      </p:sp>
      <p:grpSp>
        <p:nvGrpSpPr>
          <p:cNvPr id="213" name="Group 1"/>
          <p:cNvGrpSpPr/>
          <p:nvPr/>
        </p:nvGrpSpPr>
        <p:grpSpPr>
          <a:xfrm>
            <a:off x="1576800" y="2039040"/>
            <a:ext cx="8179560" cy="2304360"/>
            <a:chOff x="1576800" y="2039040"/>
            <a:chExt cx="8179560" cy="2304360"/>
          </a:xfrm>
        </p:grpSpPr>
        <p:sp>
          <p:nvSpPr>
            <p:cNvPr id="214" name="Straight Connector 98"/>
            <p:cNvSpPr/>
            <p:nvPr/>
          </p:nvSpPr>
          <p:spPr>
            <a:xfrm>
              <a:off x="5184000" y="2039040"/>
              <a:ext cx="360" cy="230436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15" name="Straight Connector 99"/>
            <p:cNvSpPr/>
            <p:nvPr/>
          </p:nvSpPr>
          <p:spPr>
            <a:xfrm>
              <a:off x="4269600" y="2039040"/>
              <a:ext cx="360" cy="230436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16" name="Straight Connector 100"/>
            <p:cNvSpPr/>
            <p:nvPr/>
          </p:nvSpPr>
          <p:spPr>
            <a:xfrm>
              <a:off x="3355200" y="2039040"/>
              <a:ext cx="360" cy="230436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17" name="Straight Connector 101"/>
            <p:cNvSpPr/>
            <p:nvPr/>
          </p:nvSpPr>
          <p:spPr>
            <a:xfrm>
              <a:off x="2440800" y="2039040"/>
              <a:ext cx="360" cy="230436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18" name="Straight Connector 102"/>
            <p:cNvSpPr/>
            <p:nvPr/>
          </p:nvSpPr>
          <p:spPr>
            <a:xfrm>
              <a:off x="6098400" y="2039040"/>
              <a:ext cx="360" cy="230436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19" name="Straight Connector 103"/>
            <p:cNvSpPr/>
            <p:nvPr/>
          </p:nvSpPr>
          <p:spPr>
            <a:xfrm>
              <a:off x="7012800" y="2039040"/>
              <a:ext cx="360" cy="230436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20" name="Straight Connector 104"/>
            <p:cNvSpPr/>
            <p:nvPr/>
          </p:nvSpPr>
          <p:spPr>
            <a:xfrm>
              <a:off x="7927200" y="2039040"/>
              <a:ext cx="360" cy="230436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21" name="Straight Connector 105"/>
            <p:cNvSpPr/>
            <p:nvPr/>
          </p:nvSpPr>
          <p:spPr>
            <a:xfrm>
              <a:off x="8841600" y="2039040"/>
              <a:ext cx="360" cy="230436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22" name="Straight Connector 106"/>
            <p:cNvSpPr/>
            <p:nvPr/>
          </p:nvSpPr>
          <p:spPr>
            <a:xfrm>
              <a:off x="9756000" y="2039040"/>
              <a:ext cx="360" cy="230436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23" name="Straight Connector 123"/>
            <p:cNvSpPr/>
            <p:nvPr/>
          </p:nvSpPr>
          <p:spPr>
            <a:xfrm>
              <a:off x="1576800" y="2039400"/>
              <a:ext cx="360" cy="230400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224" name="Rectangle 126"/>
          <p:cNvSpPr/>
          <p:nvPr/>
        </p:nvSpPr>
        <p:spPr>
          <a:xfrm>
            <a:off x="1576800" y="2286360"/>
            <a:ext cx="6348960" cy="4554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25" name="Rectangle 127"/>
          <p:cNvSpPr/>
          <p:nvPr/>
        </p:nvSpPr>
        <p:spPr>
          <a:xfrm>
            <a:off x="1576800" y="2971800"/>
            <a:ext cx="6348960" cy="4554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26" name="Rectangle 128"/>
          <p:cNvSpPr/>
          <p:nvPr/>
        </p:nvSpPr>
        <p:spPr>
          <a:xfrm>
            <a:off x="1576800" y="3657600"/>
            <a:ext cx="8177760" cy="4554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27" name="Rectangle 129"/>
          <p:cNvSpPr/>
          <p:nvPr/>
        </p:nvSpPr>
        <p:spPr>
          <a:xfrm>
            <a:off x="9516600" y="3692160"/>
            <a:ext cx="471960" cy="38484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45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228" name="Rectangle 130"/>
          <p:cNvSpPr/>
          <p:nvPr/>
        </p:nvSpPr>
        <p:spPr>
          <a:xfrm>
            <a:off x="7684200" y="3007800"/>
            <a:ext cx="471960" cy="38484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35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229" name="Rectangle 131"/>
          <p:cNvSpPr/>
          <p:nvPr/>
        </p:nvSpPr>
        <p:spPr>
          <a:xfrm>
            <a:off x="7684200" y="2322360"/>
            <a:ext cx="471960" cy="38484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35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230" name="Rectangle 134"/>
          <p:cNvSpPr/>
          <p:nvPr/>
        </p:nvSpPr>
        <p:spPr>
          <a:xfrm>
            <a:off x="7819200" y="3692160"/>
            <a:ext cx="462600" cy="38484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36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231" name="Rectangle 136"/>
          <p:cNvSpPr/>
          <p:nvPr/>
        </p:nvSpPr>
        <p:spPr>
          <a:xfrm>
            <a:off x="3463200" y="3685320"/>
            <a:ext cx="471960" cy="38484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12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1987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232" name="Rectangle 137"/>
          <p:cNvSpPr/>
          <p:nvPr/>
        </p:nvSpPr>
        <p:spPr>
          <a:xfrm>
            <a:off x="6051600" y="3007800"/>
            <a:ext cx="462600" cy="38484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26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233" name="Rectangle 138"/>
          <p:cNvSpPr/>
          <p:nvPr/>
        </p:nvSpPr>
        <p:spPr>
          <a:xfrm>
            <a:off x="6057360" y="2320920"/>
            <a:ext cx="462600" cy="38484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26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234" name="Rectangle 141"/>
          <p:cNvSpPr/>
          <p:nvPr/>
        </p:nvSpPr>
        <p:spPr>
          <a:xfrm>
            <a:off x="3128400" y="2320920"/>
            <a:ext cx="471960" cy="384840"/>
          </a:xfrm>
          <a:prstGeom prst="rect">
            <a:avLst/>
          </a:prstGeom>
          <a:solidFill>
            <a:srgbClr val="ffffa6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10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1995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235" name="Rectangle 142"/>
          <p:cNvSpPr/>
          <p:nvPr/>
        </p:nvSpPr>
        <p:spPr>
          <a:xfrm>
            <a:off x="3112200" y="3007800"/>
            <a:ext cx="471960" cy="38484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10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1995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236" name="Rectangle 143"/>
          <p:cNvSpPr/>
          <p:nvPr/>
        </p:nvSpPr>
        <p:spPr>
          <a:xfrm rot="16180800">
            <a:off x="-362880" y="3013560"/>
            <a:ext cx="140436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  <a:ea typeface="DejaVu Sans"/>
              </a:rPr>
              <a:t>Treatment</a:t>
            </a:r>
            <a:endParaRPr b="0" lang="en-US" sz="2000" spc="-1" strike="noStrike">
              <a:latin typeface="Arial"/>
            </a:endParaRPr>
          </a:p>
        </p:txBody>
      </p:sp>
      <p:grpSp>
        <p:nvGrpSpPr>
          <p:cNvPr id="237" name="Group 144"/>
          <p:cNvGrpSpPr/>
          <p:nvPr/>
        </p:nvGrpSpPr>
        <p:grpSpPr>
          <a:xfrm>
            <a:off x="394560" y="5011920"/>
            <a:ext cx="2022480" cy="384840"/>
            <a:chOff x="394560" y="5011920"/>
            <a:chExt cx="2022480" cy="384840"/>
          </a:xfrm>
        </p:grpSpPr>
        <p:sp>
          <p:nvSpPr>
            <p:cNvPr id="238" name="Rectangle 145"/>
            <p:cNvSpPr/>
            <p:nvPr/>
          </p:nvSpPr>
          <p:spPr>
            <a:xfrm>
              <a:off x="502560" y="5051880"/>
              <a:ext cx="1827360" cy="344880"/>
            </a:xfrm>
            <a:prstGeom prst="rect">
              <a:avLst/>
            </a:pr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grpSp>
          <p:nvGrpSpPr>
            <p:cNvPr id="239" name="Group 146"/>
            <p:cNvGrpSpPr/>
            <p:nvPr/>
          </p:nvGrpSpPr>
          <p:grpSpPr>
            <a:xfrm>
              <a:off x="394560" y="5011920"/>
              <a:ext cx="2022480" cy="384840"/>
              <a:chOff x="394560" y="5011920"/>
              <a:chExt cx="2022480" cy="384840"/>
            </a:xfrm>
          </p:grpSpPr>
          <p:sp>
            <p:nvSpPr>
              <p:cNvPr id="240" name="Rectangle 147"/>
              <p:cNvSpPr/>
              <p:nvPr/>
            </p:nvSpPr>
            <p:spPr>
              <a:xfrm>
                <a:off x="394560" y="5011920"/>
                <a:ext cx="648720" cy="384840"/>
              </a:xfrm>
              <a:prstGeom prst="rect">
                <a:avLst/>
              </a:prstGeom>
              <a:solidFill>
                <a:srgbClr val="ffffff">
                  <a:alpha val="53000"/>
                </a:srgbClr>
              </a:solidFill>
              <a:ln w="0">
                <a:solidFill>
                  <a:srgbClr val="000000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>
                <a:noAutofit/>
              </a:bodyPr>
              <a:p>
                <a:pPr algn="ctr">
                  <a:lnSpc>
                    <a:spcPct val="100000"/>
                  </a:lnSpc>
                </a:pPr>
                <a:r>
                  <a:rPr b="0" lang="en-US" sz="10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 </a:t>
                </a:r>
                <a:r>
                  <a:rPr b="0" lang="en-US" sz="10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DF age</a:t>
                </a:r>
                <a:endParaRPr b="0" lang="en-US" sz="1000" spc="-1" strike="noStrike">
                  <a:latin typeface="Arial"/>
                </a:endParaRPr>
              </a:p>
              <a:p>
                <a:pPr algn="ctr">
                  <a:lnSpc>
                    <a:spcPct val="100000"/>
                  </a:lnSpc>
                </a:pPr>
                <a:r>
                  <a:rPr b="0" lang="en-US" sz="10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year</a:t>
                </a:r>
                <a:endParaRPr b="0" lang="en-US" sz="1000" spc="-1" strike="noStrike">
                  <a:latin typeface="Arial"/>
                </a:endParaRPr>
              </a:p>
            </p:txBody>
          </p:sp>
          <p:sp>
            <p:nvSpPr>
              <p:cNvPr id="241" name="Rectangle 148"/>
              <p:cNvSpPr/>
              <p:nvPr/>
            </p:nvSpPr>
            <p:spPr>
              <a:xfrm>
                <a:off x="1012680" y="5051880"/>
                <a:ext cx="1404360" cy="3448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>
                <a:noAutofit/>
              </a:bodyPr>
              <a:p>
                <a:pPr>
                  <a:lnSpc>
                    <a:spcPct val="100000"/>
                  </a:lnSpc>
                </a:pPr>
                <a:r>
                  <a:rPr b="0" lang="en-US" sz="14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Measurement</a:t>
                </a:r>
                <a:endParaRPr b="0" lang="en-US" sz="1400" spc="-1" strike="noStrike">
                  <a:latin typeface="Arial"/>
                </a:endParaRPr>
              </a:p>
            </p:txBody>
          </p:sp>
        </p:grp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Straight Connector 37_0"/>
          <p:cNvSpPr/>
          <p:nvPr/>
        </p:nvSpPr>
        <p:spPr>
          <a:xfrm>
            <a:off x="51840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43" name="Straight Connector 38_1"/>
          <p:cNvSpPr/>
          <p:nvPr/>
        </p:nvSpPr>
        <p:spPr>
          <a:xfrm>
            <a:off x="42696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44" name="Straight Connector 39_1"/>
          <p:cNvSpPr/>
          <p:nvPr/>
        </p:nvSpPr>
        <p:spPr>
          <a:xfrm>
            <a:off x="33552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45" name="Straight Connector 40_1"/>
          <p:cNvSpPr/>
          <p:nvPr/>
        </p:nvSpPr>
        <p:spPr>
          <a:xfrm>
            <a:off x="24408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46" name="Straight Connector 41_1"/>
          <p:cNvSpPr/>
          <p:nvPr/>
        </p:nvSpPr>
        <p:spPr>
          <a:xfrm>
            <a:off x="60984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47" name="Straight Connector 42_1"/>
          <p:cNvSpPr/>
          <p:nvPr/>
        </p:nvSpPr>
        <p:spPr>
          <a:xfrm>
            <a:off x="70128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48" name="Straight Connector 43_1"/>
          <p:cNvSpPr/>
          <p:nvPr/>
        </p:nvSpPr>
        <p:spPr>
          <a:xfrm>
            <a:off x="79272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49" name="Straight Connector 44_1"/>
          <p:cNvSpPr/>
          <p:nvPr/>
        </p:nvSpPr>
        <p:spPr>
          <a:xfrm>
            <a:off x="88416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50" name="Straight Connector 45_1"/>
          <p:cNvSpPr/>
          <p:nvPr/>
        </p:nvSpPr>
        <p:spPr>
          <a:xfrm>
            <a:off x="97560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51" name="Rectangle 46_1"/>
          <p:cNvSpPr/>
          <p:nvPr/>
        </p:nvSpPr>
        <p:spPr>
          <a:xfrm>
            <a:off x="2290320" y="4682880"/>
            <a:ext cx="4827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80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52" name="Rectangle 47_1"/>
          <p:cNvSpPr/>
          <p:nvPr/>
        </p:nvSpPr>
        <p:spPr>
          <a:xfrm>
            <a:off x="3132720" y="4682880"/>
            <a:ext cx="4827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85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53" name="Rectangle 48_1"/>
          <p:cNvSpPr/>
          <p:nvPr/>
        </p:nvSpPr>
        <p:spPr>
          <a:xfrm>
            <a:off x="4047120" y="4682880"/>
            <a:ext cx="4827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90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54" name="Rectangle 49_1"/>
          <p:cNvSpPr/>
          <p:nvPr/>
        </p:nvSpPr>
        <p:spPr>
          <a:xfrm>
            <a:off x="4961520" y="4682880"/>
            <a:ext cx="4827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95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55" name="Rectangle 50_1"/>
          <p:cNvSpPr/>
          <p:nvPr/>
        </p:nvSpPr>
        <p:spPr>
          <a:xfrm>
            <a:off x="5715000" y="4682880"/>
            <a:ext cx="68508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2000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56" name="Rectangle 51_1"/>
          <p:cNvSpPr/>
          <p:nvPr/>
        </p:nvSpPr>
        <p:spPr>
          <a:xfrm>
            <a:off x="6790320" y="4682880"/>
            <a:ext cx="4827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05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57" name="Rectangle 52_1"/>
          <p:cNvSpPr/>
          <p:nvPr/>
        </p:nvSpPr>
        <p:spPr>
          <a:xfrm>
            <a:off x="7698600" y="4682880"/>
            <a:ext cx="5295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10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58" name="Rectangle 53_1"/>
          <p:cNvSpPr/>
          <p:nvPr/>
        </p:nvSpPr>
        <p:spPr>
          <a:xfrm>
            <a:off x="8619120" y="4682880"/>
            <a:ext cx="4827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15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59" name="Rectangle 54_1"/>
          <p:cNvSpPr/>
          <p:nvPr/>
        </p:nvSpPr>
        <p:spPr>
          <a:xfrm>
            <a:off x="9533520" y="4682880"/>
            <a:ext cx="4827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20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60" name="Rectangle 55_1"/>
          <p:cNvSpPr/>
          <p:nvPr/>
        </p:nvSpPr>
        <p:spPr>
          <a:xfrm>
            <a:off x="1405800" y="4682880"/>
            <a:ext cx="68508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1975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61" name="Rectangle 56_1"/>
          <p:cNvSpPr/>
          <p:nvPr/>
        </p:nvSpPr>
        <p:spPr>
          <a:xfrm>
            <a:off x="4919400" y="5140080"/>
            <a:ext cx="7941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Year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262" name="Rectangle 57_1"/>
          <p:cNvSpPr/>
          <p:nvPr/>
        </p:nvSpPr>
        <p:spPr>
          <a:xfrm>
            <a:off x="457200" y="950400"/>
            <a:ext cx="12243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(D) RA 25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263" name="Rectangle 58_1"/>
          <p:cNvSpPr/>
          <p:nvPr/>
        </p:nvSpPr>
        <p:spPr>
          <a:xfrm>
            <a:off x="408600" y="1636200"/>
            <a:ext cx="13809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(E) CW 25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264" name="Rectangle 59_1"/>
          <p:cNvSpPr/>
          <p:nvPr/>
        </p:nvSpPr>
        <p:spPr>
          <a:xfrm>
            <a:off x="465120" y="2345400"/>
            <a:ext cx="118044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(A) RA 12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265" name="Rectangle 60_1"/>
          <p:cNvSpPr/>
          <p:nvPr/>
        </p:nvSpPr>
        <p:spPr>
          <a:xfrm>
            <a:off x="408600" y="3021480"/>
            <a:ext cx="13449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(B) CW 12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266" name="Rectangle 61_1"/>
          <p:cNvSpPr/>
          <p:nvPr/>
        </p:nvSpPr>
        <p:spPr>
          <a:xfrm>
            <a:off x="541800" y="3704400"/>
            <a:ext cx="11037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(C) DF 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267" name="Straight Connector 62_1"/>
          <p:cNvSpPr/>
          <p:nvPr/>
        </p:nvSpPr>
        <p:spPr>
          <a:xfrm>
            <a:off x="1576800" y="91476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68" name="Rectangle 63_1"/>
          <p:cNvSpPr/>
          <p:nvPr/>
        </p:nvSpPr>
        <p:spPr>
          <a:xfrm>
            <a:off x="1576800" y="3657600"/>
            <a:ext cx="8177760" cy="4554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69" name="Rectangle 64_1"/>
          <p:cNvSpPr/>
          <p:nvPr/>
        </p:nvSpPr>
        <p:spPr>
          <a:xfrm>
            <a:off x="9516600" y="3692160"/>
            <a:ext cx="471960" cy="38484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45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270" name="Rectangle 65_1"/>
          <p:cNvSpPr/>
          <p:nvPr/>
        </p:nvSpPr>
        <p:spPr>
          <a:xfrm>
            <a:off x="7855200" y="3692160"/>
            <a:ext cx="462600" cy="38484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36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271" name="Rectangle 67_1"/>
          <p:cNvSpPr/>
          <p:nvPr/>
        </p:nvSpPr>
        <p:spPr>
          <a:xfrm>
            <a:off x="3571200" y="3685320"/>
            <a:ext cx="471960" cy="38484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12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1987</a:t>
            </a:r>
            <a:endParaRPr b="0" lang="en-US" sz="1000" spc="-1" strike="noStrike">
              <a:latin typeface="Arial"/>
            </a:endParaRPr>
          </a:p>
        </p:txBody>
      </p:sp>
      <p:grpSp>
        <p:nvGrpSpPr>
          <p:cNvPr id="272" name="Group 68_1"/>
          <p:cNvGrpSpPr/>
          <p:nvPr/>
        </p:nvGrpSpPr>
        <p:grpSpPr>
          <a:xfrm>
            <a:off x="1575000" y="914400"/>
            <a:ext cx="8397360" cy="2512800"/>
            <a:chOff x="1575000" y="914400"/>
            <a:chExt cx="8397360" cy="2512800"/>
          </a:xfrm>
        </p:grpSpPr>
        <p:sp>
          <p:nvSpPr>
            <p:cNvPr id="273" name="Rectangle 69_1"/>
            <p:cNvSpPr/>
            <p:nvPr/>
          </p:nvSpPr>
          <p:spPr>
            <a:xfrm>
              <a:off x="6098400" y="914400"/>
              <a:ext cx="3643560" cy="45540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74" name="Rectangle 70_1"/>
            <p:cNvSpPr/>
            <p:nvPr/>
          </p:nvSpPr>
          <p:spPr>
            <a:xfrm>
              <a:off x="6098760" y="1599840"/>
              <a:ext cx="3643200" cy="45540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75" name="Rectangle 71_1"/>
            <p:cNvSpPr/>
            <p:nvPr/>
          </p:nvSpPr>
          <p:spPr>
            <a:xfrm>
              <a:off x="9500400" y="1634760"/>
              <a:ext cx="471960" cy="38484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2020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276" name="Rectangle 72_1"/>
            <p:cNvSpPr/>
            <p:nvPr/>
          </p:nvSpPr>
          <p:spPr>
            <a:xfrm>
              <a:off x="9500400" y="948960"/>
              <a:ext cx="471960" cy="38484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2020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277" name="Rectangle 73_1"/>
            <p:cNvSpPr/>
            <p:nvPr/>
          </p:nvSpPr>
          <p:spPr>
            <a:xfrm>
              <a:off x="7867800" y="948960"/>
              <a:ext cx="462600" cy="38484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11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2011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278" name="Rectangle 74_1"/>
            <p:cNvSpPr/>
            <p:nvPr/>
          </p:nvSpPr>
          <p:spPr>
            <a:xfrm>
              <a:off x="7860960" y="1635840"/>
              <a:ext cx="462600" cy="38484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11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2011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279" name="Rectangle 75_1"/>
            <p:cNvSpPr/>
            <p:nvPr/>
          </p:nvSpPr>
          <p:spPr>
            <a:xfrm>
              <a:off x="1576800" y="914400"/>
              <a:ext cx="4521960" cy="455400"/>
            </a:xfrm>
            <a:prstGeom prst="rect">
              <a:avLst/>
            </a:prstGeom>
            <a:solidFill>
              <a:srgbClr val="ff3838"/>
            </a:solidFill>
            <a:ln w="0">
              <a:solidFill>
                <a:srgbClr val="c9211e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80" name="Rectangle 76_1"/>
            <p:cNvSpPr/>
            <p:nvPr/>
          </p:nvSpPr>
          <p:spPr>
            <a:xfrm>
              <a:off x="1576800" y="2286360"/>
              <a:ext cx="2309400" cy="455400"/>
            </a:xfrm>
            <a:prstGeom prst="rect">
              <a:avLst/>
            </a:prstGeom>
            <a:solidFill>
              <a:srgbClr val="ff3838"/>
            </a:solidFill>
            <a:ln w="0">
              <a:solidFill>
                <a:srgbClr val="c9211e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81" name="Rectangle 77_1"/>
            <p:cNvSpPr/>
            <p:nvPr/>
          </p:nvSpPr>
          <p:spPr>
            <a:xfrm>
              <a:off x="1576800" y="1600560"/>
              <a:ext cx="4521960" cy="455400"/>
            </a:xfrm>
            <a:prstGeom prst="rect">
              <a:avLst/>
            </a:prstGeom>
            <a:solidFill>
              <a:srgbClr val="3faf46"/>
            </a:solidFill>
            <a:ln w="0">
              <a:solidFill>
                <a:srgbClr val="127622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82" name="Rectangle 78_1"/>
            <p:cNvSpPr/>
            <p:nvPr/>
          </p:nvSpPr>
          <p:spPr>
            <a:xfrm>
              <a:off x="1575000" y="2971800"/>
              <a:ext cx="2311200" cy="455400"/>
            </a:xfrm>
            <a:prstGeom prst="rect">
              <a:avLst/>
            </a:prstGeom>
            <a:solidFill>
              <a:srgbClr val="3faf46"/>
            </a:solidFill>
            <a:ln w="0">
              <a:solidFill>
                <a:srgbClr val="127622"/>
              </a:solidFill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283" name="Group 79_1"/>
          <p:cNvGrpSpPr/>
          <p:nvPr/>
        </p:nvGrpSpPr>
        <p:grpSpPr>
          <a:xfrm>
            <a:off x="3886200" y="2286360"/>
            <a:ext cx="6105960" cy="1140840"/>
            <a:chOff x="3886200" y="2286360"/>
            <a:chExt cx="6105960" cy="1140840"/>
          </a:xfrm>
        </p:grpSpPr>
        <p:sp>
          <p:nvSpPr>
            <p:cNvPr id="284" name="Rectangle 80_1"/>
            <p:cNvSpPr/>
            <p:nvPr/>
          </p:nvSpPr>
          <p:spPr>
            <a:xfrm>
              <a:off x="3886200" y="2286360"/>
              <a:ext cx="5875560" cy="45540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85" name="Rectangle 81_1"/>
            <p:cNvSpPr/>
            <p:nvPr/>
          </p:nvSpPr>
          <p:spPr>
            <a:xfrm>
              <a:off x="3886200" y="2971800"/>
              <a:ext cx="5875560" cy="45540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86" name="Rectangle 82_1"/>
            <p:cNvSpPr/>
            <p:nvPr/>
          </p:nvSpPr>
          <p:spPr>
            <a:xfrm>
              <a:off x="9520200" y="3007800"/>
              <a:ext cx="471960" cy="38484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33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2020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287" name="Rectangle 83_1"/>
            <p:cNvSpPr/>
            <p:nvPr/>
          </p:nvSpPr>
          <p:spPr>
            <a:xfrm>
              <a:off x="9520200" y="2322360"/>
              <a:ext cx="471960" cy="38484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33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2020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288" name="Rectangle 84_1"/>
            <p:cNvSpPr/>
            <p:nvPr/>
          </p:nvSpPr>
          <p:spPr>
            <a:xfrm>
              <a:off x="7851600" y="3007800"/>
              <a:ext cx="462600" cy="38484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24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2011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289" name="Rectangle 85_1"/>
            <p:cNvSpPr/>
            <p:nvPr/>
          </p:nvSpPr>
          <p:spPr>
            <a:xfrm>
              <a:off x="7857360" y="2320920"/>
              <a:ext cx="462600" cy="38484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24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2011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290" name="Rectangle 86_1"/>
            <p:cNvSpPr/>
            <p:nvPr/>
          </p:nvSpPr>
          <p:spPr>
            <a:xfrm>
              <a:off x="4964400" y="2320920"/>
              <a:ext cx="471960" cy="384840"/>
            </a:xfrm>
            <a:prstGeom prst="rect">
              <a:avLst/>
            </a:prstGeom>
            <a:solidFill>
              <a:srgbClr val="ffffa6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8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1995</a:t>
              </a:r>
              <a:endParaRPr b="0" lang="en-US" sz="1000" spc="-1" strike="noStrike">
                <a:latin typeface="Arial"/>
              </a:endParaRPr>
            </a:p>
          </p:txBody>
        </p:sp>
        <p:sp>
          <p:nvSpPr>
            <p:cNvPr id="291" name="Rectangle 87_1"/>
            <p:cNvSpPr/>
            <p:nvPr/>
          </p:nvSpPr>
          <p:spPr>
            <a:xfrm>
              <a:off x="4948200" y="3007800"/>
              <a:ext cx="471960" cy="38484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8</a:t>
              </a:r>
              <a:endParaRPr b="0" lang="en-US" sz="10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1995</a:t>
              </a:r>
              <a:endParaRPr b="0" lang="en-US" sz="1000" spc="-1" strike="noStrike">
                <a:latin typeface="Arial"/>
              </a:endParaRPr>
            </a:p>
          </p:txBody>
        </p:sp>
      </p:grpSp>
      <p:sp>
        <p:nvSpPr>
          <p:cNvPr id="292" name="Rectangle 88_1"/>
          <p:cNvSpPr/>
          <p:nvPr/>
        </p:nvSpPr>
        <p:spPr>
          <a:xfrm rot="16180800">
            <a:off x="-392040" y="2382840"/>
            <a:ext cx="140436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  <a:ea typeface="DejaVu Sans"/>
              </a:rPr>
              <a:t>Treatment</a:t>
            </a:r>
            <a:endParaRPr b="0" lang="en-US" sz="2000" spc="-1" strike="noStrike">
              <a:latin typeface="Arial"/>
            </a:endParaRPr>
          </a:p>
        </p:txBody>
      </p:sp>
      <p:grpSp>
        <p:nvGrpSpPr>
          <p:cNvPr id="293" name="Group 89_1"/>
          <p:cNvGrpSpPr/>
          <p:nvPr/>
        </p:nvGrpSpPr>
        <p:grpSpPr>
          <a:xfrm>
            <a:off x="7592400" y="228600"/>
            <a:ext cx="2007360" cy="384840"/>
            <a:chOff x="7592400" y="228600"/>
            <a:chExt cx="2007360" cy="384840"/>
          </a:xfrm>
        </p:grpSpPr>
        <p:sp>
          <p:nvSpPr>
            <p:cNvPr id="294" name="Rectangle 90_1"/>
            <p:cNvSpPr/>
            <p:nvPr/>
          </p:nvSpPr>
          <p:spPr>
            <a:xfrm>
              <a:off x="7772400" y="268560"/>
              <a:ext cx="1827360" cy="344880"/>
            </a:xfrm>
            <a:prstGeom prst="rect">
              <a:avLst/>
            </a:pr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grpSp>
          <p:nvGrpSpPr>
            <p:cNvPr id="295" name="Group 91_1"/>
            <p:cNvGrpSpPr/>
            <p:nvPr/>
          </p:nvGrpSpPr>
          <p:grpSpPr>
            <a:xfrm>
              <a:off x="7592400" y="228600"/>
              <a:ext cx="1986480" cy="384840"/>
              <a:chOff x="7592400" y="228600"/>
              <a:chExt cx="1986480" cy="384840"/>
            </a:xfrm>
          </p:grpSpPr>
          <p:sp>
            <p:nvSpPr>
              <p:cNvPr id="296" name="Rectangle 92_1"/>
              <p:cNvSpPr/>
              <p:nvPr/>
            </p:nvSpPr>
            <p:spPr>
              <a:xfrm>
                <a:off x="7592400" y="228600"/>
                <a:ext cx="612000" cy="384840"/>
              </a:xfrm>
              <a:prstGeom prst="rect">
                <a:avLst/>
              </a:prstGeom>
              <a:solidFill>
                <a:srgbClr val="ffffff">
                  <a:alpha val="53000"/>
                </a:srgbClr>
              </a:solidFill>
              <a:ln w="0">
                <a:solidFill>
                  <a:srgbClr val="000000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>
                <a:noAutofit/>
              </a:bodyPr>
              <a:p>
                <a:pPr algn="ctr">
                  <a:lnSpc>
                    <a:spcPct val="100000"/>
                  </a:lnSpc>
                </a:pPr>
                <a:r>
                  <a:rPr b="0" lang="en-US" sz="10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DF age</a:t>
                </a:r>
                <a:endParaRPr b="0" lang="en-US" sz="1000" spc="-1" strike="noStrike">
                  <a:latin typeface="Arial"/>
                </a:endParaRPr>
              </a:p>
              <a:p>
                <a:pPr algn="ctr">
                  <a:lnSpc>
                    <a:spcPct val="100000"/>
                  </a:lnSpc>
                </a:pPr>
                <a:r>
                  <a:rPr b="0" lang="en-US" sz="10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year</a:t>
                </a:r>
                <a:endParaRPr b="0" lang="en-US" sz="1000" spc="-1" strike="noStrike">
                  <a:latin typeface="Arial"/>
                </a:endParaRPr>
              </a:p>
            </p:txBody>
          </p:sp>
          <p:sp>
            <p:nvSpPr>
              <p:cNvPr id="297" name="Rectangle 93_1"/>
              <p:cNvSpPr/>
              <p:nvPr/>
            </p:nvSpPr>
            <p:spPr>
              <a:xfrm>
                <a:off x="8174520" y="268560"/>
                <a:ext cx="1404360" cy="3448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>
                <a:noAutofit/>
              </a:bodyPr>
              <a:p>
                <a:pPr>
                  <a:lnSpc>
                    <a:spcPct val="100000"/>
                  </a:lnSpc>
                </a:pPr>
                <a:r>
                  <a:rPr b="0" lang="en-US" sz="14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Measurement</a:t>
                </a:r>
                <a:endParaRPr b="0" lang="en-US" sz="1400" spc="-1" strike="noStrike">
                  <a:latin typeface="Arial"/>
                </a:endParaRPr>
              </a:p>
            </p:txBody>
          </p:sp>
        </p:grpSp>
      </p:grpSp>
      <p:sp>
        <p:nvSpPr>
          <p:cNvPr id="298" name="TextBox 96_1"/>
          <p:cNvSpPr/>
          <p:nvPr/>
        </p:nvSpPr>
        <p:spPr>
          <a:xfrm>
            <a:off x="4114800" y="623880"/>
            <a:ext cx="228564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Transcribed datasheets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299" name="TextBox 97_1"/>
          <p:cNvSpPr/>
          <p:nvPr/>
        </p:nvSpPr>
        <p:spPr>
          <a:xfrm>
            <a:off x="8330760" y="613800"/>
            <a:ext cx="127584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Spreadsheet</a:t>
            </a:r>
            <a:endParaRPr b="0" lang="en-US" sz="1400" spc="-1" strike="noStrike">
              <a:latin typeface="Arial"/>
            </a:endParaRPr>
          </a:p>
        </p:txBody>
      </p:sp>
      <p:grpSp>
        <p:nvGrpSpPr>
          <p:cNvPr id="300" name="Group 89_0"/>
          <p:cNvGrpSpPr/>
          <p:nvPr/>
        </p:nvGrpSpPr>
        <p:grpSpPr>
          <a:xfrm>
            <a:off x="2057400" y="268560"/>
            <a:ext cx="4343400" cy="344880"/>
            <a:chOff x="2057400" y="268560"/>
            <a:chExt cx="4343400" cy="344880"/>
          </a:xfrm>
        </p:grpSpPr>
        <p:sp>
          <p:nvSpPr>
            <p:cNvPr id="301" name="Rectangle 93_0"/>
            <p:cNvSpPr/>
            <p:nvPr/>
          </p:nvSpPr>
          <p:spPr>
            <a:xfrm>
              <a:off x="2057400" y="268560"/>
              <a:ext cx="4343400" cy="344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>
                <a:lnSpc>
                  <a:spcPct val="100000"/>
                </a:lnSpc>
              </a:pPr>
              <a:r>
                <a: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CORRECTED BASED ON CORRESPONDENCE</a:t>
              </a:r>
              <a:endParaRPr b="0" lang="en-US" sz="1400" spc="-1" strike="noStrike"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Straight Connector 98_0"/>
          <p:cNvSpPr/>
          <p:nvPr/>
        </p:nvSpPr>
        <p:spPr>
          <a:xfrm>
            <a:off x="51840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03" name="Straight Connector 99_1"/>
          <p:cNvSpPr/>
          <p:nvPr/>
        </p:nvSpPr>
        <p:spPr>
          <a:xfrm>
            <a:off x="42696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04" name="Straight Connector 100_1"/>
          <p:cNvSpPr/>
          <p:nvPr/>
        </p:nvSpPr>
        <p:spPr>
          <a:xfrm>
            <a:off x="33552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05" name="Straight Connector 101_1"/>
          <p:cNvSpPr/>
          <p:nvPr/>
        </p:nvSpPr>
        <p:spPr>
          <a:xfrm>
            <a:off x="24408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06" name="Straight Connector 102_1"/>
          <p:cNvSpPr/>
          <p:nvPr/>
        </p:nvSpPr>
        <p:spPr>
          <a:xfrm>
            <a:off x="60984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07" name="Straight Connector 103_1"/>
          <p:cNvSpPr/>
          <p:nvPr/>
        </p:nvSpPr>
        <p:spPr>
          <a:xfrm>
            <a:off x="70128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08" name="Straight Connector 104_1"/>
          <p:cNvSpPr/>
          <p:nvPr/>
        </p:nvSpPr>
        <p:spPr>
          <a:xfrm>
            <a:off x="79272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09" name="Straight Connector 105_1"/>
          <p:cNvSpPr/>
          <p:nvPr/>
        </p:nvSpPr>
        <p:spPr>
          <a:xfrm>
            <a:off x="88416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10" name="Straight Connector 106_1"/>
          <p:cNvSpPr/>
          <p:nvPr/>
        </p:nvSpPr>
        <p:spPr>
          <a:xfrm>
            <a:off x="97560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11" name="Rectangle 107_1"/>
          <p:cNvSpPr/>
          <p:nvPr/>
        </p:nvSpPr>
        <p:spPr>
          <a:xfrm>
            <a:off x="2290320" y="4682880"/>
            <a:ext cx="30564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12" name="Rectangle 108_1"/>
          <p:cNvSpPr/>
          <p:nvPr/>
        </p:nvSpPr>
        <p:spPr>
          <a:xfrm>
            <a:off x="3132720" y="4682880"/>
            <a:ext cx="4323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10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13" name="Rectangle 109_1"/>
          <p:cNvSpPr/>
          <p:nvPr/>
        </p:nvSpPr>
        <p:spPr>
          <a:xfrm>
            <a:off x="4047120" y="4682880"/>
            <a:ext cx="4323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15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14" name="Rectangle 110_1"/>
          <p:cNvSpPr/>
          <p:nvPr/>
        </p:nvSpPr>
        <p:spPr>
          <a:xfrm>
            <a:off x="4961520" y="4682880"/>
            <a:ext cx="4323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20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15" name="Rectangle 111_1"/>
          <p:cNvSpPr/>
          <p:nvPr/>
        </p:nvSpPr>
        <p:spPr>
          <a:xfrm>
            <a:off x="5875920" y="4682880"/>
            <a:ext cx="4323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25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16" name="Rectangle 112_1"/>
          <p:cNvSpPr/>
          <p:nvPr/>
        </p:nvSpPr>
        <p:spPr>
          <a:xfrm>
            <a:off x="6790320" y="4682880"/>
            <a:ext cx="4323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30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17" name="Rectangle 113_1"/>
          <p:cNvSpPr/>
          <p:nvPr/>
        </p:nvSpPr>
        <p:spPr>
          <a:xfrm>
            <a:off x="7698600" y="4682880"/>
            <a:ext cx="4557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35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18" name="Rectangle 114_1"/>
          <p:cNvSpPr/>
          <p:nvPr/>
        </p:nvSpPr>
        <p:spPr>
          <a:xfrm>
            <a:off x="8619120" y="4682880"/>
            <a:ext cx="4323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40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19" name="Rectangle 115_1"/>
          <p:cNvSpPr/>
          <p:nvPr/>
        </p:nvSpPr>
        <p:spPr>
          <a:xfrm>
            <a:off x="9533520" y="4682880"/>
            <a:ext cx="4323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45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20" name="Rectangle 116_1"/>
          <p:cNvSpPr/>
          <p:nvPr/>
        </p:nvSpPr>
        <p:spPr>
          <a:xfrm>
            <a:off x="1405800" y="4682880"/>
            <a:ext cx="30564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21" name="Rectangle 117_1"/>
          <p:cNvSpPr/>
          <p:nvPr/>
        </p:nvSpPr>
        <p:spPr>
          <a:xfrm>
            <a:off x="4233600" y="5140080"/>
            <a:ext cx="32349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Douglas Fir Stand Age (years)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22" name="Rectangle 118_1"/>
          <p:cNvSpPr/>
          <p:nvPr/>
        </p:nvSpPr>
        <p:spPr>
          <a:xfrm>
            <a:off x="658800" y="950400"/>
            <a:ext cx="10227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RA 20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323" name="Rectangle 119_1"/>
          <p:cNvSpPr/>
          <p:nvPr/>
        </p:nvSpPr>
        <p:spPr>
          <a:xfrm>
            <a:off x="586800" y="1636200"/>
            <a:ext cx="10227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CW 20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324" name="Rectangle 120_1"/>
          <p:cNvSpPr/>
          <p:nvPr/>
        </p:nvSpPr>
        <p:spPr>
          <a:xfrm>
            <a:off x="658800" y="2345400"/>
            <a:ext cx="10227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RA 10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325" name="Rectangle 121_1"/>
          <p:cNvSpPr/>
          <p:nvPr/>
        </p:nvSpPr>
        <p:spPr>
          <a:xfrm>
            <a:off x="550800" y="3021480"/>
            <a:ext cx="10227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CW 10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326" name="Rectangle 122_1"/>
          <p:cNvSpPr/>
          <p:nvPr/>
        </p:nvSpPr>
        <p:spPr>
          <a:xfrm>
            <a:off x="766800" y="3704400"/>
            <a:ext cx="102276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DF 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327" name="Straight Connector 123_1"/>
          <p:cNvSpPr/>
          <p:nvPr/>
        </p:nvSpPr>
        <p:spPr>
          <a:xfrm>
            <a:off x="1576800" y="91476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28" name="Rectangle 124_1"/>
          <p:cNvSpPr/>
          <p:nvPr/>
        </p:nvSpPr>
        <p:spPr>
          <a:xfrm>
            <a:off x="1577160" y="914760"/>
            <a:ext cx="3655800" cy="4554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29" name="Rectangle 125_1"/>
          <p:cNvSpPr/>
          <p:nvPr/>
        </p:nvSpPr>
        <p:spPr>
          <a:xfrm>
            <a:off x="1577160" y="1600200"/>
            <a:ext cx="3655800" cy="4554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30" name="Rectangle 126_1"/>
          <p:cNvSpPr/>
          <p:nvPr/>
        </p:nvSpPr>
        <p:spPr>
          <a:xfrm>
            <a:off x="1576800" y="2286360"/>
            <a:ext cx="5967000" cy="4554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31" name="Rectangle 127_1"/>
          <p:cNvSpPr/>
          <p:nvPr/>
        </p:nvSpPr>
        <p:spPr>
          <a:xfrm>
            <a:off x="1576800" y="2971800"/>
            <a:ext cx="5967000" cy="4554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32" name="Rectangle 128_1"/>
          <p:cNvSpPr/>
          <p:nvPr/>
        </p:nvSpPr>
        <p:spPr>
          <a:xfrm>
            <a:off x="1576800" y="3657600"/>
            <a:ext cx="8177760" cy="4554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33" name="Rectangle 129_1"/>
          <p:cNvSpPr/>
          <p:nvPr/>
        </p:nvSpPr>
        <p:spPr>
          <a:xfrm>
            <a:off x="9516600" y="3692160"/>
            <a:ext cx="471960" cy="38484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45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334" name="Rectangle 130_1"/>
          <p:cNvSpPr/>
          <p:nvPr/>
        </p:nvSpPr>
        <p:spPr>
          <a:xfrm>
            <a:off x="7288200" y="3007800"/>
            <a:ext cx="471960" cy="38484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33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335" name="Rectangle 131_1"/>
          <p:cNvSpPr/>
          <p:nvPr/>
        </p:nvSpPr>
        <p:spPr>
          <a:xfrm>
            <a:off x="7288200" y="2322360"/>
            <a:ext cx="471960" cy="38484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33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336" name="Rectangle 132_1"/>
          <p:cNvSpPr/>
          <p:nvPr/>
        </p:nvSpPr>
        <p:spPr>
          <a:xfrm>
            <a:off x="4991400" y="1635120"/>
            <a:ext cx="471960" cy="38484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337" name="Rectangle 133_1"/>
          <p:cNvSpPr/>
          <p:nvPr/>
        </p:nvSpPr>
        <p:spPr>
          <a:xfrm>
            <a:off x="4991400" y="949320"/>
            <a:ext cx="471960" cy="38484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338" name="Rectangle 134_1"/>
          <p:cNvSpPr/>
          <p:nvPr/>
        </p:nvSpPr>
        <p:spPr>
          <a:xfrm>
            <a:off x="7819200" y="3692160"/>
            <a:ext cx="462600" cy="38484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36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339" name="Rectangle 136_1"/>
          <p:cNvSpPr/>
          <p:nvPr/>
        </p:nvSpPr>
        <p:spPr>
          <a:xfrm>
            <a:off x="3283200" y="3685320"/>
            <a:ext cx="471960" cy="38484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12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1987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340" name="Rectangle 137_1"/>
          <p:cNvSpPr/>
          <p:nvPr/>
        </p:nvSpPr>
        <p:spPr>
          <a:xfrm>
            <a:off x="5763600" y="3007800"/>
            <a:ext cx="462600" cy="38484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24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341" name="Rectangle 138_1"/>
          <p:cNvSpPr/>
          <p:nvPr/>
        </p:nvSpPr>
        <p:spPr>
          <a:xfrm>
            <a:off x="5769360" y="2320920"/>
            <a:ext cx="462600" cy="38484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24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342" name="Rectangle 139_1"/>
          <p:cNvSpPr/>
          <p:nvPr/>
        </p:nvSpPr>
        <p:spPr>
          <a:xfrm>
            <a:off x="3286800" y="949320"/>
            <a:ext cx="462600" cy="38484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11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343" name="Rectangle 140_1"/>
          <p:cNvSpPr/>
          <p:nvPr/>
        </p:nvSpPr>
        <p:spPr>
          <a:xfrm>
            <a:off x="3279960" y="1636200"/>
            <a:ext cx="462600" cy="38484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11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344" name="Rectangle 141_1"/>
          <p:cNvSpPr/>
          <p:nvPr/>
        </p:nvSpPr>
        <p:spPr>
          <a:xfrm>
            <a:off x="2876400" y="2320920"/>
            <a:ext cx="471960" cy="384840"/>
          </a:xfrm>
          <a:prstGeom prst="rect">
            <a:avLst/>
          </a:prstGeom>
          <a:solidFill>
            <a:srgbClr val="ffffa6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8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1995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345" name="Rectangle 142_1"/>
          <p:cNvSpPr/>
          <p:nvPr/>
        </p:nvSpPr>
        <p:spPr>
          <a:xfrm>
            <a:off x="2860200" y="3007800"/>
            <a:ext cx="471960" cy="38484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8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1995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346" name="Rectangle 143_1"/>
          <p:cNvSpPr/>
          <p:nvPr/>
        </p:nvSpPr>
        <p:spPr>
          <a:xfrm rot="16180800">
            <a:off x="-392040" y="2382840"/>
            <a:ext cx="140436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  <a:ea typeface="DejaVu Sans"/>
              </a:rPr>
              <a:t>Treatment</a:t>
            </a:r>
            <a:endParaRPr b="0" lang="en-US" sz="2000" spc="-1" strike="noStrike">
              <a:latin typeface="Arial"/>
            </a:endParaRPr>
          </a:p>
        </p:txBody>
      </p:sp>
      <p:grpSp>
        <p:nvGrpSpPr>
          <p:cNvPr id="347" name="Group 144_1"/>
          <p:cNvGrpSpPr/>
          <p:nvPr/>
        </p:nvGrpSpPr>
        <p:grpSpPr>
          <a:xfrm>
            <a:off x="7664400" y="299520"/>
            <a:ext cx="2022480" cy="384840"/>
            <a:chOff x="7664400" y="299520"/>
            <a:chExt cx="2022480" cy="384840"/>
          </a:xfrm>
        </p:grpSpPr>
        <p:sp>
          <p:nvSpPr>
            <p:cNvPr id="348" name="Rectangle 145_1"/>
            <p:cNvSpPr/>
            <p:nvPr/>
          </p:nvSpPr>
          <p:spPr>
            <a:xfrm>
              <a:off x="7772400" y="339480"/>
              <a:ext cx="1827360" cy="344880"/>
            </a:xfrm>
            <a:prstGeom prst="rect">
              <a:avLst/>
            </a:pr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grpSp>
          <p:nvGrpSpPr>
            <p:cNvPr id="349" name="Group 146_1"/>
            <p:cNvGrpSpPr/>
            <p:nvPr/>
          </p:nvGrpSpPr>
          <p:grpSpPr>
            <a:xfrm>
              <a:off x="7664400" y="299520"/>
              <a:ext cx="2022480" cy="384840"/>
              <a:chOff x="7664400" y="299520"/>
              <a:chExt cx="2022480" cy="384840"/>
            </a:xfrm>
          </p:grpSpPr>
          <p:sp>
            <p:nvSpPr>
              <p:cNvPr id="350" name="Rectangle 147_1"/>
              <p:cNvSpPr/>
              <p:nvPr/>
            </p:nvSpPr>
            <p:spPr>
              <a:xfrm>
                <a:off x="7664400" y="299520"/>
                <a:ext cx="648720" cy="384840"/>
              </a:xfrm>
              <a:prstGeom prst="rect">
                <a:avLst/>
              </a:prstGeom>
              <a:solidFill>
                <a:srgbClr val="ffffff">
                  <a:alpha val="53000"/>
                </a:srgbClr>
              </a:solidFill>
              <a:ln w="0">
                <a:solidFill>
                  <a:srgbClr val="000000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>
                <a:noAutofit/>
              </a:bodyPr>
              <a:p>
                <a:pPr algn="ctr">
                  <a:lnSpc>
                    <a:spcPct val="100000"/>
                  </a:lnSpc>
                </a:pPr>
                <a:r>
                  <a:rPr b="0" lang="en-US" sz="10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 </a:t>
                </a:r>
                <a:r>
                  <a:rPr b="0" lang="en-US" sz="10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DF age</a:t>
                </a:r>
                <a:endParaRPr b="0" lang="en-US" sz="1000" spc="-1" strike="noStrike">
                  <a:latin typeface="Arial"/>
                </a:endParaRPr>
              </a:p>
              <a:p>
                <a:pPr algn="ctr">
                  <a:lnSpc>
                    <a:spcPct val="100000"/>
                  </a:lnSpc>
                </a:pPr>
                <a:r>
                  <a:rPr b="0" lang="en-US" sz="10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year</a:t>
                </a:r>
                <a:endParaRPr b="0" lang="en-US" sz="1000" spc="-1" strike="noStrike">
                  <a:latin typeface="Arial"/>
                </a:endParaRPr>
              </a:p>
            </p:txBody>
          </p:sp>
          <p:sp>
            <p:nvSpPr>
              <p:cNvPr id="351" name="Rectangle 148_1"/>
              <p:cNvSpPr/>
              <p:nvPr/>
            </p:nvSpPr>
            <p:spPr>
              <a:xfrm>
                <a:off x="8282520" y="339480"/>
                <a:ext cx="1404360" cy="3448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>
                <a:noAutofit/>
              </a:bodyPr>
              <a:p>
                <a:pPr>
                  <a:lnSpc>
                    <a:spcPct val="100000"/>
                  </a:lnSpc>
                </a:pPr>
                <a:r>
                  <a:rPr b="0" lang="en-US" sz="14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Measurement</a:t>
                </a:r>
                <a:endParaRPr b="0" lang="en-US" sz="1400" spc="-1" strike="noStrike">
                  <a:latin typeface="Arial"/>
                </a:endParaRPr>
              </a:p>
            </p:txBody>
          </p:sp>
        </p:grpSp>
      </p:grpSp>
      <p:grpSp>
        <p:nvGrpSpPr>
          <p:cNvPr id="352" name="Group 89_2"/>
          <p:cNvGrpSpPr/>
          <p:nvPr/>
        </p:nvGrpSpPr>
        <p:grpSpPr>
          <a:xfrm>
            <a:off x="2057400" y="268560"/>
            <a:ext cx="4343400" cy="344880"/>
            <a:chOff x="2057400" y="268560"/>
            <a:chExt cx="4343400" cy="344880"/>
          </a:xfrm>
        </p:grpSpPr>
        <p:sp>
          <p:nvSpPr>
            <p:cNvPr id="353" name="Rectangle 93_2"/>
            <p:cNvSpPr/>
            <p:nvPr/>
          </p:nvSpPr>
          <p:spPr>
            <a:xfrm>
              <a:off x="2057400" y="268560"/>
              <a:ext cx="4343400" cy="344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>
                <a:lnSpc>
                  <a:spcPct val="100000"/>
                </a:lnSpc>
              </a:pPr>
              <a:r>
                <a: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CORRECTED BASED ON CORRESPONDENCE</a:t>
              </a:r>
              <a:endParaRPr b="0" lang="en-US" sz="1400" spc="-1" strike="noStrike"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3251</TotalTime>
  <Application>LibreOffice/7.1.5.2$Windows_X86_64 LibreOffice_project/85f04e9f809797b8199d13c421bd8a2b025d52b5</Application>
  <AppVersion>15.0000</AppVersion>
  <Words>244</Words>
  <Paragraphs>168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2021-11-18T12:11:15Z</dcterms:created>
  <dc:creator/>
  <dc:description/>
  <dc:language>en-US</dc:language>
  <cp:lastModifiedBy/>
  <dcterms:modified xsi:type="dcterms:W3CDTF">2022-04-13T16:25:42Z</dcterms:modified>
  <cp:revision>19</cp:revision>
  <dc:subject/>
  <dc:title>PowerPoint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Custom</vt:lpwstr>
  </property>
  <property fmtid="{D5CDD505-2E9C-101B-9397-08002B2CF9AE}" pid="3" name="Slides">
    <vt:i4>4</vt:i4>
  </property>
</Properties>
</file>