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0080625" cy="567055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2" d="100"/>
          <a:sy n="132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traight Connector 37"/>
          <p:cNvSpPr/>
          <p:nvPr/>
        </p:nvSpPr>
        <p:spPr>
          <a:xfrm>
            <a:off x="5184000" y="914400"/>
            <a:ext cx="360" cy="34290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9" name="Straight Connector 38"/>
          <p:cNvSpPr/>
          <p:nvPr/>
        </p:nvSpPr>
        <p:spPr>
          <a:xfrm>
            <a:off x="4269600" y="914400"/>
            <a:ext cx="360" cy="34290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0" name="Straight Connector 39"/>
          <p:cNvSpPr/>
          <p:nvPr/>
        </p:nvSpPr>
        <p:spPr>
          <a:xfrm>
            <a:off x="3355200" y="914400"/>
            <a:ext cx="360" cy="34290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1" name="Straight Connector 40"/>
          <p:cNvSpPr/>
          <p:nvPr/>
        </p:nvSpPr>
        <p:spPr>
          <a:xfrm>
            <a:off x="2440800" y="914400"/>
            <a:ext cx="360" cy="34290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2" name="Straight Connector 41"/>
          <p:cNvSpPr/>
          <p:nvPr/>
        </p:nvSpPr>
        <p:spPr>
          <a:xfrm>
            <a:off x="6098400" y="914400"/>
            <a:ext cx="360" cy="34290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" name="Straight Connector 42"/>
          <p:cNvSpPr/>
          <p:nvPr/>
        </p:nvSpPr>
        <p:spPr>
          <a:xfrm>
            <a:off x="7012800" y="914400"/>
            <a:ext cx="360" cy="34290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4" name="Straight Connector 43"/>
          <p:cNvSpPr/>
          <p:nvPr/>
        </p:nvSpPr>
        <p:spPr>
          <a:xfrm>
            <a:off x="7927200" y="914400"/>
            <a:ext cx="360" cy="34290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5" name="Straight Connector 44"/>
          <p:cNvSpPr/>
          <p:nvPr/>
        </p:nvSpPr>
        <p:spPr>
          <a:xfrm>
            <a:off x="8841600" y="914400"/>
            <a:ext cx="360" cy="34290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6" name="Straight Connector 45"/>
          <p:cNvSpPr/>
          <p:nvPr/>
        </p:nvSpPr>
        <p:spPr>
          <a:xfrm>
            <a:off x="9756000" y="914400"/>
            <a:ext cx="360" cy="34290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7" name="Rectangle 46"/>
          <p:cNvSpPr/>
          <p:nvPr/>
        </p:nvSpPr>
        <p:spPr>
          <a:xfrm>
            <a:off x="2290320" y="4682880"/>
            <a:ext cx="483120" cy="34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‘80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3132720" y="4682880"/>
            <a:ext cx="483120" cy="34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‘85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4047120" y="4682880"/>
            <a:ext cx="483120" cy="34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‘90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4961520" y="4682880"/>
            <a:ext cx="483120" cy="34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‘95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5715000" y="4682880"/>
            <a:ext cx="685440" cy="34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2000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790320" y="4682880"/>
            <a:ext cx="483120" cy="34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‘05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7698600" y="4682880"/>
            <a:ext cx="529920" cy="34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‘10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8619120" y="4682880"/>
            <a:ext cx="483120" cy="34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‘15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9533520" y="4682880"/>
            <a:ext cx="483120" cy="34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‘20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1405800" y="4682880"/>
            <a:ext cx="685440" cy="34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1975</a:t>
            </a:r>
            <a:endParaRPr lang="en-US" sz="1600" b="0" strike="noStrike" spc="-1" dirty="0">
              <a:latin typeface="Arial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4919400" y="5140080"/>
            <a:ext cx="794520" cy="34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Year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457200" y="950400"/>
            <a:ext cx="1224720" cy="34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(D) RA 20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408600" y="1636200"/>
            <a:ext cx="1381320" cy="34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(E) CW 20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465120" y="2345400"/>
            <a:ext cx="1180800" cy="34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(A) RA 10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408600" y="3021480"/>
            <a:ext cx="1345320" cy="34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(B) CW 10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541800" y="3704400"/>
            <a:ext cx="1104120" cy="34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(C) DF 0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63" name="Straight Connector 62"/>
          <p:cNvSpPr/>
          <p:nvPr/>
        </p:nvSpPr>
        <p:spPr>
          <a:xfrm>
            <a:off x="1576800" y="914760"/>
            <a:ext cx="360" cy="34290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4" name="Rectangle 63"/>
          <p:cNvSpPr/>
          <p:nvPr/>
        </p:nvSpPr>
        <p:spPr>
          <a:xfrm>
            <a:off x="1576800" y="3657600"/>
            <a:ext cx="8178120" cy="45576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5" name="Rectangle 64"/>
          <p:cNvSpPr/>
          <p:nvPr/>
        </p:nvSpPr>
        <p:spPr>
          <a:xfrm>
            <a:off x="9516600" y="3692160"/>
            <a:ext cx="472320" cy="38520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Arial"/>
                <a:ea typeface="DejaVu Sans"/>
              </a:rPr>
              <a:t>45</a:t>
            </a:r>
            <a:endParaRPr lang="en-US" sz="10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Arial"/>
                <a:ea typeface="DejaVu Sans"/>
              </a:rPr>
              <a:t>2020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7855200" y="3692160"/>
            <a:ext cx="462960" cy="38520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36</a:t>
            </a:r>
            <a:endParaRPr lang="en-US" sz="10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2011</a:t>
            </a:r>
            <a:endParaRPr lang="en-US" sz="1000" b="0" strike="noStrike" spc="-1" dirty="0">
              <a:latin typeface="Arial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3463200" y="3685320"/>
            <a:ext cx="472320" cy="38520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Arial"/>
                <a:ea typeface="DejaVu Sans"/>
              </a:rPr>
              <a:t>12</a:t>
            </a:r>
            <a:endParaRPr lang="en-US" sz="10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Arial"/>
                <a:ea typeface="DejaVu Sans"/>
              </a:rPr>
              <a:t>1987</a:t>
            </a:r>
            <a:endParaRPr lang="en-US" sz="1000" b="0" strike="noStrike" spc="-1">
              <a:latin typeface="Arial"/>
            </a:endParaRPr>
          </a:p>
        </p:txBody>
      </p:sp>
      <p:grpSp>
        <p:nvGrpSpPr>
          <p:cNvPr id="69" name="Group 68"/>
          <p:cNvGrpSpPr/>
          <p:nvPr/>
        </p:nvGrpSpPr>
        <p:grpSpPr>
          <a:xfrm>
            <a:off x="1575000" y="914400"/>
            <a:ext cx="8397720" cy="2513160"/>
            <a:chOff x="1575000" y="914400"/>
            <a:chExt cx="8397720" cy="2513160"/>
          </a:xfrm>
        </p:grpSpPr>
        <p:sp>
          <p:nvSpPr>
            <p:cNvPr id="70" name="Rectangle 69"/>
            <p:cNvSpPr/>
            <p:nvPr/>
          </p:nvSpPr>
          <p:spPr>
            <a:xfrm>
              <a:off x="5184000" y="914400"/>
              <a:ext cx="4558320" cy="45576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1" name="Rectangle 70"/>
            <p:cNvSpPr/>
            <p:nvPr/>
          </p:nvSpPr>
          <p:spPr>
            <a:xfrm>
              <a:off x="5184000" y="1599840"/>
              <a:ext cx="4558320" cy="45576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2" name="Rectangle 71"/>
            <p:cNvSpPr/>
            <p:nvPr/>
          </p:nvSpPr>
          <p:spPr>
            <a:xfrm>
              <a:off x="9500400" y="1634760"/>
              <a:ext cx="472320" cy="385200"/>
            </a:xfrm>
            <a:prstGeom prst="rect">
              <a:avLst/>
            </a:prstGeom>
            <a:solidFill>
              <a:srgbClr val="FFFFFF">
                <a:alpha val="53000"/>
              </a:srgbClr>
            </a:solidFill>
            <a:ln w="0">
              <a:solidFill>
                <a:srgbClr val="00000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0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25</a:t>
              </a:r>
              <a:endParaRPr lang="en-US" sz="1000" b="0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10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2020</a:t>
              </a:r>
              <a:endParaRPr lang="en-US" sz="1000" b="0" strike="noStrike" spc="-1">
                <a:latin typeface="Arial"/>
              </a:endParaRPr>
            </a:p>
          </p:txBody>
        </p:sp>
        <p:sp>
          <p:nvSpPr>
            <p:cNvPr id="73" name="Rectangle 72"/>
            <p:cNvSpPr/>
            <p:nvPr/>
          </p:nvSpPr>
          <p:spPr>
            <a:xfrm>
              <a:off x="9500400" y="948960"/>
              <a:ext cx="472320" cy="385200"/>
            </a:xfrm>
            <a:prstGeom prst="rect">
              <a:avLst/>
            </a:prstGeom>
            <a:solidFill>
              <a:srgbClr val="FFFFFF">
                <a:alpha val="53000"/>
              </a:srgbClr>
            </a:solidFill>
            <a:ln w="0">
              <a:solidFill>
                <a:srgbClr val="00000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0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25</a:t>
              </a:r>
              <a:endParaRPr lang="en-US" sz="1000" b="0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10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2020</a:t>
              </a:r>
              <a:endParaRPr lang="en-US" sz="1000" b="0" strike="noStrike" spc="-1">
                <a:latin typeface="Arial"/>
              </a:endParaRP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7867800" y="948960"/>
              <a:ext cx="462960" cy="385200"/>
            </a:xfrm>
            <a:prstGeom prst="rect">
              <a:avLst/>
            </a:prstGeom>
            <a:solidFill>
              <a:srgbClr val="FFFFFF">
                <a:alpha val="53000"/>
              </a:srgbClr>
            </a:solidFill>
            <a:ln w="0">
              <a:solidFill>
                <a:srgbClr val="00000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000" b="0" strike="noStrike" spc="-1" dirty="0">
                  <a:solidFill>
                    <a:srgbClr val="000000"/>
                  </a:solidFill>
                  <a:latin typeface="Arial"/>
                  <a:ea typeface="DejaVu Sans"/>
                </a:rPr>
                <a:t>16</a:t>
              </a:r>
              <a:endParaRPr lang="en-US" sz="1000" b="0" strike="noStrike" spc="-1" dirty="0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1000" b="0" strike="noStrike" spc="-1" dirty="0">
                  <a:solidFill>
                    <a:srgbClr val="000000"/>
                  </a:solidFill>
                  <a:latin typeface="Arial"/>
                  <a:ea typeface="DejaVu Sans"/>
                </a:rPr>
                <a:t>2011</a:t>
              </a:r>
              <a:endParaRPr lang="en-US" sz="1000" b="0" strike="noStrike" spc="-1" dirty="0">
                <a:latin typeface="Arial"/>
              </a:endParaRPr>
            </a:p>
          </p:txBody>
        </p:sp>
        <p:sp>
          <p:nvSpPr>
            <p:cNvPr id="75" name="Rectangle 74"/>
            <p:cNvSpPr/>
            <p:nvPr/>
          </p:nvSpPr>
          <p:spPr>
            <a:xfrm>
              <a:off x="7860960" y="1635840"/>
              <a:ext cx="462960" cy="385200"/>
            </a:xfrm>
            <a:prstGeom prst="rect">
              <a:avLst/>
            </a:prstGeom>
            <a:solidFill>
              <a:srgbClr val="FFFFFF">
                <a:alpha val="53000"/>
              </a:srgbClr>
            </a:solidFill>
            <a:ln w="0">
              <a:solidFill>
                <a:srgbClr val="00000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0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16</a:t>
              </a:r>
              <a:endParaRPr lang="en-US" sz="1000" b="0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10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2011</a:t>
              </a:r>
              <a:endParaRPr lang="en-US" sz="1000" b="0" strike="noStrike" spc="-1">
                <a:latin typeface="Arial"/>
              </a:endParaRPr>
            </a:p>
          </p:txBody>
        </p:sp>
        <p:sp>
          <p:nvSpPr>
            <p:cNvPr id="76" name="Rectangle 75"/>
            <p:cNvSpPr/>
            <p:nvPr/>
          </p:nvSpPr>
          <p:spPr>
            <a:xfrm>
              <a:off x="1576800" y="914400"/>
              <a:ext cx="3606120" cy="455760"/>
            </a:xfrm>
            <a:prstGeom prst="rect">
              <a:avLst/>
            </a:prstGeom>
            <a:solidFill>
              <a:srgbClr val="FF3838"/>
            </a:solidFill>
            <a:ln w="0">
              <a:solidFill>
                <a:srgbClr val="C9211E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7" name="Rectangle 76"/>
            <p:cNvSpPr/>
            <p:nvPr/>
          </p:nvSpPr>
          <p:spPr>
            <a:xfrm>
              <a:off x="1576800" y="2286360"/>
              <a:ext cx="1777320" cy="455760"/>
            </a:xfrm>
            <a:prstGeom prst="rect">
              <a:avLst/>
            </a:prstGeom>
            <a:solidFill>
              <a:srgbClr val="FF3838"/>
            </a:solidFill>
            <a:ln w="0">
              <a:solidFill>
                <a:srgbClr val="C9211E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8" name="Rectangle 77"/>
            <p:cNvSpPr/>
            <p:nvPr/>
          </p:nvSpPr>
          <p:spPr>
            <a:xfrm>
              <a:off x="1576800" y="1600560"/>
              <a:ext cx="3606120" cy="455760"/>
            </a:xfrm>
            <a:prstGeom prst="rect">
              <a:avLst/>
            </a:prstGeom>
            <a:solidFill>
              <a:srgbClr val="3FAF46"/>
            </a:solidFill>
            <a:ln w="0">
              <a:solidFill>
                <a:srgbClr val="127622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9" name="Rectangle 78"/>
            <p:cNvSpPr/>
            <p:nvPr/>
          </p:nvSpPr>
          <p:spPr>
            <a:xfrm>
              <a:off x="1575000" y="2971800"/>
              <a:ext cx="1779120" cy="455760"/>
            </a:xfrm>
            <a:prstGeom prst="rect">
              <a:avLst/>
            </a:prstGeom>
            <a:solidFill>
              <a:srgbClr val="3FAF46"/>
            </a:solidFill>
            <a:ln w="0">
              <a:solidFill>
                <a:srgbClr val="127622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80" name="Group 79"/>
          <p:cNvGrpSpPr/>
          <p:nvPr/>
        </p:nvGrpSpPr>
        <p:grpSpPr>
          <a:xfrm>
            <a:off x="3355200" y="2286360"/>
            <a:ext cx="6637320" cy="1141200"/>
            <a:chOff x="3355200" y="2286360"/>
            <a:chExt cx="6637320" cy="1141200"/>
          </a:xfrm>
        </p:grpSpPr>
        <p:sp>
          <p:nvSpPr>
            <p:cNvPr id="81" name="Rectangle 80"/>
            <p:cNvSpPr/>
            <p:nvPr/>
          </p:nvSpPr>
          <p:spPr>
            <a:xfrm>
              <a:off x="3355200" y="2286360"/>
              <a:ext cx="6406920" cy="45576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2" name="Rectangle 81"/>
            <p:cNvSpPr/>
            <p:nvPr/>
          </p:nvSpPr>
          <p:spPr>
            <a:xfrm>
              <a:off x="3355200" y="2971800"/>
              <a:ext cx="6406920" cy="45576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3" name="Rectangle 82"/>
            <p:cNvSpPr/>
            <p:nvPr/>
          </p:nvSpPr>
          <p:spPr>
            <a:xfrm>
              <a:off x="9520200" y="3007800"/>
              <a:ext cx="472320" cy="385200"/>
            </a:xfrm>
            <a:prstGeom prst="rect">
              <a:avLst/>
            </a:prstGeom>
            <a:solidFill>
              <a:srgbClr val="FFFFFF">
                <a:alpha val="53000"/>
              </a:srgbClr>
            </a:solidFill>
            <a:ln w="0">
              <a:solidFill>
                <a:srgbClr val="00000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0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35</a:t>
              </a:r>
              <a:endParaRPr lang="en-US" sz="1000" b="0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10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2020</a:t>
              </a:r>
              <a:endParaRPr lang="en-US" sz="1000" b="0" strike="noStrike" spc="-1">
                <a:latin typeface="Arial"/>
              </a:endParaRPr>
            </a:p>
          </p:txBody>
        </p:sp>
        <p:sp>
          <p:nvSpPr>
            <p:cNvPr id="84" name="Rectangle 83"/>
            <p:cNvSpPr/>
            <p:nvPr/>
          </p:nvSpPr>
          <p:spPr>
            <a:xfrm>
              <a:off x="9520200" y="2322360"/>
              <a:ext cx="472320" cy="385200"/>
            </a:xfrm>
            <a:prstGeom prst="rect">
              <a:avLst/>
            </a:prstGeom>
            <a:solidFill>
              <a:srgbClr val="FFFFFF">
                <a:alpha val="53000"/>
              </a:srgbClr>
            </a:solidFill>
            <a:ln w="0">
              <a:solidFill>
                <a:srgbClr val="00000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0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35</a:t>
              </a:r>
              <a:endParaRPr lang="en-US" sz="1000" b="0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10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2020</a:t>
              </a:r>
              <a:endParaRPr lang="en-US" sz="1000" b="0" strike="noStrike" spc="-1">
                <a:latin typeface="Arial"/>
              </a:endParaRPr>
            </a:p>
          </p:txBody>
        </p:sp>
        <p:sp>
          <p:nvSpPr>
            <p:cNvPr id="85" name="Rectangle 84"/>
            <p:cNvSpPr/>
            <p:nvPr/>
          </p:nvSpPr>
          <p:spPr>
            <a:xfrm>
              <a:off x="7851600" y="3007800"/>
              <a:ext cx="462960" cy="385200"/>
            </a:xfrm>
            <a:prstGeom prst="rect">
              <a:avLst/>
            </a:prstGeom>
            <a:solidFill>
              <a:srgbClr val="FFFFFF">
                <a:alpha val="53000"/>
              </a:srgbClr>
            </a:solidFill>
            <a:ln w="0">
              <a:solidFill>
                <a:srgbClr val="00000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0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26</a:t>
              </a:r>
              <a:endParaRPr lang="en-US" sz="1000" b="0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10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2011</a:t>
              </a:r>
              <a:endParaRPr lang="en-US" sz="1000" b="0" strike="noStrike" spc="-1">
                <a:latin typeface="Arial"/>
              </a:endParaRPr>
            </a:p>
          </p:txBody>
        </p:sp>
        <p:sp>
          <p:nvSpPr>
            <p:cNvPr id="86" name="Rectangle 85"/>
            <p:cNvSpPr/>
            <p:nvPr/>
          </p:nvSpPr>
          <p:spPr>
            <a:xfrm>
              <a:off x="7857360" y="2320920"/>
              <a:ext cx="462960" cy="385200"/>
            </a:xfrm>
            <a:prstGeom prst="rect">
              <a:avLst/>
            </a:prstGeom>
            <a:solidFill>
              <a:srgbClr val="FFFFFF">
                <a:alpha val="53000"/>
              </a:srgbClr>
            </a:solidFill>
            <a:ln w="0">
              <a:solidFill>
                <a:srgbClr val="00000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0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26</a:t>
              </a:r>
              <a:endParaRPr lang="en-US" sz="1000" b="0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10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2011</a:t>
              </a:r>
              <a:endParaRPr lang="en-US" sz="1000" b="0" strike="noStrike" spc="-1">
                <a:latin typeface="Arial"/>
              </a:endParaRPr>
            </a:p>
          </p:txBody>
        </p:sp>
        <p:sp>
          <p:nvSpPr>
            <p:cNvPr id="87" name="Rectangle 86"/>
            <p:cNvSpPr/>
            <p:nvPr/>
          </p:nvSpPr>
          <p:spPr>
            <a:xfrm>
              <a:off x="4964400" y="2320920"/>
              <a:ext cx="472320" cy="385200"/>
            </a:xfrm>
            <a:prstGeom prst="rect">
              <a:avLst/>
            </a:prstGeom>
            <a:solidFill>
              <a:srgbClr val="FFFFA6">
                <a:alpha val="53000"/>
              </a:srgbClr>
            </a:solidFill>
            <a:ln w="0">
              <a:solidFill>
                <a:srgbClr val="00000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000" b="0" strike="noStrike" spc="-1" dirty="0">
                  <a:solidFill>
                    <a:srgbClr val="000000"/>
                  </a:solidFill>
                  <a:latin typeface="Arial"/>
                  <a:ea typeface="DejaVu Sans"/>
                </a:rPr>
                <a:t>10</a:t>
              </a:r>
              <a:endParaRPr lang="en-US" sz="1000" b="0" strike="noStrike" spc="-1" dirty="0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1000" b="0" strike="noStrike" spc="-1" dirty="0">
                  <a:solidFill>
                    <a:srgbClr val="000000"/>
                  </a:solidFill>
                  <a:latin typeface="Arial"/>
                  <a:ea typeface="DejaVu Sans"/>
                </a:rPr>
                <a:t>1995</a:t>
              </a:r>
              <a:endParaRPr lang="en-US" sz="1000" b="0" strike="noStrike" spc="-1" dirty="0">
                <a:latin typeface="Arial"/>
              </a:endParaRPr>
            </a:p>
          </p:txBody>
        </p:sp>
        <p:sp>
          <p:nvSpPr>
            <p:cNvPr id="88" name="Rectangle 87"/>
            <p:cNvSpPr/>
            <p:nvPr/>
          </p:nvSpPr>
          <p:spPr>
            <a:xfrm>
              <a:off x="4948200" y="3007800"/>
              <a:ext cx="472320" cy="385200"/>
            </a:xfrm>
            <a:prstGeom prst="rect">
              <a:avLst/>
            </a:prstGeom>
            <a:solidFill>
              <a:srgbClr val="FFFFFF">
                <a:alpha val="53000"/>
              </a:srgbClr>
            </a:solidFill>
            <a:ln w="0">
              <a:solidFill>
                <a:srgbClr val="00000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0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10</a:t>
              </a:r>
              <a:endParaRPr lang="en-US" sz="1000" b="0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10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1995</a:t>
              </a:r>
              <a:endParaRPr lang="en-US" sz="1000" b="0" strike="noStrike" spc="-1">
                <a:latin typeface="Arial"/>
              </a:endParaRPr>
            </a:p>
          </p:txBody>
        </p:sp>
      </p:grpSp>
      <p:sp>
        <p:nvSpPr>
          <p:cNvPr id="89" name="Rectangle 88"/>
          <p:cNvSpPr/>
          <p:nvPr/>
        </p:nvSpPr>
        <p:spPr>
          <a:xfrm rot="16180800">
            <a:off x="-392040" y="2382840"/>
            <a:ext cx="1404720" cy="37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  <a:ea typeface="DejaVu Sans"/>
              </a:rPr>
              <a:t>Treatment</a:t>
            </a:r>
            <a:endParaRPr lang="en-US" sz="2000" b="0" strike="noStrike" spc="-1">
              <a:latin typeface="Arial"/>
            </a:endParaRPr>
          </a:p>
        </p:txBody>
      </p:sp>
      <p:grpSp>
        <p:nvGrpSpPr>
          <p:cNvPr id="90" name="Group 89"/>
          <p:cNvGrpSpPr/>
          <p:nvPr/>
        </p:nvGrpSpPr>
        <p:grpSpPr>
          <a:xfrm>
            <a:off x="7592400" y="228600"/>
            <a:ext cx="2007720" cy="385200"/>
            <a:chOff x="7592400" y="228600"/>
            <a:chExt cx="2007720" cy="385200"/>
          </a:xfrm>
        </p:grpSpPr>
        <p:sp>
          <p:nvSpPr>
            <p:cNvPr id="91" name="Rectangle 90"/>
            <p:cNvSpPr/>
            <p:nvPr/>
          </p:nvSpPr>
          <p:spPr>
            <a:xfrm>
              <a:off x="7772400" y="268560"/>
              <a:ext cx="1827720" cy="34524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grpSp>
          <p:nvGrpSpPr>
            <p:cNvPr id="92" name="Group 91"/>
            <p:cNvGrpSpPr/>
            <p:nvPr/>
          </p:nvGrpSpPr>
          <p:grpSpPr>
            <a:xfrm>
              <a:off x="7592400" y="228600"/>
              <a:ext cx="1986840" cy="385200"/>
              <a:chOff x="7592400" y="228600"/>
              <a:chExt cx="1986840" cy="385200"/>
            </a:xfrm>
          </p:grpSpPr>
          <p:sp>
            <p:nvSpPr>
              <p:cNvPr id="93" name="Rectangle 92"/>
              <p:cNvSpPr/>
              <p:nvPr/>
            </p:nvSpPr>
            <p:spPr>
              <a:xfrm>
                <a:off x="7592400" y="228600"/>
                <a:ext cx="612360" cy="385200"/>
              </a:xfrm>
              <a:prstGeom prst="rect">
                <a:avLst/>
              </a:prstGeom>
              <a:solidFill>
                <a:srgbClr val="FFFFFF">
                  <a:alpha val="53000"/>
                </a:srgbClr>
              </a:solidFill>
              <a:ln w="0">
                <a:solidFill>
                  <a:srgbClr val="000000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en-US" sz="1000" b="0" strike="noStrike" spc="-1" dirty="0">
                    <a:solidFill>
                      <a:srgbClr val="000000"/>
                    </a:solidFill>
                    <a:latin typeface="Arial"/>
                    <a:ea typeface="DejaVu Sans"/>
                  </a:rPr>
                  <a:t>DF age</a:t>
                </a:r>
                <a:endParaRPr lang="en-US" sz="1000" b="0" strike="noStrike" spc="-1" dirty="0">
                  <a:latin typeface="Arial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lang="en-US" sz="1000" b="0" strike="noStrike" spc="-1" dirty="0">
                    <a:solidFill>
                      <a:srgbClr val="000000"/>
                    </a:solidFill>
                    <a:latin typeface="Arial"/>
                    <a:ea typeface="DejaVu Sans"/>
                  </a:rPr>
                  <a:t>year</a:t>
                </a:r>
                <a:endParaRPr lang="en-US" sz="1000" b="0" strike="noStrike" spc="-1" dirty="0">
                  <a:latin typeface="Arial"/>
                </a:endParaRPr>
              </a:p>
            </p:txBody>
          </p:sp>
          <p:sp>
            <p:nvSpPr>
              <p:cNvPr id="94" name="Rectangle 93"/>
              <p:cNvSpPr/>
              <p:nvPr/>
            </p:nvSpPr>
            <p:spPr>
              <a:xfrm>
                <a:off x="8174520" y="268560"/>
                <a:ext cx="1404720" cy="3452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4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Measurement</a:t>
                </a:r>
                <a:endParaRPr lang="en-US" sz="1400" b="0" strike="noStrike" spc="-1">
                  <a:latin typeface="Arial"/>
                </a:endParaRPr>
              </a:p>
            </p:txBody>
          </p:sp>
        </p:grpSp>
      </p:grpSp>
      <p:sp>
        <p:nvSpPr>
          <p:cNvPr id="95" name="Rectangle 94"/>
          <p:cNvSpPr/>
          <p:nvPr/>
        </p:nvSpPr>
        <p:spPr>
          <a:xfrm>
            <a:off x="3429000" y="685800"/>
            <a:ext cx="5029200" cy="3886200"/>
          </a:xfrm>
          <a:prstGeom prst="rect">
            <a:avLst/>
          </a:prstGeom>
          <a:noFill/>
          <a:ln w="126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6" name="Rectangle 95"/>
          <p:cNvSpPr/>
          <p:nvPr/>
        </p:nvSpPr>
        <p:spPr>
          <a:xfrm>
            <a:off x="7772400" y="649800"/>
            <a:ext cx="2286000" cy="3886200"/>
          </a:xfrm>
          <a:prstGeom prst="rect">
            <a:avLst/>
          </a:prstGeom>
          <a:noFill/>
          <a:ln w="12600">
            <a:solidFill>
              <a:schemeClr val="tx2">
                <a:lumMod val="40000"/>
                <a:lumOff val="60000"/>
              </a:scheme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7" name="TextBox 96"/>
          <p:cNvSpPr txBox="1"/>
          <p:nvPr/>
        </p:nvSpPr>
        <p:spPr>
          <a:xfrm>
            <a:off x="4114800" y="623880"/>
            <a:ext cx="2286000" cy="489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Transcribed datasheets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8330760" y="613800"/>
            <a:ext cx="1276200" cy="489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Spreadsheet</a:t>
            </a:r>
            <a:endParaRPr lang="en-US" sz="1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traight Connector 98"/>
          <p:cNvSpPr/>
          <p:nvPr/>
        </p:nvSpPr>
        <p:spPr>
          <a:xfrm>
            <a:off x="5184000" y="914400"/>
            <a:ext cx="360" cy="34290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0" name="Straight Connector 99"/>
          <p:cNvSpPr/>
          <p:nvPr/>
        </p:nvSpPr>
        <p:spPr>
          <a:xfrm>
            <a:off x="4269600" y="914400"/>
            <a:ext cx="360" cy="34290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1" name="Straight Connector 100"/>
          <p:cNvSpPr/>
          <p:nvPr/>
        </p:nvSpPr>
        <p:spPr>
          <a:xfrm>
            <a:off x="3355200" y="914400"/>
            <a:ext cx="360" cy="34290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2" name="Straight Connector 101"/>
          <p:cNvSpPr/>
          <p:nvPr/>
        </p:nvSpPr>
        <p:spPr>
          <a:xfrm>
            <a:off x="2440800" y="914400"/>
            <a:ext cx="360" cy="34290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3" name="Straight Connector 102"/>
          <p:cNvSpPr/>
          <p:nvPr/>
        </p:nvSpPr>
        <p:spPr>
          <a:xfrm>
            <a:off x="6098400" y="914400"/>
            <a:ext cx="360" cy="34290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4" name="Straight Connector 103"/>
          <p:cNvSpPr/>
          <p:nvPr/>
        </p:nvSpPr>
        <p:spPr>
          <a:xfrm>
            <a:off x="7012800" y="914400"/>
            <a:ext cx="360" cy="34290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5" name="Straight Connector 104"/>
          <p:cNvSpPr/>
          <p:nvPr/>
        </p:nvSpPr>
        <p:spPr>
          <a:xfrm>
            <a:off x="7927200" y="914400"/>
            <a:ext cx="360" cy="34290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6" name="Straight Connector 105"/>
          <p:cNvSpPr/>
          <p:nvPr/>
        </p:nvSpPr>
        <p:spPr>
          <a:xfrm>
            <a:off x="8841600" y="914400"/>
            <a:ext cx="360" cy="34290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7" name="Straight Connector 106"/>
          <p:cNvSpPr/>
          <p:nvPr/>
        </p:nvSpPr>
        <p:spPr>
          <a:xfrm>
            <a:off x="9756000" y="914400"/>
            <a:ext cx="360" cy="34290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8" name="Rectangle 107"/>
          <p:cNvSpPr/>
          <p:nvPr/>
        </p:nvSpPr>
        <p:spPr>
          <a:xfrm>
            <a:off x="2290320" y="4682880"/>
            <a:ext cx="306000" cy="34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5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109" name="Rectangle 108"/>
          <p:cNvSpPr/>
          <p:nvPr/>
        </p:nvSpPr>
        <p:spPr>
          <a:xfrm>
            <a:off x="3132720" y="4682880"/>
            <a:ext cx="432720" cy="34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10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110" name="Rectangle 109"/>
          <p:cNvSpPr/>
          <p:nvPr/>
        </p:nvSpPr>
        <p:spPr>
          <a:xfrm>
            <a:off x="4047120" y="4682880"/>
            <a:ext cx="432720" cy="34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15</a:t>
            </a:r>
            <a:endParaRPr lang="en-US" sz="1600" b="0" strike="noStrike" spc="-1" dirty="0">
              <a:latin typeface="Arial"/>
            </a:endParaRPr>
          </a:p>
        </p:txBody>
      </p:sp>
      <p:sp>
        <p:nvSpPr>
          <p:cNvPr id="111" name="Rectangle 110"/>
          <p:cNvSpPr/>
          <p:nvPr/>
        </p:nvSpPr>
        <p:spPr>
          <a:xfrm>
            <a:off x="4961520" y="4682880"/>
            <a:ext cx="432720" cy="34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20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112" name="Rectangle 111"/>
          <p:cNvSpPr/>
          <p:nvPr/>
        </p:nvSpPr>
        <p:spPr>
          <a:xfrm>
            <a:off x="5875920" y="4682880"/>
            <a:ext cx="432720" cy="34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25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113" name="Rectangle 112"/>
          <p:cNvSpPr/>
          <p:nvPr/>
        </p:nvSpPr>
        <p:spPr>
          <a:xfrm>
            <a:off x="6790320" y="4682880"/>
            <a:ext cx="432720" cy="34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30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114" name="Rectangle 113"/>
          <p:cNvSpPr/>
          <p:nvPr/>
        </p:nvSpPr>
        <p:spPr>
          <a:xfrm>
            <a:off x="7698600" y="4682880"/>
            <a:ext cx="456120" cy="34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35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8619120" y="4682880"/>
            <a:ext cx="432720" cy="34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40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116" name="Rectangle 115"/>
          <p:cNvSpPr/>
          <p:nvPr/>
        </p:nvSpPr>
        <p:spPr>
          <a:xfrm>
            <a:off x="9533520" y="4682880"/>
            <a:ext cx="432720" cy="34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45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117" name="Rectangle 116"/>
          <p:cNvSpPr/>
          <p:nvPr/>
        </p:nvSpPr>
        <p:spPr>
          <a:xfrm>
            <a:off x="1405800" y="4682880"/>
            <a:ext cx="306000" cy="34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0</a:t>
            </a:r>
            <a:endParaRPr lang="en-US" sz="1600" b="0" strike="noStrike" spc="-1" dirty="0">
              <a:latin typeface="Arial"/>
            </a:endParaRPr>
          </a:p>
        </p:txBody>
      </p:sp>
      <p:sp>
        <p:nvSpPr>
          <p:cNvPr id="118" name="Rectangle 117"/>
          <p:cNvSpPr/>
          <p:nvPr/>
        </p:nvSpPr>
        <p:spPr>
          <a:xfrm>
            <a:off x="4233600" y="5140080"/>
            <a:ext cx="3235320" cy="34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Douglas Fir Stand Age (years)</a:t>
            </a:r>
            <a:endParaRPr lang="en-US" sz="1600" b="0" strike="noStrike" spc="-1" dirty="0">
              <a:latin typeface="Arial"/>
            </a:endParaRPr>
          </a:p>
        </p:txBody>
      </p:sp>
      <p:sp>
        <p:nvSpPr>
          <p:cNvPr id="119" name="Rectangle 118"/>
          <p:cNvSpPr/>
          <p:nvPr/>
        </p:nvSpPr>
        <p:spPr>
          <a:xfrm>
            <a:off x="658800" y="950400"/>
            <a:ext cx="1023120" cy="34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RA 20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20" name="Rectangle 119"/>
          <p:cNvSpPr/>
          <p:nvPr/>
        </p:nvSpPr>
        <p:spPr>
          <a:xfrm>
            <a:off x="586800" y="1636200"/>
            <a:ext cx="1023120" cy="34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CW 20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21" name="Rectangle 120"/>
          <p:cNvSpPr/>
          <p:nvPr/>
        </p:nvSpPr>
        <p:spPr>
          <a:xfrm>
            <a:off x="658800" y="2345400"/>
            <a:ext cx="1023120" cy="34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RA 10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22" name="Rectangle 121"/>
          <p:cNvSpPr/>
          <p:nvPr/>
        </p:nvSpPr>
        <p:spPr>
          <a:xfrm>
            <a:off x="550800" y="3021480"/>
            <a:ext cx="1023120" cy="34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CW 10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23" name="Rectangle 122"/>
          <p:cNvSpPr/>
          <p:nvPr/>
        </p:nvSpPr>
        <p:spPr>
          <a:xfrm>
            <a:off x="766800" y="3704400"/>
            <a:ext cx="1023120" cy="34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DF 0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24" name="Straight Connector 123"/>
          <p:cNvSpPr/>
          <p:nvPr/>
        </p:nvSpPr>
        <p:spPr>
          <a:xfrm>
            <a:off x="1576800" y="914760"/>
            <a:ext cx="360" cy="34290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5" name="Rectangle 124"/>
          <p:cNvSpPr/>
          <p:nvPr/>
        </p:nvSpPr>
        <p:spPr>
          <a:xfrm>
            <a:off x="1576800" y="914760"/>
            <a:ext cx="4520520" cy="45576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6" name="Rectangle 125"/>
          <p:cNvSpPr/>
          <p:nvPr/>
        </p:nvSpPr>
        <p:spPr>
          <a:xfrm>
            <a:off x="1576800" y="1600200"/>
            <a:ext cx="4520520" cy="45576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7" name="Rectangle 126"/>
          <p:cNvSpPr/>
          <p:nvPr/>
        </p:nvSpPr>
        <p:spPr>
          <a:xfrm>
            <a:off x="1576800" y="2286360"/>
            <a:ext cx="6349320" cy="45576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8" name="Rectangle 127"/>
          <p:cNvSpPr/>
          <p:nvPr/>
        </p:nvSpPr>
        <p:spPr>
          <a:xfrm>
            <a:off x="1576800" y="2971800"/>
            <a:ext cx="6349320" cy="45576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9" name="Rectangle 128"/>
          <p:cNvSpPr/>
          <p:nvPr/>
        </p:nvSpPr>
        <p:spPr>
          <a:xfrm>
            <a:off x="1576800" y="3657600"/>
            <a:ext cx="8178120" cy="45576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0" name="Rectangle 129"/>
          <p:cNvSpPr/>
          <p:nvPr/>
        </p:nvSpPr>
        <p:spPr>
          <a:xfrm>
            <a:off x="9516600" y="3692160"/>
            <a:ext cx="472320" cy="38520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Arial"/>
                <a:ea typeface="DejaVu Sans"/>
              </a:rPr>
              <a:t>45</a:t>
            </a:r>
            <a:endParaRPr lang="en-US" sz="10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Arial"/>
                <a:ea typeface="DejaVu Sans"/>
              </a:rPr>
              <a:t>2020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31" name="Rectangle 130"/>
          <p:cNvSpPr/>
          <p:nvPr/>
        </p:nvSpPr>
        <p:spPr>
          <a:xfrm>
            <a:off x="7684200" y="3007800"/>
            <a:ext cx="472320" cy="38520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Arial"/>
                <a:ea typeface="DejaVu Sans"/>
              </a:rPr>
              <a:t>35</a:t>
            </a:r>
            <a:endParaRPr lang="en-US" sz="10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Arial"/>
                <a:ea typeface="DejaVu Sans"/>
              </a:rPr>
              <a:t>2020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32" name="Rectangle 131"/>
          <p:cNvSpPr/>
          <p:nvPr/>
        </p:nvSpPr>
        <p:spPr>
          <a:xfrm>
            <a:off x="7684200" y="2322360"/>
            <a:ext cx="472320" cy="38520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Arial"/>
                <a:ea typeface="DejaVu Sans"/>
              </a:rPr>
              <a:t>35</a:t>
            </a:r>
            <a:endParaRPr lang="en-US" sz="10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Arial"/>
                <a:ea typeface="DejaVu Sans"/>
              </a:rPr>
              <a:t>2020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33" name="Rectangle 132"/>
          <p:cNvSpPr/>
          <p:nvPr/>
        </p:nvSpPr>
        <p:spPr>
          <a:xfrm>
            <a:off x="5855400" y="1635120"/>
            <a:ext cx="472320" cy="38520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Arial"/>
                <a:ea typeface="DejaVu Sans"/>
              </a:rPr>
              <a:t>25</a:t>
            </a:r>
            <a:endParaRPr lang="en-US" sz="10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Arial"/>
                <a:ea typeface="DejaVu Sans"/>
              </a:rPr>
              <a:t>2020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34" name="Rectangle 133"/>
          <p:cNvSpPr/>
          <p:nvPr/>
        </p:nvSpPr>
        <p:spPr>
          <a:xfrm>
            <a:off x="5855400" y="949320"/>
            <a:ext cx="472320" cy="38520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25</a:t>
            </a:r>
            <a:endParaRPr lang="en-US" sz="10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2020</a:t>
            </a:r>
            <a:endParaRPr lang="en-US" sz="1000" b="0" strike="noStrike" spc="-1" dirty="0">
              <a:latin typeface="Arial"/>
            </a:endParaRPr>
          </a:p>
        </p:txBody>
      </p:sp>
      <p:sp>
        <p:nvSpPr>
          <p:cNvPr id="135" name="Rectangle 134"/>
          <p:cNvSpPr/>
          <p:nvPr/>
        </p:nvSpPr>
        <p:spPr>
          <a:xfrm>
            <a:off x="7819200" y="3692160"/>
            <a:ext cx="462960" cy="38520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Arial"/>
                <a:ea typeface="DejaVu Sans"/>
              </a:rPr>
              <a:t>36</a:t>
            </a:r>
            <a:endParaRPr lang="en-US" sz="10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Arial"/>
                <a:ea typeface="DejaVu Sans"/>
              </a:rPr>
              <a:t>2011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37" name="Rectangle 136"/>
          <p:cNvSpPr/>
          <p:nvPr/>
        </p:nvSpPr>
        <p:spPr>
          <a:xfrm>
            <a:off x="3463200" y="3685320"/>
            <a:ext cx="472320" cy="38520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Arial"/>
                <a:ea typeface="DejaVu Sans"/>
              </a:rPr>
              <a:t>12</a:t>
            </a:r>
            <a:endParaRPr lang="en-US" sz="10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Arial"/>
                <a:ea typeface="DejaVu Sans"/>
              </a:rPr>
              <a:t>1987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38" name="Rectangle 137"/>
          <p:cNvSpPr/>
          <p:nvPr/>
        </p:nvSpPr>
        <p:spPr>
          <a:xfrm>
            <a:off x="6051600" y="3007800"/>
            <a:ext cx="462960" cy="38520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Arial"/>
                <a:ea typeface="DejaVu Sans"/>
              </a:rPr>
              <a:t>26</a:t>
            </a:r>
            <a:endParaRPr lang="en-US" sz="10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Arial"/>
                <a:ea typeface="DejaVu Sans"/>
              </a:rPr>
              <a:t>2011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39" name="Rectangle 138"/>
          <p:cNvSpPr/>
          <p:nvPr/>
        </p:nvSpPr>
        <p:spPr>
          <a:xfrm>
            <a:off x="6057360" y="2320920"/>
            <a:ext cx="462960" cy="38520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Arial"/>
                <a:ea typeface="DejaVu Sans"/>
              </a:rPr>
              <a:t>26</a:t>
            </a:r>
            <a:endParaRPr lang="en-US" sz="10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Arial"/>
                <a:ea typeface="DejaVu Sans"/>
              </a:rPr>
              <a:t>2011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4222800" y="949320"/>
            <a:ext cx="462960" cy="38520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16</a:t>
            </a:r>
            <a:endParaRPr lang="en-US" sz="10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2011</a:t>
            </a:r>
            <a:endParaRPr lang="en-US" sz="1000" b="0" strike="noStrike" spc="-1" dirty="0">
              <a:latin typeface="Arial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4215960" y="1636200"/>
            <a:ext cx="462960" cy="38520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Arial"/>
                <a:ea typeface="DejaVu Sans"/>
              </a:rPr>
              <a:t>16</a:t>
            </a:r>
            <a:endParaRPr lang="en-US" sz="10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Arial"/>
                <a:ea typeface="DejaVu Sans"/>
              </a:rPr>
              <a:t>2011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42" name="Rectangle 141"/>
          <p:cNvSpPr/>
          <p:nvPr/>
        </p:nvSpPr>
        <p:spPr>
          <a:xfrm>
            <a:off x="3128400" y="2320920"/>
            <a:ext cx="472320" cy="385200"/>
          </a:xfrm>
          <a:prstGeom prst="rect">
            <a:avLst/>
          </a:prstGeom>
          <a:solidFill>
            <a:srgbClr val="FFFFA6">
              <a:alpha val="53000"/>
            </a:srgbClr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Arial"/>
                <a:ea typeface="DejaVu Sans"/>
              </a:rPr>
              <a:t>10</a:t>
            </a:r>
            <a:endParaRPr lang="en-US" sz="10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Arial"/>
                <a:ea typeface="DejaVu Sans"/>
              </a:rPr>
              <a:t>1995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43" name="Rectangle 142"/>
          <p:cNvSpPr/>
          <p:nvPr/>
        </p:nvSpPr>
        <p:spPr>
          <a:xfrm>
            <a:off x="3112200" y="3007800"/>
            <a:ext cx="472320" cy="38520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Arial"/>
                <a:ea typeface="DejaVu Sans"/>
              </a:rPr>
              <a:t>10</a:t>
            </a:r>
            <a:endParaRPr lang="en-US" sz="10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Arial"/>
                <a:ea typeface="DejaVu Sans"/>
              </a:rPr>
              <a:t>1995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44" name="Rectangle 143"/>
          <p:cNvSpPr/>
          <p:nvPr/>
        </p:nvSpPr>
        <p:spPr>
          <a:xfrm rot="16180800">
            <a:off x="-392040" y="2382840"/>
            <a:ext cx="1404720" cy="37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  <a:ea typeface="DejaVu Sans"/>
              </a:rPr>
              <a:t>Treatment</a:t>
            </a:r>
            <a:endParaRPr lang="en-US" sz="2000" b="0" strike="noStrike" spc="-1">
              <a:latin typeface="Arial"/>
            </a:endParaRPr>
          </a:p>
        </p:txBody>
      </p:sp>
      <p:grpSp>
        <p:nvGrpSpPr>
          <p:cNvPr id="145" name="Group 144"/>
          <p:cNvGrpSpPr/>
          <p:nvPr/>
        </p:nvGrpSpPr>
        <p:grpSpPr>
          <a:xfrm>
            <a:off x="7664400" y="299520"/>
            <a:ext cx="2022840" cy="385200"/>
            <a:chOff x="7664400" y="299520"/>
            <a:chExt cx="2022840" cy="385200"/>
          </a:xfrm>
        </p:grpSpPr>
        <p:sp>
          <p:nvSpPr>
            <p:cNvPr id="146" name="Rectangle 145"/>
            <p:cNvSpPr/>
            <p:nvPr/>
          </p:nvSpPr>
          <p:spPr>
            <a:xfrm>
              <a:off x="7772400" y="339480"/>
              <a:ext cx="1827720" cy="34524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grpSp>
          <p:nvGrpSpPr>
            <p:cNvPr id="147" name="Group 146"/>
            <p:cNvGrpSpPr/>
            <p:nvPr/>
          </p:nvGrpSpPr>
          <p:grpSpPr>
            <a:xfrm>
              <a:off x="7664400" y="299520"/>
              <a:ext cx="2022840" cy="385200"/>
              <a:chOff x="7664400" y="299520"/>
              <a:chExt cx="2022840" cy="385200"/>
            </a:xfrm>
          </p:grpSpPr>
          <p:sp>
            <p:nvSpPr>
              <p:cNvPr id="148" name="Rectangle 147"/>
              <p:cNvSpPr/>
              <p:nvPr/>
            </p:nvSpPr>
            <p:spPr>
              <a:xfrm>
                <a:off x="7664400" y="299520"/>
                <a:ext cx="649080" cy="385200"/>
              </a:xfrm>
              <a:prstGeom prst="rect">
                <a:avLst/>
              </a:prstGeom>
              <a:solidFill>
                <a:srgbClr val="FFFFFF">
                  <a:alpha val="53000"/>
                </a:srgbClr>
              </a:solidFill>
              <a:ln w="0">
                <a:solidFill>
                  <a:srgbClr val="000000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en-US" sz="1000" b="0" strike="noStrike" spc="-1" dirty="0">
                    <a:solidFill>
                      <a:srgbClr val="000000"/>
                    </a:solidFill>
                    <a:latin typeface="Arial"/>
                    <a:ea typeface="DejaVu Sans"/>
                  </a:rPr>
                  <a:t> DF age</a:t>
                </a:r>
                <a:endParaRPr lang="en-US" sz="1000" b="0" strike="noStrike" spc="-1" dirty="0">
                  <a:latin typeface="Arial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lang="en-US" sz="1000" b="0" strike="noStrike" spc="-1" dirty="0">
                    <a:solidFill>
                      <a:srgbClr val="000000"/>
                    </a:solidFill>
                    <a:latin typeface="Arial"/>
                    <a:ea typeface="DejaVu Sans"/>
                  </a:rPr>
                  <a:t>year</a:t>
                </a:r>
                <a:endParaRPr lang="en-US" sz="1000" b="0" strike="noStrike" spc="-1" dirty="0">
                  <a:latin typeface="Arial"/>
                </a:endParaRPr>
              </a:p>
            </p:txBody>
          </p:sp>
          <p:sp>
            <p:nvSpPr>
              <p:cNvPr id="149" name="Rectangle 148"/>
              <p:cNvSpPr/>
              <p:nvPr/>
            </p:nvSpPr>
            <p:spPr>
              <a:xfrm>
                <a:off x="8282520" y="339480"/>
                <a:ext cx="1404720" cy="3452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4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Measurement</a:t>
                </a:r>
                <a:endParaRPr lang="en-US" sz="1400" b="0" strike="noStrike" spc="-1">
                  <a:latin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/>
          <p:cNvSpPr/>
          <p:nvPr/>
        </p:nvSpPr>
        <p:spPr>
          <a:xfrm>
            <a:off x="2290320" y="4682880"/>
            <a:ext cx="483120" cy="34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‘80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3132720" y="4682880"/>
            <a:ext cx="483120" cy="34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‘85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4047120" y="4682880"/>
            <a:ext cx="483120" cy="34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‘90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4961520" y="4682880"/>
            <a:ext cx="483120" cy="34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‘95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5715000" y="4682880"/>
            <a:ext cx="685440" cy="34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2000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790320" y="4682880"/>
            <a:ext cx="483120" cy="34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‘05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7698600" y="4682880"/>
            <a:ext cx="529920" cy="34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‘10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8619120" y="4682880"/>
            <a:ext cx="483120" cy="34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‘15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9533520" y="4682880"/>
            <a:ext cx="483120" cy="34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‘20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1405800" y="4682880"/>
            <a:ext cx="685440" cy="34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1975</a:t>
            </a:r>
            <a:endParaRPr lang="en-US" sz="1600" b="0" strike="noStrike" spc="-1" dirty="0">
              <a:latin typeface="Arial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4919400" y="5140080"/>
            <a:ext cx="794520" cy="34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Year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465120" y="2345400"/>
            <a:ext cx="1180800" cy="34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(A) RA 10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408600" y="3021480"/>
            <a:ext cx="1345320" cy="34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(B) CW 10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541800" y="3704400"/>
            <a:ext cx="1104120" cy="34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(C) DF 0</a:t>
            </a:r>
            <a:endParaRPr lang="en-US" sz="1800" b="0" strike="noStrike" spc="-1">
              <a:latin typeface="Ari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03CC21F-54E4-4A7E-A266-2D18D6D183B1}"/>
              </a:ext>
            </a:extLst>
          </p:cNvPr>
          <p:cNvGrpSpPr/>
          <p:nvPr/>
        </p:nvGrpSpPr>
        <p:grpSpPr>
          <a:xfrm>
            <a:off x="1576800" y="2090056"/>
            <a:ext cx="8178120" cy="2253703"/>
            <a:chOff x="1576800" y="914400"/>
            <a:chExt cx="8179560" cy="3429360"/>
          </a:xfrm>
        </p:grpSpPr>
        <p:sp>
          <p:nvSpPr>
            <p:cNvPr id="38" name="Straight Connector 37"/>
            <p:cNvSpPr/>
            <p:nvPr/>
          </p:nvSpPr>
          <p:spPr>
            <a:xfrm>
              <a:off x="5184000" y="914400"/>
              <a:ext cx="360" cy="342900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39" name="Straight Connector 38"/>
            <p:cNvSpPr/>
            <p:nvPr/>
          </p:nvSpPr>
          <p:spPr>
            <a:xfrm>
              <a:off x="4269600" y="914400"/>
              <a:ext cx="360" cy="342900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0" name="Straight Connector 39"/>
            <p:cNvSpPr/>
            <p:nvPr/>
          </p:nvSpPr>
          <p:spPr>
            <a:xfrm>
              <a:off x="3355200" y="914400"/>
              <a:ext cx="360" cy="342900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1" name="Straight Connector 40"/>
            <p:cNvSpPr/>
            <p:nvPr/>
          </p:nvSpPr>
          <p:spPr>
            <a:xfrm>
              <a:off x="2440800" y="914400"/>
              <a:ext cx="360" cy="342900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2" name="Straight Connector 41"/>
            <p:cNvSpPr/>
            <p:nvPr/>
          </p:nvSpPr>
          <p:spPr>
            <a:xfrm>
              <a:off x="6098760" y="959040"/>
              <a:ext cx="0" cy="338436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3" name="Straight Connector 42"/>
            <p:cNvSpPr/>
            <p:nvPr/>
          </p:nvSpPr>
          <p:spPr>
            <a:xfrm>
              <a:off x="7012800" y="914400"/>
              <a:ext cx="360" cy="342900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4" name="Straight Connector 43"/>
            <p:cNvSpPr/>
            <p:nvPr/>
          </p:nvSpPr>
          <p:spPr>
            <a:xfrm>
              <a:off x="7927200" y="914400"/>
              <a:ext cx="360" cy="342900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5" name="Straight Connector 44"/>
            <p:cNvSpPr/>
            <p:nvPr/>
          </p:nvSpPr>
          <p:spPr>
            <a:xfrm>
              <a:off x="8841600" y="914400"/>
              <a:ext cx="360" cy="342900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6" name="Straight Connector 45"/>
            <p:cNvSpPr/>
            <p:nvPr/>
          </p:nvSpPr>
          <p:spPr>
            <a:xfrm>
              <a:off x="9756000" y="914400"/>
              <a:ext cx="360" cy="342900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3" name="Straight Connector 62"/>
            <p:cNvSpPr/>
            <p:nvPr/>
          </p:nvSpPr>
          <p:spPr>
            <a:xfrm>
              <a:off x="1576800" y="914760"/>
              <a:ext cx="360" cy="342900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64" name="Rectangle 63"/>
          <p:cNvSpPr/>
          <p:nvPr/>
        </p:nvSpPr>
        <p:spPr>
          <a:xfrm>
            <a:off x="1576800" y="3657600"/>
            <a:ext cx="8178120" cy="45576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5" name="Rectangle 64"/>
          <p:cNvSpPr/>
          <p:nvPr/>
        </p:nvSpPr>
        <p:spPr>
          <a:xfrm>
            <a:off x="9516600" y="3692160"/>
            <a:ext cx="472320" cy="38520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Arial"/>
                <a:ea typeface="DejaVu Sans"/>
              </a:rPr>
              <a:t>45</a:t>
            </a:r>
            <a:endParaRPr lang="en-US" sz="10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Arial"/>
                <a:ea typeface="DejaVu Sans"/>
              </a:rPr>
              <a:t>2020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7855200" y="3692160"/>
            <a:ext cx="462960" cy="38520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36</a:t>
            </a:r>
            <a:endParaRPr lang="en-US" sz="10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2011</a:t>
            </a:r>
            <a:endParaRPr lang="en-US" sz="1000" b="0" strike="noStrike" spc="-1" dirty="0">
              <a:latin typeface="Arial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3463200" y="3685320"/>
            <a:ext cx="472320" cy="38520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Arial"/>
                <a:ea typeface="DejaVu Sans"/>
              </a:rPr>
              <a:t>12</a:t>
            </a:r>
            <a:endParaRPr lang="en-US" sz="10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Arial"/>
                <a:ea typeface="DejaVu Sans"/>
              </a:rPr>
              <a:t>1987</a:t>
            </a:r>
            <a:endParaRPr lang="en-US" sz="1000" b="0" strike="noStrike" spc="-1">
              <a:latin typeface="Arial"/>
            </a:endParaRPr>
          </a:p>
        </p:txBody>
      </p:sp>
      <p:grpSp>
        <p:nvGrpSpPr>
          <p:cNvPr id="69" name="Group 68"/>
          <p:cNvGrpSpPr/>
          <p:nvPr/>
        </p:nvGrpSpPr>
        <p:grpSpPr>
          <a:xfrm>
            <a:off x="1575000" y="2286360"/>
            <a:ext cx="1779120" cy="1141200"/>
            <a:chOff x="1575000" y="2286360"/>
            <a:chExt cx="1779120" cy="1141200"/>
          </a:xfrm>
        </p:grpSpPr>
        <p:sp>
          <p:nvSpPr>
            <p:cNvPr id="77" name="Rectangle 76"/>
            <p:cNvSpPr/>
            <p:nvPr/>
          </p:nvSpPr>
          <p:spPr>
            <a:xfrm>
              <a:off x="1576800" y="2286360"/>
              <a:ext cx="1777320" cy="455760"/>
            </a:xfrm>
            <a:prstGeom prst="rect">
              <a:avLst/>
            </a:prstGeom>
            <a:solidFill>
              <a:srgbClr val="FF3838"/>
            </a:solidFill>
            <a:ln w="0">
              <a:solidFill>
                <a:srgbClr val="C9211E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9" name="Rectangle 78"/>
            <p:cNvSpPr/>
            <p:nvPr/>
          </p:nvSpPr>
          <p:spPr>
            <a:xfrm>
              <a:off x="1575000" y="2971800"/>
              <a:ext cx="1779120" cy="455760"/>
            </a:xfrm>
            <a:prstGeom prst="rect">
              <a:avLst/>
            </a:prstGeom>
            <a:solidFill>
              <a:srgbClr val="3FAF46"/>
            </a:solidFill>
            <a:ln w="0">
              <a:solidFill>
                <a:srgbClr val="127622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80" name="Group 79"/>
          <p:cNvGrpSpPr/>
          <p:nvPr/>
        </p:nvGrpSpPr>
        <p:grpSpPr>
          <a:xfrm>
            <a:off x="3355200" y="2286360"/>
            <a:ext cx="6637320" cy="1141200"/>
            <a:chOff x="3355200" y="2286360"/>
            <a:chExt cx="6637320" cy="1141200"/>
          </a:xfrm>
        </p:grpSpPr>
        <p:sp>
          <p:nvSpPr>
            <p:cNvPr id="81" name="Rectangle 80"/>
            <p:cNvSpPr/>
            <p:nvPr/>
          </p:nvSpPr>
          <p:spPr>
            <a:xfrm>
              <a:off x="3355200" y="2286360"/>
              <a:ext cx="6406920" cy="45576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2" name="Rectangle 81"/>
            <p:cNvSpPr/>
            <p:nvPr/>
          </p:nvSpPr>
          <p:spPr>
            <a:xfrm>
              <a:off x="3355200" y="2971800"/>
              <a:ext cx="6406920" cy="45576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3" name="Rectangle 82"/>
            <p:cNvSpPr/>
            <p:nvPr/>
          </p:nvSpPr>
          <p:spPr>
            <a:xfrm>
              <a:off x="9520200" y="3007800"/>
              <a:ext cx="472320" cy="385200"/>
            </a:xfrm>
            <a:prstGeom prst="rect">
              <a:avLst/>
            </a:prstGeom>
            <a:solidFill>
              <a:srgbClr val="FFFFFF">
                <a:alpha val="53000"/>
              </a:srgbClr>
            </a:solidFill>
            <a:ln w="0">
              <a:solidFill>
                <a:srgbClr val="00000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0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35</a:t>
              </a:r>
              <a:endParaRPr lang="en-US" sz="1000" b="0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10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2020</a:t>
              </a:r>
              <a:endParaRPr lang="en-US" sz="1000" b="0" strike="noStrike" spc="-1">
                <a:latin typeface="Arial"/>
              </a:endParaRPr>
            </a:p>
          </p:txBody>
        </p:sp>
        <p:sp>
          <p:nvSpPr>
            <p:cNvPr id="84" name="Rectangle 83"/>
            <p:cNvSpPr/>
            <p:nvPr/>
          </p:nvSpPr>
          <p:spPr>
            <a:xfrm>
              <a:off x="9520200" y="2322360"/>
              <a:ext cx="472320" cy="385200"/>
            </a:xfrm>
            <a:prstGeom prst="rect">
              <a:avLst/>
            </a:prstGeom>
            <a:solidFill>
              <a:srgbClr val="FFFFFF">
                <a:alpha val="53000"/>
              </a:srgbClr>
            </a:solidFill>
            <a:ln w="0">
              <a:solidFill>
                <a:srgbClr val="00000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0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35</a:t>
              </a:r>
              <a:endParaRPr lang="en-US" sz="1000" b="0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10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2020</a:t>
              </a:r>
              <a:endParaRPr lang="en-US" sz="1000" b="0" strike="noStrike" spc="-1">
                <a:latin typeface="Arial"/>
              </a:endParaRPr>
            </a:p>
          </p:txBody>
        </p:sp>
        <p:sp>
          <p:nvSpPr>
            <p:cNvPr id="85" name="Rectangle 84"/>
            <p:cNvSpPr/>
            <p:nvPr/>
          </p:nvSpPr>
          <p:spPr>
            <a:xfrm>
              <a:off x="7851600" y="3007800"/>
              <a:ext cx="462960" cy="385200"/>
            </a:xfrm>
            <a:prstGeom prst="rect">
              <a:avLst/>
            </a:prstGeom>
            <a:solidFill>
              <a:srgbClr val="FFFFFF">
                <a:alpha val="53000"/>
              </a:srgbClr>
            </a:solidFill>
            <a:ln w="0">
              <a:solidFill>
                <a:srgbClr val="00000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0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26</a:t>
              </a:r>
              <a:endParaRPr lang="en-US" sz="1000" b="0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10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2011</a:t>
              </a:r>
              <a:endParaRPr lang="en-US" sz="1000" b="0" strike="noStrike" spc="-1">
                <a:latin typeface="Arial"/>
              </a:endParaRPr>
            </a:p>
          </p:txBody>
        </p:sp>
        <p:sp>
          <p:nvSpPr>
            <p:cNvPr id="86" name="Rectangle 85"/>
            <p:cNvSpPr/>
            <p:nvPr/>
          </p:nvSpPr>
          <p:spPr>
            <a:xfrm>
              <a:off x="7857360" y="2320920"/>
              <a:ext cx="462960" cy="385200"/>
            </a:xfrm>
            <a:prstGeom prst="rect">
              <a:avLst/>
            </a:prstGeom>
            <a:solidFill>
              <a:srgbClr val="FFFFFF">
                <a:alpha val="53000"/>
              </a:srgbClr>
            </a:solidFill>
            <a:ln w="0">
              <a:solidFill>
                <a:srgbClr val="00000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0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26</a:t>
              </a:r>
              <a:endParaRPr lang="en-US" sz="1000" b="0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10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2011</a:t>
              </a:r>
              <a:endParaRPr lang="en-US" sz="1000" b="0" strike="noStrike" spc="-1">
                <a:latin typeface="Arial"/>
              </a:endParaRPr>
            </a:p>
          </p:txBody>
        </p:sp>
        <p:sp>
          <p:nvSpPr>
            <p:cNvPr id="87" name="Rectangle 86"/>
            <p:cNvSpPr/>
            <p:nvPr/>
          </p:nvSpPr>
          <p:spPr>
            <a:xfrm>
              <a:off x="4964400" y="2320920"/>
              <a:ext cx="472320" cy="385200"/>
            </a:xfrm>
            <a:prstGeom prst="rect">
              <a:avLst/>
            </a:prstGeom>
            <a:solidFill>
              <a:srgbClr val="FFFFA6">
                <a:alpha val="53000"/>
              </a:srgbClr>
            </a:solidFill>
            <a:ln w="0">
              <a:solidFill>
                <a:srgbClr val="00000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000" b="0" strike="noStrike" spc="-1" dirty="0">
                  <a:solidFill>
                    <a:srgbClr val="000000"/>
                  </a:solidFill>
                  <a:latin typeface="Arial"/>
                  <a:ea typeface="DejaVu Sans"/>
                </a:rPr>
                <a:t>10</a:t>
              </a:r>
              <a:endParaRPr lang="en-US" sz="1000" b="0" strike="noStrike" spc="-1" dirty="0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1000" b="0" strike="noStrike" spc="-1" dirty="0">
                  <a:solidFill>
                    <a:srgbClr val="000000"/>
                  </a:solidFill>
                  <a:latin typeface="Arial"/>
                  <a:ea typeface="DejaVu Sans"/>
                </a:rPr>
                <a:t>1995</a:t>
              </a:r>
              <a:endParaRPr lang="en-US" sz="1000" b="0" strike="noStrike" spc="-1" dirty="0">
                <a:latin typeface="Arial"/>
              </a:endParaRPr>
            </a:p>
          </p:txBody>
        </p:sp>
        <p:sp>
          <p:nvSpPr>
            <p:cNvPr id="88" name="Rectangle 87"/>
            <p:cNvSpPr/>
            <p:nvPr/>
          </p:nvSpPr>
          <p:spPr>
            <a:xfrm>
              <a:off x="4948200" y="3007800"/>
              <a:ext cx="472320" cy="385200"/>
            </a:xfrm>
            <a:prstGeom prst="rect">
              <a:avLst/>
            </a:prstGeom>
            <a:solidFill>
              <a:srgbClr val="FFFFFF">
                <a:alpha val="53000"/>
              </a:srgbClr>
            </a:solidFill>
            <a:ln w="0">
              <a:solidFill>
                <a:srgbClr val="00000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0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10</a:t>
              </a:r>
              <a:endParaRPr lang="en-US" sz="1000" b="0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10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1995</a:t>
              </a:r>
              <a:endParaRPr lang="en-US" sz="1000" b="0" strike="noStrike" spc="-1">
                <a:latin typeface="Arial"/>
              </a:endParaRPr>
            </a:p>
          </p:txBody>
        </p:sp>
      </p:grpSp>
      <p:sp>
        <p:nvSpPr>
          <p:cNvPr id="89" name="Rectangle 88"/>
          <p:cNvSpPr/>
          <p:nvPr/>
        </p:nvSpPr>
        <p:spPr>
          <a:xfrm rot="16180800">
            <a:off x="-459651" y="3068526"/>
            <a:ext cx="1404720" cy="37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Treatment</a:t>
            </a:r>
            <a:endParaRPr lang="en-US" sz="2000" b="0" strike="noStrike" spc="-1" dirty="0">
              <a:latin typeface="Arial"/>
            </a:endParaRPr>
          </a:p>
        </p:txBody>
      </p:sp>
      <p:grpSp>
        <p:nvGrpSpPr>
          <p:cNvPr id="90" name="Group 89"/>
          <p:cNvGrpSpPr/>
          <p:nvPr/>
        </p:nvGrpSpPr>
        <p:grpSpPr>
          <a:xfrm>
            <a:off x="432928" y="5032666"/>
            <a:ext cx="2007720" cy="385200"/>
            <a:chOff x="7592400" y="228600"/>
            <a:chExt cx="2007720" cy="385200"/>
          </a:xfrm>
        </p:grpSpPr>
        <p:sp>
          <p:nvSpPr>
            <p:cNvPr id="91" name="Rectangle 90"/>
            <p:cNvSpPr/>
            <p:nvPr/>
          </p:nvSpPr>
          <p:spPr>
            <a:xfrm>
              <a:off x="7772400" y="268560"/>
              <a:ext cx="1827720" cy="34524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grpSp>
          <p:nvGrpSpPr>
            <p:cNvPr id="92" name="Group 91"/>
            <p:cNvGrpSpPr/>
            <p:nvPr/>
          </p:nvGrpSpPr>
          <p:grpSpPr>
            <a:xfrm>
              <a:off x="7592400" y="228600"/>
              <a:ext cx="1986840" cy="385200"/>
              <a:chOff x="7592400" y="228600"/>
              <a:chExt cx="1986840" cy="385200"/>
            </a:xfrm>
          </p:grpSpPr>
          <p:sp>
            <p:nvSpPr>
              <p:cNvPr id="93" name="Rectangle 92"/>
              <p:cNvSpPr/>
              <p:nvPr/>
            </p:nvSpPr>
            <p:spPr>
              <a:xfrm>
                <a:off x="7592400" y="228600"/>
                <a:ext cx="612360" cy="385200"/>
              </a:xfrm>
              <a:prstGeom prst="rect">
                <a:avLst/>
              </a:prstGeom>
              <a:solidFill>
                <a:srgbClr val="FFFFFF">
                  <a:alpha val="53000"/>
                </a:srgbClr>
              </a:solidFill>
              <a:ln w="0">
                <a:solidFill>
                  <a:srgbClr val="000000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en-US" sz="1000" b="0" strike="noStrike" spc="-1" dirty="0">
                    <a:solidFill>
                      <a:srgbClr val="000000"/>
                    </a:solidFill>
                    <a:latin typeface="Arial"/>
                    <a:ea typeface="DejaVu Sans"/>
                  </a:rPr>
                  <a:t>DF age</a:t>
                </a:r>
                <a:endParaRPr lang="en-US" sz="1000" b="0" strike="noStrike" spc="-1" dirty="0">
                  <a:latin typeface="Arial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lang="en-US" sz="1000" b="0" strike="noStrike" spc="-1" dirty="0">
                    <a:solidFill>
                      <a:srgbClr val="000000"/>
                    </a:solidFill>
                    <a:latin typeface="Arial"/>
                    <a:ea typeface="DejaVu Sans"/>
                  </a:rPr>
                  <a:t>year</a:t>
                </a:r>
                <a:endParaRPr lang="en-US" sz="1000" b="0" strike="noStrike" spc="-1" dirty="0">
                  <a:latin typeface="Arial"/>
                </a:endParaRPr>
              </a:p>
            </p:txBody>
          </p:sp>
          <p:sp>
            <p:nvSpPr>
              <p:cNvPr id="94" name="Rectangle 93"/>
              <p:cNvSpPr/>
              <p:nvPr/>
            </p:nvSpPr>
            <p:spPr>
              <a:xfrm>
                <a:off x="8174520" y="268560"/>
                <a:ext cx="1404720" cy="3452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4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Measurement</a:t>
                </a:r>
                <a:endParaRPr lang="en-US" sz="1400" b="0" strike="noStrike" spc="-1">
                  <a:latin typeface="Arial"/>
                </a:endParaRPr>
              </a:p>
            </p:txBody>
          </p:sp>
        </p:grpSp>
      </p:grpSp>
      <p:sp>
        <p:nvSpPr>
          <p:cNvPr id="95" name="Rectangle 94"/>
          <p:cNvSpPr/>
          <p:nvPr/>
        </p:nvSpPr>
        <p:spPr>
          <a:xfrm>
            <a:off x="3429000" y="1937656"/>
            <a:ext cx="5029200" cy="2634343"/>
          </a:xfrm>
          <a:prstGeom prst="rect">
            <a:avLst/>
          </a:prstGeom>
          <a:noFill/>
          <a:ln w="126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6" name="Rectangle 95"/>
          <p:cNvSpPr/>
          <p:nvPr/>
        </p:nvSpPr>
        <p:spPr>
          <a:xfrm>
            <a:off x="7772400" y="1865750"/>
            <a:ext cx="2286000" cy="2670250"/>
          </a:xfrm>
          <a:prstGeom prst="rect">
            <a:avLst/>
          </a:prstGeom>
          <a:noFill/>
          <a:ln w="12600">
            <a:solidFill>
              <a:schemeClr val="tx2">
                <a:lumMod val="40000"/>
                <a:lumOff val="60000"/>
              </a:scheme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7" name="TextBox 96"/>
          <p:cNvSpPr txBox="1"/>
          <p:nvPr/>
        </p:nvSpPr>
        <p:spPr>
          <a:xfrm>
            <a:off x="4114800" y="1552793"/>
            <a:ext cx="2286000" cy="489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14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Transcribed datasheets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8330760" y="1542713"/>
            <a:ext cx="1276200" cy="489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Spreadsheet</a:t>
            </a:r>
            <a:endParaRPr lang="en-US" sz="14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96585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Rectangle 107"/>
          <p:cNvSpPr/>
          <p:nvPr/>
        </p:nvSpPr>
        <p:spPr>
          <a:xfrm>
            <a:off x="2290320" y="4682880"/>
            <a:ext cx="306000" cy="34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5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109" name="Rectangle 108"/>
          <p:cNvSpPr/>
          <p:nvPr/>
        </p:nvSpPr>
        <p:spPr>
          <a:xfrm>
            <a:off x="3132720" y="4682880"/>
            <a:ext cx="432720" cy="34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10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110" name="Rectangle 109"/>
          <p:cNvSpPr/>
          <p:nvPr/>
        </p:nvSpPr>
        <p:spPr>
          <a:xfrm>
            <a:off x="4047120" y="4682880"/>
            <a:ext cx="432720" cy="34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15</a:t>
            </a:r>
            <a:endParaRPr lang="en-US" sz="1600" b="0" strike="noStrike" spc="-1" dirty="0">
              <a:latin typeface="Arial"/>
            </a:endParaRPr>
          </a:p>
        </p:txBody>
      </p:sp>
      <p:sp>
        <p:nvSpPr>
          <p:cNvPr id="111" name="Rectangle 110"/>
          <p:cNvSpPr/>
          <p:nvPr/>
        </p:nvSpPr>
        <p:spPr>
          <a:xfrm>
            <a:off x="4961520" y="4682880"/>
            <a:ext cx="432720" cy="34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20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112" name="Rectangle 111"/>
          <p:cNvSpPr/>
          <p:nvPr/>
        </p:nvSpPr>
        <p:spPr>
          <a:xfrm>
            <a:off x="5875920" y="4682880"/>
            <a:ext cx="432720" cy="34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25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113" name="Rectangle 112"/>
          <p:cNvSpPr/>
          <p:nvPr/>
        </p:nvSpPr>
        <p:spPr>
          <a:xfrm>
            <a:off x="6790320" y="4682880"/>
            <a:ext cx="432720" cy="34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30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114" name="Rectangle 113"/>
          <p:cNvSpPr/>
          <p:nvPr/>
        </p:nvSpPr>
        <p:spPr>
          <a:xfrm>
            <a:off x="7698600" y="4682880"/>
            <a:ext cx="456120" cy="34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35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8619120" y="4682880"/>
            <a:ext cx="432720" cy="34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40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116" name="Rectangle 115"/>
          <p:cNvSpPr/>
          <p:nvPr/>
        </p:nvSpPr>
        <p:spPr>
          <a:xfrm>
            <a:off x="9533520" y="4682880"/>
            <a:ext cx="432720" cy="34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45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117" name="Rectangle 116"/>
          <p:cNvSpPr/>
          <p:nvPr/>
        </p:nvSpPr>
        <p:spPr>
          <a:xfrm>
            <a:off x="1405800" y="4682880"/>
            <a:ext cx="306000" cy="34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0</a:t>
            </a:r>
            <a:endParaRPr lang="en-US" sz="1600" b="0" strike="noStrike" spc="-1" dirty="0">
              <a:latin typeface="Arial"/>
            </a:endParaRPr>
          </a:p>
        </p:txBody>
      </p:sp>
      <p:sp>
        <p:nvSpPr>
          <p:cNvPr id="118" name="Rectangle 117"/>
          <p:cNvSpPr/>
          <p:nvPr/>
        </p:nvSpPr>
        <p:spPr>
          <a:xfrm>
            <a:off x="4233600" y="5140080"/>
            <a:ext cx="3235320" cy="34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Douglas Fir Stand Age (years)</a:t>
            </a:r>
            <a:endParaRPr lang="en-US" sz="1600" b="0" strike="noStrike" spc="-1" dirty="0">
              <a:latin typeface="Arial"/>
            </a:endParaRPr>
          </a:p>
        </p:txBody>
      </p:sp>
      <p:sp>
        <p:nvSpPr>
          <p:cNvPr id="121" name="Rectangle 120"/>
          <p:cNvSpPr/>
          <p:nvPr/>
        </p:nvSpPr>
        <p:spPr>
          <a:xfrm>
            <a:off x="658800" y="2345400"/>
            <a:ext cx="1023120" cy="34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RA 10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22" name="Rectangle 121"/>
          <p:cNvSpPr/>
          <p:nvPr/>
        </p:nvSpPr>
        <p:spPr>
          <a:xfrm>
            <a:off x="550800" y="3021480"/>
            <a:ext cx="1023120" cy="34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CW 10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23" name="Rectangle 122"/>
          <p:cNvSpPr/>
          <p:nvPr/>
        </p:nvSpPr>
        <p:spPr>
          <a:xfrm>
            <a:off x="766800" y="3704400"/>
            <a:ext cx="1023120" cy="34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DF 0</a:t>
            </a:r>
            <a:endParaRPr lang="en-US" sz="1800" b="0" strike="noStrike" spc="-1">
              <a:latin typeface="Ari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6D097F8-103B-4D7D-BFB6-10BC7A6E46E0}"/>
              </a:ext>
            </a:extLst>
          </p:cNvPr>
          <p:cNvGrpSpPr/>
          <p:nvPr/>
        </p:nvGrpSpPr>
        <p:grpSpPr>
          <a:xfrm>
            <a:off x="1576800" y="2039256"/>
            <a:ext cx="8179560" cy="2304503"/>
            <a:chOff x="1576800" y="914400"/>
            <a:chExt cx="8179560" cy="3429360"/>
          </a:xfrm>
        </p:grpSpPr>
        <p:sp>
          <p:nvSpPr>
            <p:cNvPr id="99" name="Straight Connector 98"/>
            <p:cNvSpPr/>
            <p:nvPr/>
          </p:nvSpPr>
          <p:spPr>
            <a:xfrm>
              <a:off x="5184000" y="914400"/>
              <a:ext cx="360" cy="342900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0" name="Straight Connector 99"/>
            <p:cNvSpPr/>
            <p:nvPr/>
          </p:nvSpPr>
          <p:spPr>
            <a:xfrm>
              <a:off x="4269600" y="914400"/>
              <a:ext cx="360" cy="342900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1" name="Straight Connector 100"/>
            <p:cNvSpPr/>
            <p:nvPr/>
          </p:nvSpPr>
          <p:spPr>
            <a:xfrm>
              <a:off x="3355200" y="914400"/>
              <a:ext cx="360" cy="342900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2" name="Straight Connector 101"/>
            <p:cNvSpPr/>
            <p:nvPr/>
          </p:nvSpPr>
          <p:spPr>
            <a:xfrm>
              <a:off x="2440800" y="914400"/>
              <a:ext cx="360" cy="342900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3" name="Straight Connector 102"/>
            <p:cNvSpPr/>
            <p:nvPr/>
          </p:nvSpPr>
          <p:spPr>
            <a:xfrm>
              <a:off x="6098400" y="914400"/>
              <a:ext cx="360" cy="342900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4" name="Straight Connector 103"/>
            <p:cNvSpPr/>
            <p:nvPr/>
          </p:nvSpPr>
          <p:spPr>
            <a:xfrm>
              <a:off x="7012800" y="914400"/>
              <a:ext cx="360" cy="342900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5" name="Straight Connector 104"/>
            <p:cNvSpPr/>
            <p:nvPr/>
          </p:nvSpPr>
          <p:spPr>
            <a:xfrm>
              <a:off x="7927200" y="914400"/>
              <a:ext cx="360" cy="342900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6" name="Straight Connector 105"/>
            <p:cNvSpPr/>
            <p:nvPr/>
          </p:nvSpPr>
          <p:spPr>
            <a:xfrm>
              <a:off x="8841600" y="914400"/>
              <a:ext cx="360" cy="342900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7" name="Straight Connector 106"/>
            <p:cNvSpPr/>
            <p:nvPr/>
          </p:nvSpPr>
          <p:spPr>
            <a:xfrm>
              <a:off x="9756000" y="914400"/>
              <a:ext cx="360" cy="342900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4" name="Straight Connector 123"/>
            <p:cNvSpPr/>
            <p:nvPr/>
          </p:nvSpPr>
          <p:spPr>
            <a:xfrm>
              <a:off x="1576800" y="914760"/>
              <a:ext cx="360" cy="342900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127" name="Rectangle 126"/>
          <p:cNvSpPr/>
          <p:nvPr/>
        </p:nvSpPr>
        <p:spPr>
          <a:xfrm>
            <a:off x="1576800" y="2286360"/>
            <a:ext cx="6349320" cy="45576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8" name="Rectangle 127"/>
          <p:cNvSpPr/>
          <p:nvPr/>
        </p:nvSpPr>
        <p:spPr>
          <a:xfrm>
            <a:off x="1576800" y="2971800"/>
            <a:ext cx="6349320" cy="45576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9" name="Rectangle 128"/>
          <p:cNvSpPr/>
          <p:nvPr/>
        </p:nvSpPr>
        <p:spPr>
          <a:xfrm>
            <a:off x="1576800" y="3657600"/>
            <a:ext cx="8178120" cy="45576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0" name="Rectangle 129"/>
          <p:cNvSpPr/>
          <p:nvPr/>
        </p:nvSpPr>
        <p:spPr>
          <a:xfrm>
            <a:off x="9516600" y="3692160"/>
            <a:ext cx="472320" cy="38520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Arial"/>
                <a:ea typeface="DejaVu Sans"/>
              </a:rPr>
              <a:t>45</a:t>
            </a:r>
            <a:endParaRPr lang="en-US" sz="10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Arial"/>
                <a:ea typeface="DejaVu Sans"/>
              </a:rPr>
              <a:t>2020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31" name="Rectangle 130"/>
          <p:cNvSpPr/>
          <p:nvPr/>
        </p:nvSpPr>
        <p:spPr>
          <a:xfrm>
            <a:off x="7684200" y="3007800"/>
            <a:ext cx="472320" cy="38520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Arial"/>
                <a:ea typeface="DejaVu Sans"/>
              </a:rPr>
              <a:t>35</a:t>
            </a:r>
            <a:endParaRPr lang="en-US" sz="10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Arial"/>
                <a:ea typeface="DejaVu Sans"/>
              </a:rPr>
              <a:t>2020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32" name="Rectangle 131"/>
          <p:cNvSpPr/>
          <p:nvPr/>
        </p:nvSpPr>
        <p:spPr>
          <a:xfrm>
            <a:off x="7684200" y="2322360"/>
            <a:ext cx="472320" cy="38520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Arial"/>
                <a:ea typeface="DejaVu Sans"/>
              </a:rPr>
              <a:t>35</a:t>
            </a:r>
            <a:endParaRPr lang="en-US" sz="10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Arial"/>
                <a:ea typeface="DejaVu Sans"/>
              </a:rPr>
              <a:t>2020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35" name="Rectangle 134"/>
          <p:cNvSpPr/>
          <p:nvPr/>
        </p:nvSpPr>
        <p:spPr>
          <a:xfrm>
            <a:off x="7819200" y="3692160"/>
            <a:ext cx="462960" cy="38520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Arial"/>
                <a:ea typeface="DejaVu Sans"/>
              </a:rPr>
              <a:t>36</a:t>
            </a:r>
            <a:endParaRPr lang="en-US" sz="10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Arial"/>
                <a:ea typeface="DejaVu Sans"/>
              </a:rPr>
              <a:t>2011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37" name="Rectangle 136"/>
          <p:cNvSpPr/>
          <p:nvPr/>
        </p:nvSpPr>
        <p:spPr>
          <a:xfrm>
            <a:off x="3463200" y="3685320"/>
            <a:ext cx="472320" cy="38520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Arial"/>
                <a:ea typeface="DejaVu Sans"/>
              </a:rPr>
              <a:t>12</a:t>
            </a:r>
            <a:endParaRPr lang="en-US" sz="10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Arial"/>
                <a:ea typeface="DejaVu Sans"/>
              </a:rPr>
              <a:t>1987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38" name="Rectangle 137"/>
          <p:cNvSpPr/>
          <p:nvPr/>
        </p:nvSpPr>
        <p:spPr>
          <a:xfrm>
            <a:off x="6051600" y="3007800"/>
            <a:ext cx="462960" cy="38520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Arial"/>
                <a:ea typeface="DejaVu Sans"/>
              </a:rPr>
              <a:t>26</a:t>
            </a:r>
            <a:endParaRPr lang="en-US" sz="10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Arial"/>
                <a:ea typeface="DejaVu Sans"/>
              </a:rPr>
              <a:t>2011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39" name="Rectangle 138"/>
          <p:cNvSpPr/>
          <p:nvPr/>
        </p:nvSpPr>
        <p:spPr>
          <a:xfrm>
            <a:off x="6057360" y="2320920"/>
            <a:ext cx="462960" cy="38520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Arial"/>
                <a:ea typeface="DejaVu Sans"/>
              </a:rPr>
              <a:t>26</a:t>
            </a:r>
            <a:endParaRPr lang="en-US" sz="10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Arial"/>
                <a:ea typeface="DejaVu Sans"/>
              </a:rPr>
              <a:t>2011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42" name="Rectangle 141"/>
          <p:cNvSpPr/>
          <p:nvPr/>
        </p:nvSpPr>
        <p:spPr>
          <a:xfrm>
            <a:off x="3128400" y="2320920"/>
            <a:ext cx="472320" cy="385200"/>
          </a:xfrm>
          <a:prstGeom prst="rect">
            <a:avLst/>
          </a:prstGeom>
          <a:solidFill>
            <a:srgbClr val="FFFFA6">
              <a:alpha val="53000"/>
            </a:srgbClr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Arial"/>
                <a:ea typeface="DejaVu Sans"/>
              </a:rPr>
              <a:t>10</a:t>
            </a:r>
            <a:endParaRPr lang="en-US" sz="10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Arial"/>
                <a:ea typeface="DejaVu Sans"/>
              </a:rPr>
              <a:t>1995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43" name="Rectangle 142"/>
          <p:cNvSpPr/>
          <p:nvPr/>
        </p:nvSpPr>
        <p:spPr>
          <a:xfrm>
            <a:off x="3112200" y="3007800"/>
            <a:ext cx="472320" cy="38520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Arial"/>
                <a:ea typeface="DejaVu Sans"/>
              </a:rPr>
              <a:t>10</a:t>
            </a:r>
            <a:endParaRPr lang="en-US" sz="10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Arial"/>
                <a:ea typeface="DejaVu Sans"/>
              </a:rPr>
              <a:t>1995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44" name="Rectangle 143"/>
          <p:cNvSpPr/>
          <p:nvPr/>
        </p:nvSpPr>
        <p:spPr>
          <a:xfrm rot="16180800">
            <a:off x="-362928" y="3013379"/>
            <a:ext cx="1404720" cy="37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  <a:ea typeface="DejaVu Sans"/>
              </a:rPr>
              <a:t>Treatment</a:t>
            </a:r>
            <a:endParaRPr lang="en-US" sz="2000" b="0" strike="noStrike" spc="-1">
              <a:latin typeface="Arial"/>
            </a:endParaRPr>
          </a:p>
        </p:txBody>
      </p:sp>
      <p:grpSp>
        <p:nvGrpSpPr>
          <p:cNvPr id="145" name="Group 144"/>
          <p:cNvGrpSpPr/>
          <p:nvPr/>
        </p:nvGrpSpPr>
        <p:grpSpPr>
          <a:xfrm>
            <a:off x="394380" y="5011920"/>
            <a:ext cx="2022840" cy="385200"/>
            <a:chOff x="7664400" y="299520"/>
            <a:chExt cx="2022840" cy="385200"/>
          </a:xfrm>
        </p:grpSpPr>
        <p:sp>
          <p:nvSpPr>
            <p:cNvPr id="146" name="Rectangle 145"/>
            <p:cNvSpPr/>
            <p:nvPr/>
          </p:nvSpPr>
          <p:spPr>
            <a:xfrm>
              <a:off x="7772400" y="339480"/>
              <a:ext cx="1827720" cy="34524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grpSp>
          <p:nvGrpSpPr>
            <p:cNvPr id="147" name="Group 146"/>
            <p:cNvGrpSpPr/>
            <p:nvPr/>
          </p:nvGrpSpPr>
          <p:grpSpPr>
            <a:xfrm>
              <a:off x="7664400" y="299520"/>
              <a:ext cx="2022840" cy="385200"/>
              <a:chOff x="7664400" y="299520"/>
              <a:chExt cx="2022840" cy="385200"/>
            </a:xfrm>
          </p:grpSpPr>
          <p:sp>
            <p:nvSpPr>
              <p:cNvPr id="148" name="Rectangle 147"/>
              <p:cNvSpPr/>
              <p:nvPr/>
            </p:nvSpPr>
            <p:spPr>
              <a:xfrm>
                <a:off x="7664400" y="299520"/>
                <a:ext cx="649080" cy="385200"/>
              </a:xfrm>
              <a:prstGeom prst="rect">
                <a:avLst/>
              </a:prstGeom>
              <a:solidFill>
                <a:srgbClr val="FFFFFF">
                  <a:alpha val="53000"/>
                </a:srgbClr>
              </a:solidFill>
              <a:ln w="0">
                <a:solidFill>
                  <a:srgbClr val="000000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en-US" sz="1000" b="0" strike="noStrike" spc="-1" dirty="0">
                    <a:solidFill>
                      <a:srgbClr val="000000"/>
                    </a:solidFill>
                    <a:latin typeface="Arial"/>
                    <a:ea typeface="DejaVu Sans"/>
                  </a:rPr>
                  <a:t> DF age</a:t>
                </a:r>
                <a:endParaRPr lang="en-US" sz="1000" b="0" strike="noStrike" spc="-1" dirty="0">
                  <a:latin typeface="Arial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lang="en-US" sz="1000" b="0" strike="noStrike" spc="-1" dirty="0">
                    <a:solidFill>
                      <a:srgbClr val="000000"/>
                    </a:solidFill>
                    <a:latin typeface="Arial"/>
                    <a:ea typeface="DejaVu Sans"/>
                  </a:rPr>
                  <a:t>year</a:t>
                </a:r>
                <a:endParaRPr lang="en-US" sz="1000" b="0" strike="noStrike" spc="-1" dirty="0">
                  <a:latin typeface="Arial"/>
                </a:endParaRPr>
              </a:p>
            </p:txBody>
          </p:sp>
          <p:sp>
            <p:nvSpPr>
              <p:cNvPr id="149" name="Rectangle 148"/>
              <p:cNvSpPr/>
              <p:nvPr/>
            </p:nvSpPr>
            <p:spPr>
              <a:xfrm>
                <a:off x="8282520" y="339480"/>
                <a:ext cx="1404720" cy="3452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4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Measurement</a:t>
                </a:r>
                <a:endParaRPr lang="en-US" sz="1400" b="0" strike="noStrike" spc="-1">
                  <a:latin typeface="Arial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605623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3147</TotalTime>
  <Words>244</Words>
  <Application>Microsoft Office PowerPoint</Application>
  <PresentationFormat>Custom</PresentationFormat>
  <Paragraphs>168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DejaVu Sans</vt:lpstr>
      <vt:lpstr>Symbol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dc:description/>
  <cp:lastModifiedBy>showalt_d</cp:lastModifiedBy>
  <cp:revision>15</cp:revision>
  <dcterms:created xsi:type="dcterms:W3CDTF">2021-11-18T12:11:15Z</dcterms:created>
  <dcterms:modified xsi:type="dcterms:W3CDTF">2022-02-08T20:59:12Z</dcterms:modified>
  <dc:language>en-US</dc:language>
</cp:coreProperties>
</file>