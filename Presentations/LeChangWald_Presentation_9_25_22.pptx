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17.jpeg" ContentType="image/jpe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  <Override PartName="/ppt/media/image37.png" ContentType="image/png"/>
  <Override PartName="/ppt/media/image38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x="9144000" cy="51435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50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51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3630" spc="-1" strike="noStrike">
                <a:latin typeface="Arial"/>
              </a:rPr>
              <a:t>Click to edit the title text format</a:t>
            </a:r>
            <a:endParaRPr b="0" lang="en-US" sz="3630" spc="-1" strike="noStrike"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2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900" spc="-1" strike="noStrike">
                <a:latin typeface="Arial"/>
              </a:rPr>
              <a:t>Click to edit the outline text format</a:t>
            </a:r>
            <a:endParaRPr b="0" lang="en-US" sz="2900" spc="-1" strike="noStrike">
              <a:latin typeface="Arial"/>
            </a:endParaRPr>
          </a:p>
          <a:p>
            <a:pPr lvl="1" marL="864000" indent="-324000">
              <a:spcBef>
                <a:spcPts val="1026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540" spc="-1" strike="noStrike">
                <a:latin typeface="Arial"/>
              </a:rPr>
              <a:t>Second Outline Level</a:t>
            </a:r>
            <a:endParaRPr b="0" lang="en-US" sz="2540" spc="-1" strike="noStrike">
              <a:latin typeface="Arial"/>
            </a:endParaRPr>
          </a:p>
          <a:p>
            <a:pPr lvl="2" marL="1296000" indent="-288000">
              <a:spcBef>
                <a:spcPts val="7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80" spc="-1" strike="noStrike">
                <a:latin typeface="Arial"/>
              </a:rPr>
              <a:t>Third Outline Level</a:t>
            </a:r>
            <a:endParaRPr b="0" lang="en-US" sz="2180" spc="-1" strike="noStrike">
              <a:latin typeface="Arial"/>
            </a:endParaRPr>
          </a:p>
          <a:p>
            <a:pPr lvl="3" marL="1728000" indent="-216000">
              <a:spcBef>
                <a:spcPts val="51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10" spc="-1" strike="noStrike">
                <a:latin typeface="Arial"/>
              </a:rPr>
              <a:t>Fourth Outline Level</a:t>
            </a:r>
            <a:endParaRPr b="0" lang="en-US" sz="1810" spc="-1" strike="noStrike">
              <a:latin typeface="Arial"/>
            </a:endParaRPr>
          </a:p>
          <a:p>
            <a:pPr lvl="4" marL="2160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Fifth Outline Level</a:t>
            </a:r>
            <a:endParaRPr b="0" lang="en-US" sz="1810" spc="-1" strike="noStrike">
              <a:latin typeface="Arial"/>
            </a:endParaRPr>
          </a:p>
          <a:p>
            <a:pPr lvl="5" marL="2592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Sixth Outline Level</a:t>
            </a:r>
            <a:endParaRPr b="0" lang="en-US" sz="1810" spc="-1" strike="noStrike">
              <a:latin typeface="Arial"/>
            </a:endParaRPr>
          </a:p>
          <a:p>
            <a:pPr lvl="6" marL="3024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Seventh Outline Level</a:t>
            </a:r>
            <a:endParaRPr b="0" lang="en-US" sz="181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3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3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3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" descr=""/>
          <p:cNvPicPr/>
          <p:nvPr/>
        </p:nvPicPr>
        <p:blipFill>
          <a:blip r:embed="rId1"/>
          <a:stretch/>
        </p:blipFill>
        <p:spPr>
          <a:xfrm>
            <a:off x="0" y="360"/>
            <a:ext cx="4633200" cy="5143320"/>
          </a:xfrm>
          <a:prstGeom prst="rect">
            <a:avLst/>
          </a:prstGeom>
          <a:ln w="0">
            <a:noFill/>
          </a:ln>
        </p:spPr>
      </p:pic>
      <p:sp>
        <p:nvSpPr>
          <p:cNvPr id="153" name="Google Shape;54;p13"/>
          <p:cNvSpPr/>
          <p:nvPr/>
        </p:nvSpPr>
        <p:spPr>
          <a:xfrm>
            <a:off x="4633200" y="12600"/>
            <a:ext cx="4572000" cy="34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Thinning, hardwood rotation, and </a:t>
            </a:r>
            <a:endParaRPr b="0" lang="en-US" sz="36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laminated root rot in Douglas fir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54" name="Google Shape;55;p13"/>
          <p:cNvSpPr/>
          <p:nvPr/>
        </p:nvSpPr>
        <p:spPr>
          <a:xfrm>
            <a:off x="4885200" y="3742200"/>
            <a:ext cx="411480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1000"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en" sz="20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David Showalter, Shawn McMurtrey, Anna Leon, John Browning, Michael McWilliams, Blakey Lockman, Everett Hansen,  Jared LeBoldus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64;p14"/>
          <p:cNvSpPr/>
          <p:nvPr/>
        </p:nvSpPr>
        <p:spPr>
          <a:xfrm>
            <a:off x="-4680" y="224280"/>
            <a:ext cx="5490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17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Laminated Root Rot (LRR)</a:t>
            </a: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56" name="Google Shape;65;p14" descr=""/>
          <p:cNvPicPr/>
          <p:nvPr/>
        </p:nvPicPr>
        <p:blipFill>
          <a:blip r:embed="rId1"/>
          <a:stretch/>
        </p:blipFill>
        <p:spPr>
          <a:xfrm>
            <a:off x="4703760" y="2838240"/>
            <a:ext cx="4259160" cy="2052000"/>
          </a:xfrm>
          <a:prstGeom prst="rect">
            <a:avLst/>
          </a:prstGeom>
          <a:ln w="0">
            <a:noFill/>
          </a:ln>
        </p:spPr>
      </p:pic>
      <p:sp>
        <p:nvSpPr>
          <p:cNvPr id="157" name="Google Shape;66;p14"/>
          <p:cNvSpPr/>
          <p:nvPr/>
        </p:nvSpPr>
        <p:spPr>
          <a:xfrm>
            <a:off x="353160" y="1101960"/>
            <a:ext cx="8672760" cy="18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i="1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Coniferiporia sulphurascens </a:t>
            </a: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(Basidiomycota:Agaricomycetes)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Several coniferous hosts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Both saprophytic and parasitic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Spread through root to root contact between trees and/or stumps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Disease of the site, for 50 years (Hansen, 1976)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Root rot pockets 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Google Shape;67;p14"/>
          <p:cNvSpPr/>
          <p:nvPr/>
        </p:nvSpPr>
        <p:spPr>
          <a:xfrm>
            <a:off x="4734000" y="473004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Google Shape;68;p14"/>
          <p:cNvSpPr/>
          <p:nvPr/>
        </p:nvSpPr>
        <p:spPr>
          <a:xfrm>
            <a:off x="5226120" y="4668120"/>
            <a:ext cx="28436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24292e"/>
                </a:solidFill>
                <a:highlight>
                  <a:srgbClr val="ffffff"/>
                </a:highlight>
                <a:latin typeface="Arial"/>
                <a:ea typeface="Arial"/>
              </a:rPr>
              <a:t>Sturrock &amp; Garbutt, 1994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0" name="Google Shape;69;p14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1" name="Google Shape;70;p14" descr=""/>
          <p:cNvPicPr/>
          <p:nvPr/>
        </p:nvPicPr>
        <p:blipFill>
          <a:blip r:embed="rId2"/>
          <a:stretch/>
        </p:blipFill>
        <p:spPr>
          <a:xfrm>
            <a:off x="6829200" y="51480"/>
            <a:ext cx="1823040" cy="2361960"/>
          </a:xfrm>
          <a:prstGeom prst="rect">
            <a:avLst/>
          </a:prstGeom>
          <a:ln w="0">
            <a:noFill/>
          </a:ln>
        </p:spPr>
      </p:pic>
      <p:sp>
        <p:nvSpPr>
          <p:cNvPr id="162" name="Google Shape;71;p14"/>
          <p:cNvSpPr/>
          <p:nvPr/>
        </p:nvSpPr>
        <p:spPr>
          <a:xfrm>
            <a:off x="6752160" y="2311920"/>
            <a:ext cx="197748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163" name="Google Shape;72;p14" descr=""/>
          <p:cNvPicPr/>
          <p:nvPr/>
        </p:nvPicPr>
        <p:blipFill>
          <a:blip r:embed="rId3"/>
          <a:stretch/>
        </p:blipFill>
        <p:spPr>
          <a:xfrm>
            <a:off x="734400" y="2666160"/>
            <a:ext cx="3968640" cy="2171880"/>
          </a:xfrm>
          <a:prstGeom prst="rect">
            <a:avLst/>
          </a:prstGeom>
          <a:ln w="0">
            <a:noFill/>
          </a:ln>
        </p:spPr>
      </p:pic>
      <p:sp>
        <p:nvSpPr>
          <p:cNvPr id="164" name="Google Shape;73;p14"/>
          <p:cNvSpPr/>
          <p:nvPr/>
        </p:nvSpPr>
        <p:spPr>
          <a:xfrm>
            <a:off x="778680" y="4730040"/>
            <a:ext cx="36478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50" spc="-1" strike="noStrike">
                <a:solidFill>
                  <a:srgbClr val="002145"/>
                </a:solidFill>
                <a:highlight>
                  <a:srgbClr val="ffffff"/>
                </a:highlight>
                <a:latin typeface="Arial"/>
                <a:ea typeface="Arial"/>
              </a:rPr>
              <a:t>Dr. Richard Hamelin &amp; Dr. Allan Carroll</a:t>
            </a:r>
            <a:endParaRPr b="0" lang="en-US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78;p15"/>
          <p:cNvSpPr/>
          <p:nvPr/>
        </p:nvSpPr>
        <p:spPr>
          <a:xfrm>
            <a:off x="-16574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Signs and Symptoms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66" name="Google Shape;79;p15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Google Shape;80;p15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8" name="Google Shape;81;p15" descr=""/>
          <p:cNvPicPr/>
          <p:nvPr/>
        </p:nvPicPr>
        <p:blipFill>
          <a:blip r:embed="rId1"/>
          <a:stretch/>
        </p:blipFill>
        <p:spPr>
          <a:xfrm>
            <a:off x="160560" y="1244880"/>
            <a:ext cx="3047760" cy="3198240"/>
          </a:xfrm>
          <a:prstGeom prst="rect">
            <a:avLst/>
          </a:prstGeom>
          <a:ln w="0">
            <a:noFill/>
          </a:ln>
        </p:spPr>
      </p:pic>
      <p:pic>
        <p:nvPicPr>
          <p:cNvPr id="169" name="Google Shape;82;p15" descr=""/>
          <p:cNvPicPr/>
          <p:nvPr/>
        </p:nvPicPr>
        <p:blipFill>
          <a:blip r:embed="rId2"/>
          <a:stretch/>
        </p:blipFill>
        <p:spPr>
          <a:xfrm>
            <a:off x="3460320" y="2957760"/>
            <a:ext cx="2831760" cy="1917000"/>
          </a:xfrm>
          <a:prstGeom prst="rect">
            <a:avLst/>
          </a:prstGeom>
          <a:ln w="0">
            <a:noFill/>
          </a:ln>
        </p:spPr>
      </p:pic>
      <p:sp>
        <p:nvSpPr>
          <p:cNvPr id="170" name="Google Shape;83;p15"/>
          <p:cNvSpPr/>
          <p:nvPr/>
        </p:nvSpPr>
        <p:spPr>
          <a:xfrm>
            <a:off x="3368520" y="4789080"/>
            <a:ext cx="35506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David Shaw, pnwhandbooks.org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1" name="Google Shape;84;p15" descr=""/>
          <p:cNvPicPr/>
          <p:nvPr/>
        </p:nvPicPr>
        <p:blipFill>
          <a:blip r:embed="rId3"/>
          <a:stretch/>
        </p:blipFill>
        <p:spPr>
          <a:xfrm>
            <a:off x="6544080" y="2746800"/>
            <a:ext cx="2530440" cy="2127960"/>
          </a:xfrm>
          <a:prstGeom prst="rect">
            <a:avLst/>
          </a:prstGeom>
          <a:ln w="0">
            <a:noFill/>
          </a:ln>
        </p:spPr>
      </p:pic>
      <p:sp>
        <p:nvSpPr>
          <p:cNvPr id="172" name="Google Shape;85;p15"/>
          <p:cNvSpPr/>
          <p:nvPr/>
        </p:nvSpPr>
        <p:spPr>
          <a:xfrm>
            <a:off x="469080" y="4444200"/>
            <a:ext cx="27396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Near Waldo Lake, OR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3" name="Google Shape;86;p15"/>
          <p:cNvSpPr/>
          <p:nvPr/>
        </p:nvSpPr>
        <p:spPr>
          <a:xfrm>
            <a:off x="6166800" y="2217600"/>
            <a:ext cx="19774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4" name="Google Shape;87;p15" descr=""/>
          <p:cNvPicPr/>
          <p:nvPr/>
        </p:nvPicPr>
        <p:blipFill>
          <a:blip r:embed="rId4"/>
          <a:stretch/>
        </p:blipFill>
        <p:spPr>
          <a:xfrm>
            <a:off x="6243120" y="173880"/>
            <a:ext cx="2831760" cy="2127960"/>
          </a:xfrm>
          <a:prstGeom prst="rect">
            <a:avLst/>
          </a:prstGeom>
          <a:ln w="0">
            <a:noFill/>
          </a:ln>
        </p:spPr>
      </p:pic>
      <p:pic>
        <p:nvPicPr>
          <p:cNvPr id="175" name="Google Shape;88;p15" descr=""/>
          <p:cNvPicPr/>
          <p:nvPr/>
        </p:nvPicPr>
        <p:blipFill>
          <a:blip r:embed="rId5"/>
          <a:stretch/>
        </p:blipFill>
        <p:spPr>
          <a:xfrm>
            <a:off x="3759480" y="1034640"/>
            <a:ext cx="2057040" cy="1806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78;p15_0"/>
          <p:cNvSpPr/>
          <p:nvPr/>
        </p:nvSpPr>
        <p:spPr>
          <a:xfrm>
            <a:off x="516600" y="0"/>
            <a:ext cx="571500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Impacts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77" name="Google Shape;79;p15_0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Google Shape;80;p15_0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"/>
          <p:cNvSpPr txBox="1"/>
          <p:nvPr/>
        </p:nvSpPr>
        <p:spPr>
          <a:xfrm>
            <a:off x="346680" y="1143000"/>
            <a:ext cx="90259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Most damaging root rot of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Pseudotsuga menziesii 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 PNW.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Infected sites result in a 40% - 70% reduction in wood volume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Oregon timber industry, $12 billion annually, over 58,000 jobs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57200" y="2971800"/>
            <a:ext cx="90259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Buffer cutting, thinning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Inoculum removal (stumping)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Rotating less suceptible host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81" name="Google Shape;78;p15_1"/>
          <p:cNvSpPr/>
          <p:nvPr/>
        </p:nvSpPr>
        <p:spPr>
          <a:xfrm>
            <a:off x="516600" y="2016000"/>
            <a:ext cx="571500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Management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1"/>
          <a:srcRect l="0" t="0" r="0" b="10773"/>
          <a:stretch/>
        </p:blipFill>
        <p:spPr>
          <a:xfrm>
            <a:off x="4177080" y="1956960"/>
            <a:ext cx="2319120" cy="2843280"/>
          </a:xfrm>
          <a:prstGeom prst="rect">
            <a:avLst/>
          </a:prstGeom>
          <a:ln w="0">
            <a:noFill/>
          </a:ln>
        </p:spPr>
      </p:pic>
      <p:pic>
        <p:nvPicPr>
          <p:cNvPr id="183" name="" descr=""/>
          <p:cNvPicPr/>
          <p:nvPr/>
        </p:nvPicPr>
        <p:blipFill>
          <a:blip r:embed="rId2"/>
          <a:stretch/>
        </p:blipFill>
        <p:spPr>
          <a:xfrm>
            <a:off x="6430320" y="2057400"/>
            <a:ext cx="1818720" cy="2743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53;p21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Thinning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5" name="Google Shape;154;p21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Google Shape;155;p21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Google Shape;156;p21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Google Shape;157;p21"/>
          <p:cNvSpPr/>
          <p:nvPr/>
        </p:nvSpPr>
        <p:spPr>
          <a:xfrm>
            <a:off x="705960" y="913320"/>
            <a:ext cx="5564160" cy="14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Benefits the local economy and wildlife.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Help prevent fire spreading to crowns of larger trees.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health and reduces some disease threats.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Improve vegetation diversity of the forest floor.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tree growth and vigor of remaining trees.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9" name="Google Shape;158;p21"/>
          <p:cNvSpPr/>
          <p:nvPr/>
        </p:nvSpPr>
        <p:spPr>
          <a:xfrm>
            <a:off x="1479240" y="2646000"/>
            <a:ext cx="359280" cy="179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Google Shape;159;p21"/>
          <p:cNvSpPr/>
          <p:nvPr/>
        </p:nvSpPr>
        <p:spPr>
          <a:xfrm>
            <a:off x="3444480" y="2715480"/>
            <a:ext cx="359280" cy="179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91" name="Google Shape;160;p21" descr=""/>
          <p:cNvPicPr/>
          <p:nvPr/>
        </p:nvPicPr>
        <p:blipFill>
          <a:blip r:embed="rId1"/>
          <a:stretch/>
        </p:blipFill>
        <p:spPr>
          <a:xfrm>
            <a:off x="551520" y="2715480"/>
            <a:ext cx="2573280" cy="1945800"/>
          </a:xfrm>
          <a:prstGeom prst="rect">
            <a:avLst/>
          </a:prstGeom>
          <a:ln w="0">
            <a:noFill/>
          </a:ln>
        </p:spPr>
      </p:pic>
      <p:pic>
        <p:nvPicPr>
          <p:cNvPr id="192" name="Google Shape;161;p21" descr=""/>
          <p:cNvPicPr/>
          <p:nvPr/>
        </p:nvPicPr>
        <p:blipFill>
          <a:blip r:embed="rId2"/>
          <a:stretch/>
        </p:blipFill>
        <p:spPr>
          <a:xfrm>
            <a:off x="3355920" y="2715480"/>
            <a:ext cx="2602800" cy="1945800"/>
          </a:xfrm>
          <a:prstGeom prst="rect">
            <a:avLst/>
          </a:prstGeom>
          <a:ln w="0">
            <a:noFill/>
          </a:ln>
        </p:spPr>
      </p:pic>
      <p:pic>
        <p:nvPicPr>
          <p:cNvPr id="193" name="Google Shape;162;p21" descr=""/>
          <p:cNvPicPr/>
          <p:nvPr/>
        </p:nvPicPr>
        <p:blipFill>
          <a:blip r:embed="rId3"/>
          <a:stretch/>
        </p:blipFill>
        <p:spPr>
          <a:xfrm>
            <a:off x="6125040" y="2715480"/>
            <a:ext cx="2599200" cy="1945800"/>
          </a:xfrm>
          <a:prstGeom prst="rect">
            <a:avLst/>
          </a:prstGeom>
          <a:ln w="0">
            <a:noFill/>
          </a:ln>
        </p:spPr>
      </p:pic>
      <p:sp>
        <p:nvSpPr>
          <p:cNvPr id="194" name="Google Shape;163;p21"/>
          <p:cNvSpPr/>
          <p:nvPr/>
        </p:nvSpPr>
        <p:spPr>
          <a:xfrm>
            <a:off x="551520" y="4720680"/>
            <a:ext cx="417132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Source and illustrations: US Forest Service, 2020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12;p18"/>
          <p:cNvSpPr/>
          <p:nvPr/>
        </p:nvSpPr>
        <p:spPr>
          <a:xfrm>
            <a:off x="228600" y="228600"/>
            <a:ext cx="6633720" cy="6897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Research Questions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6" name="Google Shape;113;p18_0"/>
          <p:cNvSpPr/>
          <p:nvPr/>
        </p:nvSpPr>
        <p:spPr>
          <a:xfrm>
            <a:off x="363960" y="1048680"/>
            <a:ext cx="8672760" cy="34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15000"/>
              </a:lnSpc>
            </a:pP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thinning treatments in mature stands with high incidence of laminated root rot increase 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growth and/or reduce mortality?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rotations of non-host hardwood species in areas with high LRR incidence increase growth and reduce mortality in subsequent Douglas fir plantings?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How well do the Forest Vegetation Similator and its Western Root Disease Model variant predict long term growth in these stands?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97" name="Google Shape;114;p18_0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19;p19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Siuslaw National Forest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9" name="Google Shape;120;p19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Google Shape;121;p19"/>
          <p:cNvSpPr/>
          <p:nvPr/>
        </p:nvSpPr>
        <p:spPr>
          <a:xfrm>
            <a:off x="705960" y="1073520"/>
            <a:ext cx="5623920" cy="26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Unique ecosystem for surveying of LRR.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was clear cut between 1910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and 1920.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Area burned after reharvest, reestablished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from seed (Tkacz &amp; Hansen, 1982).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is ~400 acres.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br/>
            <a:endParaRPr b="0" lang="en-US" sz="16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pic>
        <p:nvPicPr>
          <p:cNvPr id="201" name="Google Shape;122;p19" descr=""/>
          <p:cNvPicPr/>
          <p:nvPr/>
        </p:nvPicPr>
        <p:blipFill>
          <a:blip r:embed="rId1"/>
          <a:stretch/>
        </p:blipFill>
        <p:spPr>
          <a:xfrm>
            <a:off x="5689800" y="1073520"/>
            <a:ext cx="2937960" cy="3918960"/>
          </a:xfrm>
          <a:prstGeom prst="rect">
            <a:avLst/>
          </a:prstGeom>
          <a:ln w="0">
            <a:noFill/>
          </a:ln>
        </p:spPr>
      </p:pic>
      <p:sp>
        <p:nvSpPr>
          <p:cNvPr id="202" name="Google Shape;123;p19"/>
          <p:cNvSpPr/>
          <p:nvPr/>
        </p:nvSpPr>
        <p:spPr>
          <a:xfrm>
            <a:off x="160560" y="459864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Google Shape;124;p19"/>
          <p:cNvSpPr/>
          <p:nvPr/>
        </p:nvSpPr>
        <p:spPr>
          <a:xfrm>
            <a:off x="611640" y="4728600"/>
            <a:ext cx="2745000" cy="1954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204" name="Google Shape;125;p19" descr=""/>
          <p:cNvPicPr/>
          <p:nvPr/>
        </p:nvPicPr>
        <p:blipFill>
          <a:blip r:embed="rId2"/>
          <a:stretch/>
        </p:blipFill>
        <p:spPr>
          <a:xfrm>
            <a:off x="1173600" y="3025440"/>
            <a:ext cx="3289680" cy="1941840"/>
          </a:xfrm>
          <a:prstGeom prst="rect">
            <a:avLst/>
          </a:prstGeom>
          <a:ln w="0">
            <a:noFill/>
          </a:ln>
        </p:spPr>
      </p:pic>
      <p:sp>
        <p:nvSpPr>
          <p:cNvPr id="205" name="Google Shape;126;p19"/>
          <p:cNvSpPr/>
          <p:nvPr/>
        </p:nvSpPr>
        <p:spPr>
          <a:xfrm>
            <a:off x="1461240" y="3509640"/>
            <a:ext cx="104544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Study site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6" name="Google Shape;127;p19"/>
          <p:cNvSpPr/>
          <p:nvPr/>
        </p:nvSpPr>
        <p:spPr>
          <a:xfrm flipH="1" rot="10800000">
            <a:off x="2228040" y="3440520"/>
            <a:ext cx="223560" cy="159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Google Shape;128;p19"/>
          <p:cNvSpPr/>
          <p:nvPr/>
        </p:nvSpPr>
        <p:spPr>
          <a:xfrm>
            <a:off x="1161720" y="3038760"/>
            <a:ext cx="360" cy="1953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Google Shape;129;p19"/>
          <p:cNvSpPr/>
          <p:nvPr/>
        </p:nvSpPr>
        <p:spPr>
          <a:xfrm flipH="1" rot="10800000">
            <a:off x="1153440" y="3016800"/>
            <a:ext cx="3318480" cy="158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Google Shape;130;p19"/>
          <p:cNvSpPr/>
          <p:nvPr/>
        </p:nvSpPr>
        <p:spPr>
          <a:xfrm rot="10800000">
            <a:off x="4461840" y="3016800"/>
            <a:ext cx="4680" cy="1960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Google Shape;131;p19"/>
          <p:cNvSpPr/>
          <p:nvPr/>
        </p:nvSpPr>
        <p:spPr>
          <a:xfrm flipH="1" rot="10800000">
            <a:off x="1159200" y="4968360"/>
            <a:ext cx="3318120" cy="5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Google Shape;132;p19"/>
          <p:cNvSpPr/>
          <p:nvPr/>
        </p:nvSpPr>
        <p:spPr>
          <a:xfrm>
            <a:off x="4478040" y="458136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Google Shape;133;p19"/>
          <p:cNvSpPr/>
          <p:nvPr/>
        </p:nvSpPr>
        <p:spPr>
          <a:xfrm>
            <a:off x="5619960" y="4924800"/>
            <a:ext cx="218952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Adam Carson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138;p20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Study Area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14" name="Google Shape;139;p20"/>
          <p:cNvSpPr/>
          <p:nvPr/>
        </p:nvSpPr>
        <p:spPr>
          <a:xfrm>
            <a:off x="0" y="1070640"/>
            <a:ext cx="9144000" cy="30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Mature mixed Douglas fir forest, ~65y old at establishment in 1985. High LRR incidence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15 stands and 75 plots over 162 hectares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Thinning treatments applied to stands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ranging from ~6-14 hectares.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Circular 1/25 hectare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sample plot ,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11.3 m radius.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Measured aprox. every 5-10 years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species,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215" name="Google Shape;140;p20"/>
          <p:cNvSpPr/>
          <p:nvPr/>
        </p:nvSpPr>
        <p:spPr>
          <a:xfrm>
            <a:off x="135000" y="465048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Google Shape;142;p20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Google Shape;143;p20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8" name="Google Shape;144;p20"/>
          <p:cNvSpPr/>
          <p:nvPr/>
        </p:nvSpPr>
        <p:spPr>
          <a:xfrm>
            <a:off x="586080" y="4780800"/>
            <a:ext cx="2745000" cy="1954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Google Shape;145;p20"/>
          <p:cNvSpPr/>
          <p:nvPr/>
        </p:nvSpPr>
        <p:spPr>
          <a:xfrm>
            <a:off x="4452480" y="463320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0" name="Google Shape;148;p20" descr=""/>
          <p:cNvPicPr/>
          <p:nvPr/>
        </p:nvPicPr>
        <p:blipFill>
          <a:blip r:embed="rId1"/>
          <a:stretch/>
        </p:blipFill>
        <p:spPr>
          <a:xfrm>
            <a:off x="1614240" y="3429000"/>
            <a:ext cx="2138400" cy="1603800"/>
          </a:xfrm>
          <a:prstGeom prst="rect">
            <a:avLst/>
          </a:prstGeom>
          <a:ln w="0">
            <a:noFill/>
          </a:ln>
        </p:spPr>
      </p:pic>
      <p:pic>
        <p:nvPicPr>
          <p:cNvPr id="221" name="" descr=""/>
          <p:cNvPicPr/>
          <p:nvPr/>
        </p:nvPicPr>
        <p:blipFill>
          <a:blip r:embed="rId2"/>
          <a:stretch/>
        </p:blipFill>
        <p:spPr>
          <a:xfrm>
            <a:off x="4343400" y="1594800"/>
            <a:ext cx="4800600" cy="3379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188;p25"/>
          <p:cNvSpPr/>
          <p:nvPr/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Google Shape;189;p25"/>
          <p:cNvSpPr/>
          <p:nvPr/>
        </p:nvSpPr>
        <p:spPr>
          <a:xfrm>
            <a:off x="311760" y="2834280"/>
            <a:ext cx="851976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4" name="Google Shape;190;p25" descr=""/>
          <p:cNvPicPr/>
          <p:nvPr/>
        </p:nvPicPr>
        <p:blipFill>
          <a:blip r:embed="rId1"/>
          <a:stretch/>
        </p:blipFill>
        <p:spPr>
          <a:xfrm>
            <a:off x="1244880" y="0"/>
            <a:ext cx="6653520" cy="5142600"/>
          </a:xfrm>
          <a:prstGeom prst="rect">
            <a:avLst/>
          </a:prstGeom>
          <a:ln w="0">
            <a:noFill/>
          </a:ln>
        </p:spPr>
      </p:pic>
      <p:sp>
        <p:nvSpPr>
          <p:cNvPr id="225" name="Google Shape;191;p25"/>
          <p:cNvSpPr/>
          <p:nvPr/>
        </p:nvSpPr>
        <p:spPr>
          <a:xfrm>
            <a:off x="7684200" y="3124080"/>
            <a:ext cx="13384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(Hansen, 1978. Line intercept survey. Bloomberg et al., 1980.)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138;p20_0"/>
          <p:cNvSpPr/>
          <p:nvPr/>
        </p:nvSpPr>
        <p:spPr>
          <a:xfrm>
            <a:off x="567000" y="22860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Apiary Study Area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27" name="Google Shape;139;p20_0"/>
          <p:cNvSpPr/>
          <p:nvPr/>
        </p:nvSpPr>
        <p:spPr>
          <a:xfrm>
            <a:off x="0" y="1070640"/>
            <a:ext cx="8915400" cy="369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Newly planted Douglas fir following clearcut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of mixed Douglas fir forest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with high LRR incidence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25 stands and 125 plots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over 14 hectares in Columbia County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in far NW Oregon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Roation treatments applied to stands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Circular 1/50 hectare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sample plot ,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8 m radius.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Measured sporatically, every 8-24 years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228" name="Google Shape;140;p20_0"/>
          <p:cNvSpPr/>
          <p:nvPr/>
        </p:nvSpPr>
        <p:spPr>
          <a:xfrm>
            <a:off x="135000" y="465048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9" name="Google Shape;142;p20_0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Google Shape;143;p20_0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Google Shape;145;p20_0"/>
          <p:cNvSpPr/>
          <p:nvPr/>
        </p:nvSpPr>
        <p:spPr>
          <a:xfrm>
            <a:off x="4452480" y="463320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32" name="" descr=""/>
          <p:cNvPicPr/>
          <p:nvPr/>
        </p:nvPicPr>
        <p:blipFill>
          <a:blip r:embed="rId1"/>
          <a:srcRect l="0" t="756" r="1495" b="336"/>
          <a:stretch/>
        </p:blipFill>
        <p:spPr>
          <a:xfrm>
            <a:off x="4584960" y="1070640"/>
            <a:ext cx="4360320" cy="3963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" descr=""/>
          <p:cNvPicPr/>
          <p:nvPr/>
        </p:nvPicPr>
        <p:blipFill>
          <a:blip r:embed="rId1"/>
          <a:stretch/>
        </p:blipFill>
        <p:spPr>
          <a:xfrm>
            <a:off x="12600" y="114120"/>
            <a:ext cx="7183440" cy="4915080"/>
          </a:xfrm>
          <a:prstGeom prst="rect">
            <a:avLst/>
          </a:prstGeom>
          <a:ln w="0">
            <a:noFill/>
          </a:ln>
        </p:spPr>
      </p:pic>
      <p:sp>
        <p:nvSpPr>
          <p:cNvPr id="234" name=""/>
          <p:cNvSpPr/>
          <p:nvPr/>
        </p:nvSpPr>
        <p:spPr>
          <a:xfrm flipV="1">
            <a:off x="685800" y="258120"/>
            <a:ext cx="6642000" cy="3399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"/>
          <p:cNvSpPr/>
          <p:nvPr/>
        </p:nvSpPr>
        <p:spPr>
          <a:xfrm flipV="1">
            <a:off x="1143000" y="3573000"/>
            <a:ext cx="7841520" cy="99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6" name=""/>
          <p:cNvSpPr/>
          <p:nvPr/>
        </p:nvSpPr>
        <p:spPr>
          <a:xfrm>
            <a:off x="649800" y="3657600"/>
            <a:ext cx="493200" cy="9144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pic>
        <p:nvPicPr>
          <p:cNvPr id="237" name="" descr=""/>
          <p:cNvPicPr/>
          <p:nvPr/>
        </p:nvPicPr>
        <p:blipFill>
          <a:blip r:embed="rId2"/>
          <a:srcRect l="9370" t="72076" r="84260" b="9315"/>
          <a:stretch/>
        </p:blipFill>
        <p:spPr>
          <a:xfrm>
            <a:off x="7327800" y="258120"/>
            <a:ext cx="1656720" cy="3314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" descr=""/>
          <p:cNvPicPr/>
          <p:nvPr/>
        </p:nvPicPr>
        <p:blipFill>
          <a:blip r:embed="rId1"/>
          <a:srcRect l="4000" t="0" r="40000" b="0"/>
          <a:stretch/>
        </p:blipFill>
        <p:spPr>
          <a:xfrm>
            <a:off x="4800960" y="1514880"/>
            <a:ext cx="3199680" cy="3513960"/>
          </a:xfrm>
          <a:prstGeom prst="rect">
            <a:avLst/>
          </a:prstGeom>
          <a:ln w="0">
            <a:noFill/>
          </a:ln>
        </p:spPr>
      </p:pic>
      <p:sp>
        <p:nvSpPr>
          <p:cNvPr id="239" name=""/>
          <p:cNvSpPr/>
          <p:nvPr/>
        </p:nvSpPr>
        <p:spPr>
          <a:xfrm>
            <a:off x="228600" y="914400"/>
            <a:ext cx="36572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Diameter at breast height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(cm or in)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1-dimesional ~ distance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4114800" y="914400"/>
            <a:ext cx="29714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basal area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BA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area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229320" y="228600"/>
            <a:ext cx="6856920" cy="6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Forestry Biometrics 101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242" name="" descr=""/>
          <p:cNvPicPr/>
          <p:nvPr/>
        </p:nvPicPr>
        <p:blipFill>
          <a:blip r:embed="rId2"/>
          <a:stretch/>
        </p:blipFill>
        <p:spPr>
          <a:xfrm>
            <a:off x="885960" y="1828800"/>
            <a:ext cx="2314080" cy="3085920"/>
          </a:xfrm>
          <a:prstGeom prst="rect">
            <a:avLst/>
          </a:prstGeom>
          <a:ln w="0">
            <a:noFill/>
          </a:ln>
        </p:spPr>
      </p:pic>
      <p:sp>
        <p:nvSpPr>
          <p:cNvPr id="243" name="Google Shape;143;p20_1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" descr=""/>
          <p:cNvPicPr/>
          <p:nvPr/>
        </p:nvPicPr>
        <p:blipFill>
          <a:blip r:embed="rId1"/>
          <a:stretch/>
        </p:blipFill>
        <p:spPr>
          <a:xfrm>
            <a:off x="495000" y="612000"/>
            <a:ext cx="8229240" cy="4416840"/>
          </a:xfrm>
          <a:prstGeom prst="rect">
            <a:avLst/>
          </a:prstGeom>
          <a:ln w="0">
            <a:noFill/>
          </a:ln>
        </p:spPr>
      </p:pic>
      <p:sp>
        <p:nvSpPr>
          <p:cNvPr id="245" name=""/>
          <p:cNvSpPr/>
          <p:nvPr/>
        </p:nvSpPr>
        <p:spPr>
          <a:xfrm>
            <a:off x="228600" y="119880"/>
            <a:ext cx="34286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basal area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BA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/hectare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/acre)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density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3429000" y="119880"/>
            <a:ext cx="3428640" cy="61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&gt; plot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228600" y="232920"/>
            <a:ext cx="18284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Wood Volume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3-D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2971800" y="685800"/>
            <a:ext cx="5578560" cy="4087800"/>
          </a:xfrm>
          <a:prstGeom prst="rect">
            <a:avLst/>
          </a:prstGeom>
          <a:ln w="0">
            <a:noFill/>
          </a:ln>
        </p:spPr>
      </p:pic>
      <p:pic>
        <p:nvPicPr>
          <p:cNvPr id="249" name="" descr=""/>
          <p:cNvPicPr/>
          <p:nvPr/>
        </p:nvPicPr>
        <p:blipFill>
          <a:blip r:embed="rId2"/>
          <a:srcRect l="0" t="0" r="52533" b="0"/>
          <a:stretch/>
        </p:blipFill>
        <p:spPr>
          <a:xfrm>
            <a:off x="228600" y="1371600"/>
            <a:ext cx="2514240" cy="341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156600" y="410400"/>
            <a:ext cx="34286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Increment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(metric/time)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rate or slope ~ 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growth</a:t>
            </a:r>
            <a:endParaRPr b="0" lang="en-US" sz="1850" spc="-1" strike="noStrike">
              <a:latin typeface="Arial"/>
            </a:endParaRPr>
          </a:p>
        </p:txBody>
      </p:sp>
      <p:grpSp>
        <p:nvGrpSpPr>
          <p:cNvPr id="251" name=""/>
          <p:cNvGrpSpPr/>
          <p:nvPr/>
        </p:nvGrpSpPr>
        <p:grpSpPr>
          <a:xfrm>
            <a:off x="45000" y="1600200"/>
            <a:ext cx="5210640" cy="3183480"/>
            <a:chOff x="45000" y="1600200"/>
            <a:chExt cx="5210640" cy="3183480"/>
          </a:xfrm>
        </p:grpSpPr>
        <p:pic>
          <p:nvPicPr>
            <p:cNvPr id="252" name="" descr=""/>
            <p:cNvPicPr/>
            <p:nvPr/>
          </p:nvPicPr>
          <p:blipFill>
            <a:blip r:embed="rId1"/>
            <a:stretch/>
          </p:blipFill>
          <p:spPr>
            <a:xfrm>
              <a:off x="106200" y="1924560"/>
              <a:ext cx="4970520" cy="2859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53" name=""/>
            <p:cNvSpPr/>
            <p:nvPr/>
          </p:nvSpPr>
          <p:spPr>
            <a:xfrm>
              <a:off x="45000" y="1600200"/>
              <a:ext cx="1371240" cy="45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850" spc="-1" strike="noStrike">
                  <a:solidFill>
                    <a:srgbClr val="00a0fc"/>
                  </a:solidFill>
                  <a:latin typeface="Arial"/>
                  <a:ea typeface="Arial"/>
                </a:rPr>
                <a:t>ΔDBH/year </a:t>
              </a:r>
              <a:endParaRPr b="0" lang="en-US" sz="1850" spc="-1" strike="noStrike">
                <a:latin typeface="Arial"/>
              </a:endParaRPr>
            </a:p>
          </p:txBody>
        </p:sp>
        <p:sp>
          <p:nvSpPr>
            <p:cNvPr id="254" name=""/>
            <p:cNvSpPr/>
            <p:nvPr/>
          </p:nvSpPr>
          <p:spPr>
            <a:xfrm>
              <a:off x="3884400" y="1600200"/>
              <a:ext cx="1371240" cy="45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8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ΔBA/year</a:t>
              </a:r>
              <a:endParaRPr b="0" lang="en-US" sz="1850" spc="-1" strike="noStrike">
                <a:latin typeface="Arial"/>
              </a:endParaRPr>
            </a:p>
          </p:txBody>
        </p:sp>
      </p:grpSp>
      <p:grpSp>
        <p:nvGrpSpPr>
          <p:cNvPr id="255" name=""/>
          <p:cNvGrpSpPr/>
          <p:nvPr/>
        </p:nvGrpSpPr>
        <p:grpSpPr>
          <a:xfrm>
            <a:off x="5196600" y="1888560"/>
            <a:ext cx="3428640" cy="2911680"/>
            <a:chOff x="5196600" y="1888560"/>
            <a:chExt cx="3428640" cy="2911680"/>
          </a:xfrm>
        </p:grpSpPr>
        <p:pic>
          <p:nvPicPr>
            <p:cNvPr id="256" name="" descr=""/>
            <p:cNvPicPr/>
            <p:nvPr/>
          </p:nvPicPr>
          <p:blipFill>
            <a:blip r:embed="rId2"/>
            <a:stretch/>
          </p:blipFill>
          <p:spPr>
            <a:xfrm>
              <a:off x="5196600" y="1924560"/>
              <a:ext cx="3428640" cy="2875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57" name=""/>
            <p:cNvSpPr/>
            <p:nvPr/>
          </p:nvSpPr>
          <p:spPr>
            <a:xfrm flipV="1">
              <a:off x="6447600" y="2619000"/>
              <a:ext cx="529200" cy="4734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8" name=""/>
            <p:cNvSpPr/>
            <p:nvPr/>
          </p:nvSpPr>
          <p:spPr>
            <a:xfrm flipV="1">
              <a:off x="6039000" y="3200400"/>
              <a:ext cx="264600" cy="6498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9" name=""/>
            <p:cNvSpPr/>
            <p:nvPr/>
          </p:nvSpPr>
          <p:spPr>
            <a:xfrm rot="18980400">
              <a:off x="6362640" y="2523960"/>
              <a:ext cx="685440" cy="23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260" name=""/>
            <p:cNvSpPr/>
            <p:nvPr/>
          </p:nvSpPr>
          <p:spPr>
            <a:xfrm rot="17616600">
              <a:off x="5833800" y="3115800"/>
              <a:ext cx="685440" cy="23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261" name=""/>
            <p:cNvSpPr/>
            <p:nvPr/>
          </p:nvSpPr>
          <p:spPr>
            <a:xfrm flipV="1">
              <a:off x="6039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2" name=""/>
            <p:cNvSpPr/>
            <p:nvPr/>
          </p:nvSpPr>
          <p:spPr>
            <a:xfrm flipV="1">
              <a:off x="6291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3" name=""/>
            <p:cNvSpPr/>
            <p:nvPr/>
          </p:nvSpPr>
          <p:spPr>
            <a:xfrm flipV="1">
              <a:off x="6435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4" name=""/>
            <p:cNvSpPr/>
            <p:nvPr/>
          </p:nvSpPr>
          <p:spPr>
            <a:xfrm flipV="1">
              <a:off x="6975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5" name=""/>
            <p:cNvSpPr/>
            <p:nvPr/>
          </p:nvSpPr>
          <p:spPr>
            <a:xfrm>
              <a:off x="6026400" y="1900800"/>
              <a:ext cx="408240" cy="27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266" name=""/>
            <p:cNvSpPr/>
            <p:nvPr/>
          </p:nvSpPr>
          <p:spPr>
            <a:xfrm>
              <a:off x="6566400" y="1888560"/>
              <a:ext cx="408240" cy="27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latin typeface="Arial"/>
              </a:endParaRPr>
            </a:p>
          </p:txBody>
        </p:sp>
      </p:grpSp>
      <p:sp>
        <p:nvSpPr>
          <p:cNvPr id="267" name=""/>
          <p:cNvSpPr/>
          <p:nvPr/>
        </p:nvSpPr>
        <p:spPr>
          <a:xfrm>
            <a:off x="3198960" y="166320"/>
            <a:ext cx="5714280" cy="97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Relationships beween different metrics 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(DBH, height, BA, volume, age, increments) 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are context dependent, and active areas of research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traight Connector 37_1"/>
          <p:cNvSpPr/>
          <p:nvPr/>
        </p:nvSpPr>
        <p:spPr>
          <a:xfrm>
            <a:off x="470232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Straight Connector 38_0"/>
          <p:cNvSpPr/>
          <p:nvPr/>
        </p:nvSpPr>
        <p:spPr>
          <a:xfrm>
            <a:off x="387288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Straight Connector 39_0"/>
          <p:cNvSpPr/>
          <p:nvPr/>
        </p:nvSpPr>
        <p:spPr>
          <a:xfrm>
            <a:off x="304344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Straight Connector 40_0"/>
          <p:cNvSpPr/>
          <p:nvPr/>
        </p:nvSpPr>
        <p:spPr>
          <a:xfrm>
            <a:off x="221400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Straight Connector 41_0"/>
          <p:cNvSpPr/>
          <p:nvPr/>
        </p:nvSpPr>
        <p:spPr>
          <a:xfrm>
            <a:off x="553140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traight Connector 42_0"/>
          <p:cNvSpPr/>
          <p:nvPr/>
        </p:nvSpPr>
        <p:spPr>
          <a:xfrm>
            <a:off x="636084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Straight Connector 43_0"/>
          <p:cNvSpPr/>
          <p:nvPr/>
        </p:nvSpPr>
        <p:spPr>
          <a:xfrm>
            <a:off x="719028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Straight Connector 44_0"/>
          <p:cNvSpPr/>
          <p:nvPr/>
        </p:nvSpPr>
        <p:spPr>
          <a:xfrm>
            <a:off x="801972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Straight Connector 45_0"/>
          <p:cNvSpPr/>
          <p:nvPr/>
        </p:nvSpPr>
        <p:spPr>
          <a:xfrm>
            <a:off x="884916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Rectangle 46_0"/>
          <p:cNvSpPr/>
          <p:nvPr/>
        </p:nvSpPr>
        <p:spPr>
          <a:xfrm>
            <a:off x="207720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78" name="Rectangle 47_0"/>
          <p:cNvSpPr/>
          <p:nvPr/>
        </p:nvSpPr>
        <p:spPr>
          <a:xfrm>
            <a:off x="284148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79" name="Rectangle 48_0"/>
          <p:cNvSpPr/>
          <p:nvPr/>
        </p:nvSpPr>
        <p:spPr>
          <a:xfrm>
            <a:off x="367092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0" name="Rectangle 49_0"/>
          <p:cNvSpPr/>
          <p:nvPr/>
        </p:nvSpPr>
        <p:spPr>
          <a:xfrm>
            <a:off x="450036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1" name="Rectangle 50_0"/>
          <p:cNvSpPr/>
          <p:nvPr/>
        </p:nvSpPr>
        <p:spPr>
          <a:xfrm>
            <a:off x="5183640" y="321300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2" name="Rectangle 51_0"/>
          <p:cNvSpPr/>
          <p:nvPr/>
        </p:nvSpPr>
        <p:spPr>
          <a:xfrm>
            <a:off x="615924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3" name="Rectangle 52_0"/>
          <p:cNvSpPr/>
          <p:nvPr/>
        </p:nvSpPr>
        <p:spPr>
          <a:xfrm>
            <a:off x="6982920" y="3213000"/>
            <a:ext cx="47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4" name="Rectangle 53_0"/>
          <p:cNvSpPr/>
          <p:nvPr/>
        </p:nvSpPr>
        <p:spPr>
          <a:xfrm>
            <a:off x="781812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5" name="Rectangle 54_0"/>
          <p:cNvSpPr/>
          <p:nvPr/>
        </p:nvSpPr>
        <p:spPr>
          <a:xfrm>
            <a:off x="864756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6" name="Rectangle 55_0"/>
          <p:cNvSpPr/>
          <p:nvPr/>
        </p:nvSpPr>
        <p:spPr>
          <a:xfrm>
            <a:off x="793440" y="3213000"/>
            <a:ext cx="1066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ca. 1915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7" name="Rectangle 56_0"/>
          <p:cNvSpPr/>
          <p:nvPr/>
        </p:nvSpPr>
        <p:spPr>
          <a:xfrm>
            <a:off x="4462200" y="3438360"/>
            <a:ext cx="719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88" name="Rectangle 60_0"/>
          <p:cNvSpPr/>
          <p:nvPr/>
        </p:nvSpPr>
        <p:spPr>
          <a:xfrm>
            <a:off x="370440" y="189144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Light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9" name="Rectangle 61_0"/>
          <p:cNvSpPr/>
          <p:nvPr/>
        </p:nvSpPr>
        <p:spPr>
          <a:xfrm>
            <a:off x="351360" y="2511000"/>
            <a:ext cx="1284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Unthinned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0" name="Straight Connector 62_0"/>
          <p:cNvSpPr/>
          <p:nvPr/>
        </p:nvSpPr>
        <p:spPr>
          <a:xfrm>
            <a:off x="1430280" y="1017360"/>
            <a:ext cx="21240" cy="2765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Rectangle 63_0"/>
          <p:cNvSpPr/>
          <p:nvPr/>
        </p:nvSpPr>
        <p:spPr>
          <a:xfrm>
            <a:off x="3872880" y="2468520"/>
            <a:ext cx="49741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grpSp>
        <p:nvGrpSpPr>
          <p:cNvPr id="292" name="Group 68_0"/>
          <p:cNvGrpSpPr/>
          <p:nvPr/>
        </p:nvGrpSpPr>
        <p:grpSpPr>
          <a:xfrm>
            <a:off x="1428480" y="1147680"/>
            <a:ext cx="2444400" cy="2516040"/>
            <a:chOff x="1428480" y="1147680"/>
            <a:chExt cx="2444400" cy="2516040"/>
          </a:xfrm>
        </p:grpSpPr>
        <p:sp>
          <p:nvSpPr>
            <p:cNvPr id="293" name="Rectangle 76_0"/>
            <p:cNvSpPr/>
            <p:nvPr/>
          </p:nvSpPr>
          <p:spPr>
            <a:xfrm>
              <a:off x="3043440" y="1224720"/>
              <a:ext cx="82944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4" name="Rectangle 78_0"/>
            <p:cNvSpPr/>
            <p:nvPr/>
          </p:nvSpPr>
          <p:spPr>
            <a:xfrm>
              <a:off x="1428480" y="1226880"/>
              <a:ext cx="1614600" cy="4122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Rectangle 76_2"/>
            <p:cNvSpPr/>
            <p:nvPr/>
          </p:nvSpPr>
          <p:spPr>
            <a:xfrm>
              <a:off x="3043440" y="1845360"/>
              <a:ext cx="829440" cy="4122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Rectangle 78_2"/>
            <p:cNvSpPr/>
            <p:nvPr/>
          </p:nvSpPr>
          <p:spPr>
            <a:xfrm>
              <a:off x="1428480" y="1847520"/>
              <a:ext cx="1614600" cy="4122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7" name="Rectangle 78_3"/>
            <p:cNvSpPr/>
            <p:nvPr/>
          </p:nvSpPr>
          <p:spPr>
            <a:xfrm>
              <a:off x="1428480" y="2468160"/>
              <a:ext cx="2444400" cy="4118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8" name=""/>
            <p:cNvSpPr/>
            <p:nvPr/>
          </p:nvSpPr>
          <p:spPr>
            <a:xfrm flipV="1">
              <a:off x="1626120" y="114768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9" name=""/>
            <p:cNvSpPr/>
            <p:nvPr/>
          </p:nvSpPr>
          <p:spPr>
            <a:xfrm flipV="1">
              <a:off x="1759320" y="114768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0" name=""/>
            <p:cNvSpPr/>
            <p:nvPr/>
          </p:nvSpPr>
          <p:spPr>
            <a:xfrm flipV="1">
              <a:off x="1593360" y="180108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1" name=""/>
            <p:cNvSpPr/>
            <p:nvPr/>
          </p:nvSpPr>
          <p:spPr>
            <a:xfrm flipV="1">
              <a:off x="1726560" y="180108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2" name=""/>
            <p:cNvSpPr/>
            <p:nvPr/>
          </p:nvSpPr>
          <p:spPr>
            <a:xfrm flipV="1">
              <a:off x="1593360" y="242136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"/>
            <p:cNvSpPr/>
            <p:nvPr/>
          </p:nvSpPr>
          <p:spPr>
            <a:xfrm flipV="1">
              <a:off x="1726560" y="242136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"/>
            <p:cNvSpPr/>
            <p:nvPr/>
          </p:nvSpPr>
          <p:spPr>
            <a:xfrm flipV="1">
              <a:off x="1626120" y="304164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5" name=""/>
            <p:cNvSpPr/>
            <p:nvPr/>
          </p:nvSpPr>
          <p:spPr>
            <a:xfrm flipV="1">
              <a:off x="1759320" y="304164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06" name="Group 79_0"/>
          <p:cNvGrpSpPr/>
          <p:nvPr/>
        </p:nvGrpSpPr>
        <p:grpSpPr>
          <a:xfrm>
            <a:off x="3872880" y="1224720"/>
            <a:ext cx="5171760" cy="1620360"/>
            <a:chOff x="3872880" y="1224720"/>
            <a:chExt cx="5171760" cy="1620360"/>
          </a:xfrm>
        </p:grpSpPr>
        <p:sp>
          <p:nvSpPr>
            <p:cNvPr id="307" name="Rectangle 80_0"/>
            <p:cNvSpPr/>
            <p:nvPr/>
          </p:nvSpPr>
          <p:spPr>
            <a:xfrm>
              <a:off x="3872880" y="1224720"/>
              <a:ext cx="498060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8" name="Rectangle 81_0"/>
            <p:cNvSpPr/>
            <p:nvPr/>
          </p:nvSpPr>
          <p:spPr>
            <a:xfrm>
              <a:off x="3873240" y="1846440"/>
              <a:ext cx="498024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9" name="Rectangle 86_0"/>
            <p:cNvSpPr/>
            <p:nvPr/>
          </p:nvSpPr>
          <p:spPr>
            <a:xfrm>
              <a:off x="450288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0" name="Rectangle 86_2"/>
            <p:cNvSpPr/>
            <p:nvPr/>
          </p:nvSpPr>
          <p:spPr>
            <a:xfrm>
              <a:off x="531936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1" name="Rectangle 86_3"/>
            <p:cNvSpPr/>
            <p:nvPr/>
          </p:nvSpPr>
          <p:spPr>
            <a:xfrm>
              <a:off x="685404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2" name="Rectangle 86_4"/>
            <p:cNvSpPr/>
            <p:nvPr/>
          </p:nvSpPr>
          <p:spPr>
            <a:xfrm>
              <a:off x="8617680" y="125604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3" name="Rectangle 86_5"/>
            <p:cNvSpPr/>
            <p:nvPr/>
          </p:nvSpPr>
          <p:spPr>
            <a:xfrm>
              <a:off x="450288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4" name="Rectangle 86_6"/>
            <p:cNvSpPr/>
            <p:nvPr/>
          </p:nvSpPr>
          <p:spPr>
            <a:xfrm>
              <a:off x="450288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5" name="Rectangle 86_7"/>
            <p:cNvSpPr/>
            <p:nvPr/>
          </p:nvSpPr>
          <p:spPr>
            <a:xfrm>
              <a:off x="531936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6" name="Rectangle 86_8"/>
            <p:cNvSpPr/>
            <p:nvPr/>
          </p:nvSpPr>
          <p:spPr>
            <a:xfrm>
              <a:off x="531936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7" name="Rectangle 86_9"/>
            <p:cNvSpPr/>
            <p:nvPr/>
          </p:nvSpPr>
          <p:spPr>
            <a:xfrm>
              <a:off x="685404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8" name="Rectangle 86_10"/>
            <p:cNvSpPr/>
            <p:nvPr/>
          </p:nvSpPr>
          <p:spPr>
            <a:xfrm>
              <a:off x="685404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9" name="Rectangle 86_11"/>
            <p:cNvSpPr/>
            <p:nvPr/>
          </p:nvSpPr>
          <p:spPr>
            <a:xfrm>
              <a:off x="8617680" y="187632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20" name="Rectangle 86_12"/>
            <p:cNvSpPr/>
            <p:nvPr/>
          </p:nvSpPr>
          <p:spPr>
            <a:xfrm>
              <a:off x="8617680" y="249696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321" name="Rectangle 88_0"/>
          <p:cNvSpPr/>
          <p:nvPr/>
        </p:nvSpPr>
        <p:spPr>
          <a:xfrm rot="16180800">
            <a:off x="-493200" y="177984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322" name="Group 89_2"/>
          <p:cNvGrpSpPr/>
          <p:nvPr/>
        </p:nvGrpSpPr>
        <p:grpSpPr>
          <a:xfrm>
            <a:off x="6821280" y="243360"/>
            <a:ext cx="3137400" cy="348120"/>
            <a:chOff x="6821280" y="243360"/>
            <a:chExt cx="3137400" cy="348120"/>
          </a:xfrm>
        </p:grpSpPr>
        <p:sp>
          <p:nvSpPr>
            <p:cNvPr id="323" name="Rectangle 90_0"/>
            <p:cNvSpPr/>
            <p:nvPr/>
          </p:nvSpPr>
          <p:spPr>
            <a:xfrm>
              <a:off x="6821280" y="243360"/>
              <a:ext cx="105840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4" name="Group 91_0"/>
            <p:cNvGrpSpPr/>
            <p:nvPr/>
          </p:nvGrpSpPr>
          <p:grpSpPr>
            <a:xfrm>
              <a:off x="7079400" y="243360"/>
              <a:ext cx="2879280" cy="348120"/>
              <a:chOff x="7079400" y="243360"/>
              <a:chExt cx="2879280" cy="348120"/>
            </a:xfrm>
          </p:grpSpPr>
          <p:sp>
            <p:nvSpPr>
              <p:cNvPr id="325" name="Rectangle 92_0"/>
              <p:cNvSpPr/>
              <p:nvPr/>
            </p:nvSpPr>
            <p:spPr>
              <a:xfrm>
                <a:off x="7079400" y="243360"/>
                <a:ext cx="88596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9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Max tree age</a:t>
                </a:r>
                <a:endParaRPr b="0" lang="en-US" sz="9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9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900" spc="-1" strike="noStrike">
                  <a:latin typeface="Arial"/>
                </a:endParaRPr>
              </a:p>
            </p:txBody>
          </p:sp>
          <p:sp>
            <p:nvSpPr>
              <p:cNvPr id="326" name="Rectangle 93_2"/>
              <p:cNvSpPr/>
              <p:nvPr/>
            </p:nvSpPr>
            <p:spPr>
              <a:xfrm>
                <a:off x="7923240" y="279720"/>
                <a:ext cx="203544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327" name="Group 89_3"/>
          <p:cNvGrpSpPr/>
          <p:nvPr/>
        </p:nvGrpSpPr>
        <p:grpSpPr>
          <a:xfrm>
            <a:off x="2919240" y="4343400"/>
            <a:ext cx="6224760" cy="685800"/>
            <a:chOff x="2919240" y="4343400"/>
            <a:chExt cx="6224760" cy="685800"/>
          </a:xfrm>
        </p:grpSpPr>
        <p:sp>
          <p:nvSpPr>
            <p:cNvPr id="328" name="Rectangle 93_3"/>
            <p:cNvSpPr/>
            <p:nvPr/>
          </p:nvSpPr>
          <p:spPr>
            <a:xfrm>
              <a:off x="2919240" y="4343400"/>
              <a:ext cx="6224760" cy="68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Large old trees, mixed age and species</a:t>
              </a:r>
              <a:endParaRPr b="0" lang="en-US" sz="2600" spc="-1" strike="noStrike">
                <a:latin typeface="Arial"/>
              </a:endParaRPr>
            </a:p>
          </p:txBody>
        </p:sp>
      </p:grpSp>
      <p:sp>
        <p:nvSpPr>
          <p:cNvPr id="329" name="Rectangle 60_2"/>
          <p:cNvSpPr/>
          <p:nvPr/>
        </p:nvSpPr>
        <p:spPr>
          <a:xfrm>
            <a:off x="305280" y="127116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Heavy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166200" y="1910880"/>
            <a:ext cx="566280" cy="31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3166200" y="1280520"/>
            <a:ext cx="566280" cy="31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2005560" y="128952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005560" y="187740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005560" y="253044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741240" y="3783240"/>
            <a:ext cx="1332360" cy="77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Clearcut and </a:t>
            </a:r>
            <a:br/>
            <a:r>
              <a:rPr b="0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seed DF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36" name="Rectangle 67_0"/>
          <p:cNvSpPr/>
          <p:nvPr/>
        </p:nvSpPr>
        <p:spPr>
          <a:xfrm>
            <a:off x="3654720" y="1260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37" name="Rectangle 67_2"/>
          <p:cNvSpPr/>
          <p:nvPr/>
        </p:nvSpPr>
        <p:spPr>
          <a:xfrm>
            <a:off x="3654720" y="18806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38" name="Rectangle 67_3"/>
          <p:cNvSpPr/>
          <p:nvPr/>
        </p:nvSpPr>
        <p:spPr>
          <a:xfrm>
            <a:off x="3654720" y="25012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grpSp>
        <p:nvGrpSpPr>
          <p:cNvPr id="339" name="Group 89_6"/>
          <p:cNvGrpSpPr/>
          <p:nvPr/>
        </p:nvGrpSpPr>
        <p:grpSpPr>
          <a:xfrm>
            <a:off x="1865880" y="277200"/>
            <a:ext cx="3938760" cy="311760"/>
            <a:chOff x="1865880" y="277200"/>
            <a:chExt cx="3938760" cy="311760"/>
          </a:xfrm>
        </p:grpSpPr>
        <p:sp>
          <p:nvSpPr>
            <p:cNvPr id="340" name="Rectangle 93_6"/>
            <p:cNvSpPr/>
            <p:nvPr/>
          </p:nvSpPr>
          <p:spPr>
            <a:xfrm>
              <a:off x="1865880" y="277200"/>
              <a:ext cx="393876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WOODS CREEK</a:t>
              </a:r>
              <a:endParaRPr b="0" lang="en-US" sz="2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traight Connector 37_2"/>
          <p:cNvSpPr/>
          <p:nvPr/>
        </p:nvSpPr>
        <p:spPr>
          <a:xfrm>
            <a:off x="47023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traight Connector 38_1"/>
          <p:cNvSpPr/>
          <p:nvPr/>
        </p:nvSpPr>
        <p:spPr>
          <a:xfrm>
            <a:off x="38728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traight Connector 39_1"/>
          <p:cNvSpPr/>
          <p:nvPr/>
        </p:nvSpPr>
        <p:spPr>
          <a:xfrm>
            <a:off x="30434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Straight Connector 40_1"/>
          <p:cNvSpPr/>
          <p:nvPr/>
        </p:nvSpPr>
        <p:spPr>
          <a:xfrm>
            <a:off x="22140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traight Connector 41_1"/>
          <p:cNvSpPr/>
          <p:nvPr/>
        </p:nvSpPr>
        <p:spPr>
          <a:xfrm>
            <a:off x="55314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Straight Connector 42_1"/>
          <p:cNvSpPr/>
          <p:nvPr/>
        </p:nvSpPr>
        <p:spPr>
          <a:xfrm>
            <a:off x="63608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Straight Connector 43_1"/>
          <p:cNvSpPr/>
          <p:nvPr/>
        </p:nvSpPr>
        <p:spPr>
          <a:xfrm>
            <a:off x="719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traight Connector 44_1"/>
          <p:cNvSpPr/>
          <p:nvPr/>
        </p:nvSpPr>
        <p:spPr>
          <a:xfrm>
            <a:off x="80197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Straight Connector 45_1"/>
          <p:cNvSpPr/>
          <p:nvPr/>
        </p:nvSpPr>
        <p:spPr>
          <a:xfrm>
            <a:off x="884916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50" name="Rectangle 46_1"/>
          <p:cNvSpPr/>
          <p:nvPr/>
        </p:nvSpPr>
        <p:spPr>
          <a:xfrm>
            <a:off x="196920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1" name="Rectangle 47_1"/>
          <p:cNvSpPr/>
          <p:nvPr/>
        </p:nvSpPr>
        <p:spPr>
          <a:xfrm>
            <a:off x="284148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2" name="Rectangle 48_1"/>
          <p:cNvSpPr/>
          <p:nvPr/>
        </p:nvSpPr>
        <p:spPr>
          <a:xfrm>
            <a:off x="367092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3" name="Rectangle 49_1"/>
          <p:cNvSpPr/>
          <p:nvPr/>
        </p:nvSpPr>
        <p:spPr>
          <a:xfrm>
            <a:off x="450036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4" name="Rectangle 50_1"/>
          <p:cNvSpPr/>
          <p:nvPr/>
        </p:nvSpPr>
        <p:spPr>
          <a:xfrm>
            <a:off x="5219640" y="395352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5" name="Rectangle 51_1"/>
          <p:cNvSpPr/>
          <p:nvPr/>
        </p:nvSpPr>
        <p:spPr>
          <a:xfrm>
            <a:off x="615924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6" name="Rectangle 52_1"/>
          <p:cNvSpPr/>
          <p:nvPr/>
        </p:nvSpPr>
        <p:spPr>
          <a:xfrm>
            <a:off x="6982920" y="3953520"/>
            <a:ext cx="47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57" name="Rectangle 53_1"/>
          <p:cNvSpPr/>
          <p:nvPr/>
        </p:nvSpPr>
        <p:spPr>
          <a:xfrm>
            <a:off x="781812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8" name="Rectangle 54_1"/>
          <p:cNvSpPr/>
          <p:nvPr/>
        </p:nvSpPr>
        <p:spPr>
          <a:xfrm>
            <a:off x="864756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9" name="Rectangle 55_1"/>
          <p:cNvSpPr/>
          <p:nvPr/>
        </p:nvSpPr>
        <p:spPr>
          <a:xfrm>
            <a:off x="1131120" y="395352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60" name="Rectangle 56_1"/>
          <p:cNvSpPr/>
          <p:nvPr/>
        </p:nvSpPr>
        <p:spPr>
          <a:xfrm>
            <a:off x="4462200" y="4368240"/>
            <a:ext cx="719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61" name="Rectangle 57_0"/>
          <p:cNvSpPr/>
          <p:nvPr/>
        </p:nvSpPr>
        <p:spPr>
          <a:xfrm>
            <a:off x="558360" y="861840"/>
            <a:ext cx="110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2" name="Rectangle 58_0"/>
          <p:cNvSpPr/>
          <p:nvPr/>
        </p:nvSpPr>
        <p:spPr>
          <a:xfrm>
            <a:off x="514440" y="1483920"/>
            <a:ext cx="12517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3" name="Rectangle 59_0"/>
          <p:cNvSpPr/>
          <p:nvPr/>
        </p:nvSpPr>
        <p:spPr>
          <a:xfrm>
            <a:off x="565560" y="2127240"/>
            <a:ext cx="10699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4" name="Rectangle 60_1"/>
          <p:cNvSpPr/>
          <p:nvPr/>
        </p:nvSpPr>
        <p:spPr>
          <a:xfrm>
            <a:off x="514440" y="274068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5" name="Rectangle 61_1"/>
          <p:cNvSpPr/>
          <p:nvPr/>
        </p:nvSpPr>
        <p:spPr>
          <a:xfrm>
            <a:off x="635400" y="3359880"/>
            <a:ext cx="10000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6" name="Straight Connector 62_1"/>
          <p:cNvSpPr/>
          <p:nvPr/>
        </p:nvSpPr>
        <p:spPr>
          <a:xfrm>
            <a:off x="1430280" y="829440"/>
            <a:ext cx="21240" cy="352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Rectangle 63_1"/>
          <p:cNvSpPr/>
          <p:nvPr/>
        </p:nvSpPr>
        <p:spPr>
          <a:xfrm>
            <a:off x="1430280" y="3317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Rectangle 64_0"/>
          <p:cNvSpPr/>
          <p:nvPr/>
        </p:nvSpPr>
        <p:spPr>
          <a:xfrm>
            <a:off x="8632080" y="3348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69" name="Rectangle 65_0"/>
          <p:cNvSpPr/>
          <p:nvPr/>
        </p:nvSpPr>
        <p:spPr>
          <a:xfrm>
            <a:off x="7125120" y="3348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70" name="Rectangle 67_1"/>
          <p:cNvSpPr/>
          <p:nvPr/>
        </p:nvSpPr>
        <p:spPr>
          <a:xfrm>
            <a:off x="3311280" y="3342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grpSp>
        <p:nvGrpSpPr>
          <p:cNvPr id="371" name="Group 68_1"/>
          <p:cNvGrpSpPr/>
          <p:nvPr/>
        </p:nvGrpSpPr>
        <p:grpSpPr>
          <a:xfrm>
            <a:off x="1428480" y="829440"/>
            <a:ext cx="7616160" cy="2278080"/>
            <a:chOff x="1428480" y="829440"/>
            <a:chExt cx="7616160" cy="2278080"/>
          </a:xfrm>
        </p:grpSpPr>
        <p:sp>
          <p:nvSpPr>
            <p:cNvPr id="372" name="Rectangle 69_0"/>
            <p:cNvSpPr/>
            <p:nvPr/>
          </p:nvSpPr>
          <p:spPr>
            <a:xfrm>
              <a:off x="5531400" y="829440"/>
              <a:ext cx="330408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3" name="Rectangle 70_0"/>
            <p:cNvSpPr/>
            <p:nvPr/>
          </p:nvSpPr>
          <p:spPr>
            <a:xfrm>
              <a:off x="5531760" y="1451160"/>
              <a:ext cx="3303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4" name="Rectangle 71_0"/>
            <p:cNvSpPr/>
            <p:nvPr/>
          </p:nvSpPr>
          <p:spPr>
            <a:xfrm>
              <a:off x="8617320" y="14828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5" name="Rectangle 72_0"/>
            <p:cNvSpPr/>
            <p:nvPr/>
          </p:nvSpPr>
          <p:spPr>
            <a:xfrm>
              <a:off x="8617320" y="8607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6" name="Rectangle 73_0"/>
            <p:cNvSpPr/>
            <p:nvPr/>
          </p:nvSpPr>
          <p:spPr>
            <a:xfrm>
              <a:off x="7136640" y="860760"/>
              <a:ext cx="418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7" name="Rectangle 74_0"/>
            <p:cNvSpPr/>
            <p:nvPr/>
          </p:nvSpPr>
          <p:spPr>
            <a:xfrm>
              <a:off x="7130160" y="148392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8" name="Rectangle 75_0"/>
            <p:cNvSpPr/>
            <p:nvPr/>
          </p:nvSpPr>
          <p:spPr>
            <a:xfrm>
              <a:off x="1429920" y="829440"/>
              <a:ext cx="4100760" cy="4122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9" name="Rectangle 76_1"/>
            <p:cNvSpPr/>
            <p:nvPr/>
          </p:nvSpPr>
          <p:spPr>
            <a:xfrm>
              <a:off x="1429920" y="2073960"/>
              <a:ext cx="209412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0" name="Rectangle 77_0"/>
            <p:cNvSpPr/>
            <p:nvPr/>
          </p:nvSpPr>
          <p:spPr>
            <a:xfrm>
              <a:off x="1429920" y="1451880"/>
              <a:ext cx="410076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1" name="Rectangle 78_1"/>
            <p:cNvSpPr/>
            <p:nvPr/>
          </p:nvSpPr>
          <p:spPr>
            <a:xfrm>
              <a:off x="1428480" y="2695680"/>
              <a:ext cx="209556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82" name="Group 79_1"/>
          <p:cNvGrpSpPr/>
          <p:nvPr/>
        </p:nvGrpSpPr>
        <p:grpSpPr>
          <a:xfrm>
            <a:off x="3525120" y="2073600"/>
            <a:ext cx="5537520" cy="1033920"/>
            <a:chOff x="3525120" y="2073600"/>
            <a:chExt cx="5537520" cy="1033920"/>
          </a:xfrm>
        </p:grpSpPr>
        <p:sp>
          <p:nvSpPr>
            <p:cNvPr id="383" name="Rectangle 80_1"/>
            <p:cNvSpPr/>
            <p:nvPr/>
          </p:nvSpPr>
          <p:spPr>
            <a:xfrm>
              <a:off x="3525120" y="2073600"/>
              <a:ext cx="5328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4" name="Rectangle 81_1"/>
            <p:cNvSpPr/>
            <p:nvPr/>
          </p:nvSpPr>
          <p:spPr>
            <a:xfrm>
              <a:off x="3525120" y="2695320"/>
              <a:ext cx="5328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5" name="Rectangle 82_0"/>
            <p:cNvSpPr/>
            <p:nvPr/>
          </p:nvSpPr>
          <p:spPr>
            <a:xfrm>
              <a:off x="8635680" y="272808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6" name="Rectangle 83_0"/>
            <p:cNvSpPr/>
            <p:nvPr/>
          </p:nvSpPr>
          <p:spPr>
            <a:xfrm>
              <a:off x="8635680" y="210636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7" name="Rectangle 84_0"/>
            <p:cNvSpPr/>
            <p:nvPr/>
          </p:nvSpPr>
          <p:spPr>
            <a:xfrm>
              <a:off x="7121880" y="272808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8" name="Rectangle 85_0"/>
            <p:cNvSpPr/>
            <p:nvPr/>
          </p:nvSpPr>
          <p:spPr>
            <a:xfrm>
              <a:off x="7127280" y="210492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9" name="Rectangle 86_1"/>
            <p:cNvSpPr/>
            <p:nvPr/>
          </p:nvSpPr>
          <p:spPr>
            <a:xfrm>
              <a:off x="4503240" y="210492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90" name="Rectangle 87_0"/>
            <p:cNvSpPr/>
            <p:nvPr/>
          </p:nvSpPr>
          <p:spPr>
            <a:xfrm>
              <a:off x="4488480" y="272808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391" name="Rectangle 88_1"/>
          <p:cNvSpPr/>
          <p:nvPr/>
        </p:nvSpPr>
        <p:spPr>
          <a:xfrm rot="16180800">
            <a:off x="-427680" y="2161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392" name="Group 89_0"/>
          <p:cNvGrpSpPr/>
          <p:nvPr/>
        </p:nvGrpSpPr>
        <p:grpSpPr>
          <a:xfrm>
            <a:off x="6629400" y="207360"/>
            <a:ext cx="2077200" cy="348120"/>
            <a:chOff x="6629400" y="207360"/>
            <a:chExt cx="2077200" cy="348120"/>
          </a:xfrm>
        </p:grpSpPr>
        <p:sp>
          <p:nvSpPr>
            <p:cNvPr id="393" name="Rectangle 90_1"/>
            <p:cNvSpPr/>
            <p:nvPr/>
          </p:nvSpPr>
          <p:spPr>
            <a:xfrm>
              <a:off x="6815520" y="243720"/>
              <a:ext cx="189108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94" name="Group 91_1"/>
            <p:cNvGrpSpPr/>
            <p:nvPr/>
          </p:nvGrpSpPr>
          <p:grpSpPr>
            <a:xfrm>
              <a:off x="6629400" y="207360"/>
              <a:ext cx="2055600" cy="348120"/>
              <a:chOff x="6629400" y="207360"/>
              <a:chExt cx="2055600" cy="348120"/>
            </a:xfrm>
          </p:grpSpPr>
          <p:sp>
            <p:nvSpPr>
              <p:cNvPr id="395" name="Rectangle 92_1"/>
              <p:cNvSpPr/>
              <p:nvPr/>
            </p:nvSpPr>
            <p:spPr>
              <a:xfrm>
                <a:off x="6629400" y="207360"/>
                <a:ext cx="63252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96" name="Rectangle 93_0"/>
              <p:cNvSpPr/>
              <p:nvPr/>
            </p:nvSpPr>
            <p:spPr>
              <a:xfrm>
                <a:off x="7232040" y="243720"/>
                <a:ext cx="145296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397" name="TextBox 96_0"/>
          <p:cNvSpPr/>
          <p:nvPr/>
        </p:nvSpPr>
        <p:spPr>
          <a:xfrm>
            <a:off x="3732120" y="565920"/>
            <a:ext cx="2072160" cy="44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TextBox 97_0"/>
          <p:cNvSpPr/>
          <p:nvPr/>
        </p:nvSpPr>
        <p:spPr>
          <a:xfrm>
            <a:off x="7556400" y="556560"/>
            <a:ext cx="1156320" cy="44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399" name="Group 89_1"/>
          <p:cNvGrpSpPr/>
          <p:nvPr/>
        </p:nvGrpSpPr>
        <p:grpSpPr>
          <a:xfrm>
            <a:off x="1865880" y="243360"/>
            <a:ext cx="1334520" cy="311760"/>
            <a:chOff x="1865880" y="243360"/>
            <a:chExt cx="1334520" cy="311760"/>
          </a:xfrm>
        </p:grpSpPr>
        <p:sp>
          <p:nvSpPr>
            <p:cNvPr id="400" name="Rectangle 93_1"/>
            <p:cNvSpPr/>
            <p:nvPr/>
          </p:nvSpPr>
          <p:spPr>
            <a:xfrm>
              <a:off x="1865880" y="24336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sp>
        <p:nvSpPr>
          <p:cNvPr id="401" name=""/>
          <p:cNvSpPr txBox="1"/>
          <p:nvPr/>
        </p:nvSpPr>
        <p:spPr>
          <a:xfrm>
            <a:off x="741240" y="435420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LRR survey,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02" name="Rectangle 57_2"/>
          <p:cNvSpPr/>
          <p:nvPr/>
        </p:nvSpPr>
        <p:spPr>
          <a:xfrm>
            <a:off x="2536920" y="86184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3" name="Rectangle 57_3"/>
          <p:cNvSpPr/>
          <p:nvPr/>
        </p:nvSpPr>
        <p:spPr>
          <a:xfrm>
            <a:off x="2536920" y="148248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4" name="Rectangle 57_4"/>
          <p:cNvSpPr/>
          <p:nvPr/>
        </p:nvSpPr>
        <p:spPr>
          <a:xfrm>
            <a:off x="1720800" y="210276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5" name="Rectangle 57_5"/>
          <p:cNvSpPr/>
          <p:nvPr/>
        </p:nvSpPr>
        <p:spPr>
          <a:xfrm>
            <a:off x="1720800" y="272304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6" name="Straight Connector 62_2"/>
          <p:cNvSpPr/>
          <p:nvPr/>
        </p:nvSpPr>
        <p:spPr>
          <a:xfrm>
            <a:off x="3518640" y="2073600"/>
            <a:ext cx="21240" cy="2280960"/>
          </a:xfrm>
          <a:prstGeom prst="line">
            <a:avLst/>
          </a:prstGeom>
          <a:ln w="0">
            <a:solidFill>
              <a:srgbClr val="3465a4"/>
            </a:solidFill>
            <a:prstDash val="sysDash"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Straight Connector 62_3"/>
          <p:cNvSpPr/>
          <p:nvPr/>
        </p:nvSpPr>
        <p:spPr>
          <a:xfrm>
            <a:off x="1430640" y="829800"/>
            <a:ext cx="21240" cy="352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8" name="Straight Connector 62_4"/>
          <p:cNvSpPr/>
          <p:nvPr/>
        </p:nvSpPr>
        <p:spPr>
          <a:xfrm>
            <a:off x="5531760" y="3939840"/>
            <a:ext cx="0" cy="403560"/>
          </a:xfrm>
          <a:prstGeom prst="line">
            <a:avLst/>
          </a:prstGeom>
          <a:ln w="0">
            <a:solidFill>
              <a:srgbClr val="3465a4"/>
            </a:solidFill>
            <a:prstDash val="sysDash"/>
          </a:ln>
        </p:spPr>
        <p:style>
          <a:lnRef idx="0"/>
          <a:fillRef idx="0"/>
          <a:effectRef idx="0"/>
          <a:fontRef idx="minor"/>
        </p:style>
      </p:sp>
      <p:sp>
        <p:nvSpPr>
          <p:cNvPr id="409" name=""/>
          <p:cNvSpPr txBox="1"/>
          <p:nvPr/>
        </p:nvSpPr>
        <p:spPr>
          <a:xfrm>
            <a:off x="2865600" y="435456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12y trts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 DF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4881960" y="435492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25y trts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 DF</a:t>
            </a:r>
            <a:endParaRPr b="0" lang="en-US" sz="1100" spc="-1" strike="noStrike">
              <a:latin typeface="Arial"/>
            </a:endParaRPr>
          </a:p>
        </p:txBody>
      </p:sp>
      <p:grpSp>
        <p:nvGrpSpPr>
          <p:cNvPr id="411" name="Group 89_7"/>
          <p:cNvGrpSpPr/>
          <p:nvPr/>
        </p:nvGrpSpPr>
        <p:grpSpPr>
          <a:xfrm>
            <a:off x="6437880" y="4271400"/>
            <a:ext cx="3163320" cy="914400"/>
            <a:chOff x="6437880" y="4271400"/>
            <a:chExt cx="3163320" cy="914400"/>
          </a:xfrm>
        </p:grpSpPr>
        <p:sp>
          <p:nvSpPr>
            <p:cNvPr id="412" name="Rectangle 93_7"/>
            <p:cNvSpPr/>
            <p:nvPr/>
          </p:nvSpPr>
          <p:spPr>
            <a:xfrm>
              <a:off x="6437880" y="4271400"/>
              <a:ext cx="3163320" cy="91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Small Douglas fir, even* age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Straight Connector 98_1"/>
          <p:cNvSpPr/>
          <p:nvPr/>
        </p:nvSpPr>
        <p:spPr>
          <a:xfrm>
            <a:off x="47023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Straight Connector 99_0"/>
          <p:cNvSpPr/>
          <p:nvPr/>
        </p:nvSpPr>
        <p:spPr>
          <a:xfrm>
            <a:off x="38728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Straight Connector 100_0"/>
          <p:cNvSpPr/>
          <p:nvPr/>
        </p:nvSpPr>
        <p:spPr>
          <a:xfrm>
            <a:off x="30434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6" name="Straight Connector 101_0"/>
          <p:cNvSpPr/>
          <p:nvPr/>
        </p:nvSpPr>
        <p:spPr>
          <a:xfrm>
            <a:off x="22140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7" name="Straight Connector 102_0"/>
          <p:cNvSpPr/>
          <p:nvPr/>
        </p:nvSpPr>
        <p:spPr>
          <a:xfrm>
            <a:off x="55314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Straight Connector 103_0"/>
          <p:cNvSpPr/>
          <p:nvPr/>
        </p:nvSpPr>
        <p:spPr>
          <a:xfrm>
            <a:off x="63608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9" name="Straight Connector 104_0"/>
          <p:cNvSpPr/>
          <p:nvPr/>
        </p:nvSpPr>
        <p:spPr>
          <a:xfrm>
            <a:off x="719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Straight Connector 105_0"/>
          <p:cNvSpPr/>
          <p:nvPr/>
        </p:nvSpPr>
        <p:spPr>
          <a:xfrm>
            <a:off x="80197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1" name="Straight Connector 106_0"/>
          <p:cNvSpPr/>
          <p:nvPr/>
        </p:nvSpPr>
        <p:spPr>
          <a:xfrm>
            <a:off x="884916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Rectangle 107_0"/>
          <p:cNvSpPr/>
          <p:nvPr/>
        </p:nvSpPr>
        <p:spPr>
          <a:xfrm>
            <a:off x="2077200" y="3953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3" name="Rectangle 108_0"/>
          <p:cNvSpPr/>
          <p:nvPr/>
        </p:nvSpPr>
        <p:spPr>
          <a:xfrm>
            <a:off x="284148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4" name="Rectangle 109_0"/>
          <p:cNvSpPr/>
          <p:nvPr/>
        </p:nvSpPr>
        <p:spPr>
          <a:xfrm>
            <a:off x="367092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5" name="Rectangle 110_0"/>
          <p:cNvSpPr/>
          <p:nvPr/>
        </p:nvSpPr>
        <p:spPr>
          <a:xfrm>
            <a:off x="450036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6" name="Rectangle 111_0"/>
          <p:cNvSpPr/>
          <p:nvPr/>
        </p:nvSpPr>
        <p:spPr>
          <a:xfrm>
            <a:off x="532980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7" name="Rectangle 112_0"/>
          <p:cNvSpPr/>
          <p:nvPr/>
        </p:nvSpPr>
        <p:spPr>
          <a:xfrm>
            <a:off x="615924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8" name="Rectangle 113_0"/>
          <p:cNvSpPr/>
          <p:nvPr/>
        </p:nvSpPr>
        <p:spPr>
          <a:xfrm>
            <a:off x="6982920" y="3953520"/>
            <a:ext cx="4125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9" name="Rectangle 114_0"/>
          <p:cNvSpPr/>
          <p:nvPr/>
        </p:nvSpPr>
        <p:spPr>
          <a:xfrm>
            <a:off x="781812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0" name="Rectangle 115_0"/>
          <p:cNvSpPr/>
          <p:nvPr/>
        </p:nvSpPr>
        <p:spPr>
          <a:xfrm>
            <a:off x="864756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1" name="Rectangle 116_0"/>
          <p:cNvSpPr/>
          <p:nvPr/>
        </p:nvSpPr>
        <p:spPr>
          <a:xfrm>
            <a:off x="1275120" y="3953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2" name="Rectangle 117_0"/>
          <p:cNvSpPr/>
          <p:nvPr/>
        </p:nvSpPr>
        <p:spPr>
          <a:xfrm>
            <a:off x="3840120" y="4368240"/>
            <a:ext cx="2933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3" name="Rectangle 118_0"/>
          <p:cNvSpPr/>
          <p:nvPr/>
        </p:nvSpPr>
        <p:spPr>
          <a:xfrm>
            <a:off x="597240" y="8618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4" name="Rectangle 119_0"/>
          <p:cNvSpPr/>
          <p:nvPr/>
        </p:nvSpPr>
        <p:spPr>
          <a:xfrm>
            <a:off x="532080" y="148392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5" name="Rectangle 120_0"/>
          <p:cNvSpPr/>
          <p:nvPr/>
        </p:nvSpPr>
        <p:spPr>
          <a:xfrm>
            <a:off x="597240" y="21272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6" name="Rectangle 121_0"/>
          <p:cNvSpPr/>
          <p:nvPr/>
        </p:nvSpPr>
        <p:spPr>
          <a:xfrm>
            <a:off x="499320" y="27406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7" name="Rectangle 122_0"/>
          <p:cNvSpPr/>
          <p:nvPr/>
        </p:nvSpPr>
        <p:spPr>
          <a:xfrm>
            <a:off x="695520" y="33598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8" name="Straight Connector 123_0"/>
          <p:cNvSpPr/>
          <p:nvPr/>
        </p:nvSpPr>
        <p:spPr>
          <a:xfrm>
            <a:off x="143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Rectangle 124_0"/>
          <p:cNvSpPr/>
          <p:nvPr/>
        </p:nvSpPr>
        <p:spPr>
          <a:xfrm>
            <a:off x="1430640" y="82944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0" name="Rectangle 125_0"/>
          <p:cNvSpPr/>
          <p:nvPr/>
        </p:nvSpPr>
        <p:spPr>
          <a:xfrm>
            <a:off x="1430640" y="145116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Rectangle 126_0"/>
          <p:cNvSpPr/>
          <p:nvPr/>
        </p:nvSpPr>
        <p:spPr>
          <a:xfrm>
            <a:off x="1430280" y="207360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Rectangle 127_0"/>
          <p:cNvSpPr/>
          <p:nvPr/>
        </p:nvSpPr>
        <p:spPr>
          <a:xfrm>
            <a:off x="1430280" y="269532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Rectangle 128_0"/>
          <p:cNvSpPr/>
          <p:nvPr/>
        </p:nvSpPr>
        <p:spPr>
          <a:xfrm>
            <a:off x="1430280" y="3317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4" name="Rectangle 129_0"/>
          <p:cNvSpPr/>
          <p:nvPr/>
        </p:nvSpPr>
        <p:spPr>
          <a:xfrm>
            <a:off x="8632080" y="3348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5" name="Rectangle 130_0"/>
          <p:cNvSpPr/>
          <p:nvPr/>
        </p:nvSpPr>
        <p:spPr>
          <a:xfrm>
            <a:off x="6610680" y="2728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6" name="Rectangle 131_0"/>
          <p:cNvSpPr/>
          <p:nvPr/>
        </p:nvSpPr>
        <p:spPr>
          <a:xfrm>
            <a:off x="6610680" y="2106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7" name="Rectangle 132_0"/>
          <p:cNvSpPr/>
          <p:nvPr/>
        </p:nvSpPr>
        <p:spPr>
          <a:xfrm>
            <a:off x="4527360" y="14828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8" name="Rectangle 133_0"/>
          <p:cNvSpPr/>
          <p:nvPr/>
        </p:nvSpPr>
        <p:spPr>
          <a:xfrm>
            <a:off x="4527360" y="8611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9" name="Rectangle 134_0"/>
          <p:cNvSpPr/>
          <p:nvPr/>
        </p:nvSpPr>
        <p:spPr>
          <a:xfrm>
            <a:off x="7092360" y="3348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0" name="Rectangle 136_0"/>
          <p:cNvSpPr/>
          <p:nvPr/>
        </p:nvSpPr>
        <p:spPr>
          <a:xfrm>
            <a:off x="2977920" y="3342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1" name="Rectangle 137_0"/>
          <p:cNvSpPr/>
          <p:nvPr/>
        </p:nvSpPr>
        <p:spPr>
          <a:xfrm>
            <a:off x="5227920" y="272808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2" name="Rectangle 138_0"/>
          <p:cNvSpPr/>
          <p:nvPr/>
        </p:nvSpPr>
        <p:spPr>
          <a:xfrm>
            <a:off x="5232960" y="2104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3" name="Rectangle 139_0"/>
          <p:cNvSpPr/>
          <p:nvPr/>
        </p:nvSpPr>
        <p:spPr>
          <a:xfrm>
            <a:off x="2981160" y="8611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4" name="Rectangle 140_0"/>
          <p:cNvSpPr/>
          <p:nvPr/>
        </p:nvSpPr>
        <p:spPr>
          <a:xfrm>
            <a:off x="2975040" y="1483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5" name="Rectangle 141_0"/>
          <p:cNvSpPr/>
          <p:nvPr/>
        </p:nvSpPr>
        <p:spPr>
          <a:xfrm>
            <a:off x="2608920" y="21049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6" name="Rectangle 142_0"/>
          <p:cNvSpPr/>
          <p:nvPr/>
        </p:nvSpPr>
        <p:spPr>
          <a:xfrm>
            <a:off x="2594160" y="2728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7" name="Rectangle 143_0"/>
          <p:cNvSpPr/>
          <p:nvPr/>
        </p:nvSpPr>
        <p:spPr>
          <a:xfrm rot="16180800">
            <a:off x="-355680" y="2161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458" name="Group 144_0"/>
          <p:cNvGrpSpPr/>
          <p:nvPr/>
        </p:nvGrpSpPr>
        <p:grpSpPr>
          <a:xfrm>
            <a:off x="6951960" y="271440"/>
            <a:ext cx="1833480" cy="348120"/>
            <a:chOff x="6951960" y="271440"/>
            <a:chExt cx="1833480" cy="348120"/>
          </a:xfrm>
        </p:grpSpPr>
        <p:sp>
          <p:nvSpPr>
            <p:cNvPr id="459" name="Rectangle 145_0"/>
            <p:cNvSpPr/>
            <p:nvPr/>
          </p:nvSpPr>
          <p:spPr>
            <a:xfrm>
              <a:off x="7049880" y="307800"/>
              <a:ext cx="165672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60" name="Group 146_0"/>
            <p:cNvGrpSpPr/>
            <p:nvPr/>
          </p:nvGrpSpPr>
          <p:grpSpPr>
            <a:xfrm>
              <a:off x="6951960" y="271440"/>
              <a:ext cx="1833480" cy="348120"/>
              <a:chOff x="6951960" y="271440"/>
              <a:chExt cx="1833480" cy="348120"/>
            </a:xfrm>
          </p:grpSpPr>
          <p:sp>
            <p:nvSpPr>
              <p:cNvPr id="461" name="Rectangle 147_0"/>
              <p:cNvSpPr/>
              <p:nvPr/>
            </p:nvSpPr>
            <p:spPr>
              <a:xfrm>
                <a:off x="6951960" y="271440"/>
                <a:ext cx="58752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8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800" spc="-1" strike="noStrike">
                  <a:latin typeface="Arial"/>
                </a:endParaRPr>
              </a:p>
            </p:txBody>
          </p:sp>
          <p:sp>
            <p:nvSpPr>
              <p:cNvPr id="462" name="Rectangle 148_0"/>
              <p:cNvSpPr/>
              <p:nvPr/>
            </p:nvSpPr>
            <p:spPr>
              <a:xfrm>
                <a:off x="7512480" y="307800"/>
                <a:ext cx="127296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463" name="Group 89_5"/>
          <p:cNvGrpSpPr/>
          <p:nvPr/>
        </p:nvGrpSpPr>
        <p:grpSpPr>
          <a:xfrm>
            <a:off x="1865880" y="246240"/>
            <a:ext cx="1334520" cy="311760"/>
            <a:chOff x="1865880" y="246240"/>
            <a:chExt cx="1334520" cy="311760"/>
          </a:xfrm>
        </p:grpSpPr>
        <p:sp>
          <p:nvSpPr>
            <p:cNvPr id="464" name="Rectangle 93_5"/>
            <p:cNvSpPr/>
            <p:nvPr/>
          </p:nvSpPr>
          <p:spPr>
            <a:xfrm>
              <a:off x="1865880" y="24624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traight Connector 98_0"/>
          <p:cNvSpPr/>
          <p:nvPr/>
        </p:nvSpPr>
        <p:spPr>
          <a:xfrm>
            <a:off x="47023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traight Connector 99_1"/>
          <p:cNvSpPr/>
          <p:nvPr/>
        </p:nvSpPr>
        <p:spPr>
          <a:xfrm>
            <a:off x="38728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Straight Connector 100_1"/>
          <p:cNvSpPr/>
          <p:nvPr/>
        </p:nvSpPr>
        <p:spPr>
          <a:xfrm>
            <a:off x="30434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8" name="Straight Connector 101_1"/>
          <p:cNvSpPr/>
          <p:nvPr/>
        </p:nvSpPr>
        <p:spPr>
          <a:xfrm>
            <a:off x="22140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9" name="Straight Connector 102_1"/>
          <p:cNvSpPr/>
          <p:nvPr/>
        </p:nvSpPr>
        <p:spPr>
          <a:xfrm>
            <a:off x="55314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0" name="Straight Connector 103_1"/>
          <p:cNvSpPr/>
          <p:nvPr/>
        </p:nvSpPr>
        <p:spPr>
          <a:xfrm>
            <a:off x="63608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traight Connector 104_1"/>
          <p:cNvSpPr/>
          <p:nvPr/>
        </p:nvSpPr>
        <p:spPr>
          <a:xfrm>
            <a:off x="719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traight Connector 105_1"/>
          <p:cNvSpPr/>
          <p:nvPr/>
        </p:nvSpPr>
        <p:spPr>
          <a:xfrm>
            <a:off x="80197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Straight Connector 106_1"/>
          <p:cNvSpPr/>
          <p:nvPr/>
        </p:nvSpPr>
        <p:spPr>
          <a:xfrm>
            <a:off x="884916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4" name="Rectangle 107_1"/>
          <p:cNvSpPr/>
          <p:nvPr/>
        </p:nvSpPr>
        <p:spPr>
          <a:xfrm>
            <a:off x="207720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5" name="Rectangle 108_1"/>
          <p:cNvSpPr/>
          <p:nvPr/>
        </p:nvSpPr>
        <p:spPr>
          <a:xfrm>
            <a:off x="284148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6" name="Rectangle 109_1"/>
          <p:cNvSpPr/>
          <p:nvPr/>
        </p:nvSpPr>
        <p:spPr>
          <a:xfrm>
            <a:off x="36709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7" name="Rectangle 110_1"/>
          <p:cNvSpPr/>
          <p:nvPr/>
        </p:nvSpPr>
        <p:spPr>
          <a:xfrm>
            <a:off x="45003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8" name="Rectangle 111_1"/>
          <p:cNvSpPr/>
          <p:nvPr/>
        </p:nvSpPr>
        <p:spPr>
          <a:xfrm>
            <a:off x="532980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9" name="Rectangle 112_1"/>
          <p:cNvSpPr/>
          <p:nvPr/>
        </p:nvSpPr>
        <p:spPr>
          <a:xfrm>
            <a:off x="615924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0" name="Rectangle 113_1"/>
          <p:cNvSpPr/>
          <p:nvPr/>
        </p:nvSpPr>
        <p:spPr>
          <a:xfrm>
            <a:off x="6982920" y="3989520"/>
            <a:ext cx="4125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1" name="Rectangle 114_1"/>
          <p:cNvSpPr/>
          <p:nvPr/>
        </p:nvSpPr>
        <p:spPr>
          <a:xfrm>
            <a:off x="78181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2" name="Rectangle 115_1"/>
          <p:cNvSpPr/>
          <p:nvPr/>
        </p:nvSpPr>
        <p:spPr>
          <a:xfrm>
            <a:off x="86475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3" name="Rectangle 116_1"/>
          <p:cNvSpPr/>
          <p:nvPr/>
        </p:nvSpPr>
        <p:spPr>
          <a:xfrm>
            <a:off x="127512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4" name="Rectangle 117_1"/>
          <p:cNvSpPr/>
          <p:nvPr/>
        </p:nvSpPr>
        <p:spPr>
          <a:xfrm>
            <a:off x="3840120" y="4692240"/>
            <a:ext cx="7318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Age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5" name="Rectangle 118_1"/>
          <p:cNvSpPr/>
          <p:nvPr/>
        </p:nvSpPr>
        <p:spPr>
          <a:xfrm>
            <a:off x="597240" y="8978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6" name="Rectangle 119_1"/>
          <p:cNvSpPr/>
          <p:nvPr/>
        </p:nvSpPr>
        <p:spPr>
          <a:xfrm>
            <a:off x="532080" y="151992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7" name="Rectangle 120_1"/>
          <p:cNvSpPr/>
          <p:nvPr/>
        </p:nvSpPr>
        <p:spPr>
          <a:xfrm>
            <a:off x="597240" y="21632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8" name="Rectangle 121_1"/>
          <p:cNvSpPr/>
          <p:nvPr/>
        </p:nvSpPr>
        <p:spPr>
          <a:xfrm>
            <a:off x="499320" y="27766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9" name="Rectangle 122_1"/>
          <p:cNvSpPr/>
          <p:nvPr/>
        </p:nvSpPr>
        <p:spPr>
          <a:xfrm>
            <a:off x="695520" y="33958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0" name="Straight Connector 123_1"/>
          <p:cNvSpPr/>
          <p:nvPr/>
        </p:nvSpPr>
        <p:spPr>
          <a:xfrm>
            <a:off x="143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1" name="Rectangle 124_1"/>
          <p:cNvSpPr/>
          <p:nvPr/>
        </p:nvSpPr>
        <p:spPr>
          <a:xfrm>
            <a:off x="1430640" y="86544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2" name="Rectangle 125_1"/>
          <p:cNvSpPr/>
          <p:nvPr/>
        </p:nvSpPr>
        <p:spPr>
          <a:xfrm>
            <a:off x="1430640" y="148716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Rectangle 126_1"/>
          <p:cNvSpPr/>
          <p:nvPr/>
        </p:nvSpPr>
        <p:spPr>
          <a:xfrm>
            <a:off x="1430280" y="210960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Rectangle 127_1"/>
          <p:cNvSpPr/>
          <p:nvPr/>
        </p:nvSpPr>
        <p:spPr>
          <a:xfrm>
            <a:off x="1430280" y="273132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5" name="Rectangle 128_1"/>
          <p:cNvSpPr/>
          <p:nvPr/>
        </p:nvSpPr>
        <p:spPr>
          <a:xfrm>
            <a:off x="1430280" y="3353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6" name="Rectangle 129_1"/>
          <p:cNvSpPr/>
          <p:nvPr/>
        </p:nvSpPr>
        <p:spPr>
          <a:xfrm>
            <a:off x="8632080" y="3384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7" name="Rectangle 130_1"/>
          <p:cNvSpPr/>
          <p:nvPr/>
        </p:nvSpPr>
        <p:spPr>
          <a:xfrm>
            <a:off x="661068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8" name="Rectangle 131_1"/>
          <p:cNvSpPr/>
          <p:nvPr/>
        </p:nvSpPr>
        <p:spPr>
          <a:xfrm>
            <a:off x="6610680" y="2142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9" name="Rectangle 132_1"/>
          <p:cNvSpPr/>
          <p:nvPr/>
        </p:nvSpPr>
        <p:spPr>
          <a:xfrm>
            <a:off x="4527360" y="15188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0" name="Rectangle 133_1"/>
          <p:cNvSpPr/>
          <p:nvPr/>
        </p:nvSpPr>
        <p:spPr>
          <a:xfrm>
            <a:off x="4527360" y="8971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1" name="Rectangle 134_1"/>
          <p:cNvSpPr/>
          <p:nvPr/>
        </p:nvSpPr>
        <p:spPr>
          <a:xfrm>
            <a:off x="7092360" y="3384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2" name="Rectangle 136_1"/>
          <p:cNvSpPr/>
          <p:nvPr/>
        </p:nvSpPr>
        <p:spPr>
          <a:xfrm>
            <a:off x="2977920" y="3378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3" name="Rectangle 137_1"/>
          <p:cNvSpPr/>
          <p:nvPr/>
        </p:nvSpPr>
        <p:spPr>
          <a:xfrm>
            <a:off x="5227920" y="276408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4" name="Rectangle 138_1"/>
          <p:cNvSpPr/>
          <p:nvPr/>
        </p:nvSpPr>
        <p:spPr>
          <a:xfrm>
            <a:off x="5232960" y="2140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5" name="Rectangle 139_1"/>
          <p:cNvSpPr/>
          <p:nvPr/>
        </p:nvSpPr>
        <p:spPr>
          <a:xfrm>
            <a:off x="2981160" y="8971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6" name="Rectangle 140_1"/>
          <p:cNvSpPr/>
          <p:nvPr/>
        </p:nvSpPr>
        <p:spPr>
          <a:xfrm>
            <a:off x="2975040" y="1519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7" name="Rectangle 141_1"/>
          <p:cNvSpPr/>
          <p:nvPr/>
        </p:nvSpPr>
        <p:spPr>
          <a:xfrm>
            <a:off x="2608920" y="21409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8" name="Rectangle 142_1"/>
          <p:cNvSpPr/>
          <p:nvPr/>
        </p:nvSpPr>
        <p:spPr>
          <a:xfrm>
            <a:off x="259416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9" name="Rectangle 143_1"/>
          <p:cNvSpPr/>
          <p:nvPr/>
        </p:nvSpPr>
        <p:spPr>
          <a:xfrm rot="16180800">
            <a:off x="-355680" y="2197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3200400" y="3765600"/>
            <a:ext cx="0" cy="5778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"/>
          <p:cNvSpPr/>
          <p:nvPr/>
        </p:nvSpPr>
        <p:spPr>
          <a:xfrm>
            <a:off x="7315200" y="3732840"/>
            <a:ext cx="0" cy="61056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2" name=""/>
          <p:cNvSpPr/>
          <p:nvPr/>
        </p:nvSpPr>
        <p:spPr>
          <a:xfrm>
            <a:off x="27432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"/>
          <p:cNvSpPr/>
          <p:nvPr/>
        </p:nvSpPr>
        <p:spPr>
          <a:xfrm>
            <a:off x="68580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4" name=""/>
          <p:cNvSpPr/>
          <p:nvPr/>
        </p:nvSpPr>
        <p:spPr>
          <a:xfrm>
            <a:off x="7423200" y="373320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"/>
          <p:cNvSpPr/>
          <p:nvPr/>
        </p:nvSpPr>
        <p:spPr>
          <a:xfrm>
            <a:off x="8935200" y="373356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6" name=""/>
          <p:cNvSpPr/>
          <p:nvPr/>
        </p:nvSpPr>
        <p:spPr>
          <a:xfrm>
            <a:off x="3200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7" name=""/>
          <p:cNvSpPr/>
          <p:nvPr/>
        </p:nvSpPr>
        <p:spPr>
          <a:xfrm>
            <a:off x="4748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8" name=""/>
          <p:cNvSpPr/>
          <p:nvPr/>
        </p:nvSpPr>
        <p:spPr>
          <a:xfrm>
            <a:off x="4748400" y="685800"/>
            <a:ext cx="7380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"/>
          <p:cNvSpPr/>
          <p:nvPr/>
        </p:nvSpPr>
        <p:spPr>
          <a:xfrm flipH="1">
            <a:off x="2815200" y="685800"/>
            <a:ext cx="3852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Rectangle 118_2"/>
          <p:cNvSpPr/>
          <p:nvPr/>
        </p:nvSpPr>
        <p:spPr>
          <a:xfrm>
            <a:off x="3573000" y="3740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43c330"/>
                </a:solidFill>
                <a:latin typeface="Arial"/>
                <a:ea typeface="DejaVu Sans"/>
              </a:rPr>
              <a:t>EARLY</a:t>
            </a:r>
            <a:endParaRPr b="0" lang="en-US" sz="1600" spc="-1" strike="noStrike">
              <a:solidFill>
                <a:srgbClr val="43c330"/>
              </a:solidFill>
              <a:latin typeface="Arial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4500000" y="437616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db00"/>
                </a:solidFill>
                <a:latin typeface="Arial"/>
                <a:ea typeface="DejaVu Sans"/>
              </a:rPr>
              <a:t>MIDDLE</a:t>
            </a:r>
            <a:endParaRPr b="0" lang="en-US" sz="1600" spc="-1" strike="noStrike">
              <a:solidFill>
                <a:srgbClr val="ffdb00"/>
              </a:solidFill>
              <a:latin typeface="Arial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929000" y="434340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3838"/>
                </a:solidFill>
                <a:latin typeface="Arial"/>
                <a:ea typeface="DejaVu Sans"/>
              </a:rPr>
              <a:t>LATE</a:t>
            </a:r>
            <a:endParaRPr b="0" lang="en-US" sz="1600" spc="-1" strike="noStrike">
              <a:solidFill>
                <a:srgbClr val="ff3838"/>
              </a:solidFill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3200400" y="1297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"/>
          <p:cNvSpPr/>
          <p:nvPr/>
        </p:nvSpPr>
        <p:spPr>
          <a:xfrm>
            <a:off x="4748400" y="126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"/>
          <p:cNvSpPr/>
          <p:nvPr/>
        </p:nvSpPr>
        <p:spPr>
          <a:xfrm>
            <a:off x="2840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6" name=""/>
          <p:cNvSpPr/>
          <p:nvPr/>
        </p:nvSpPr>
        <p:spPr>
          <a:xfrm>
            <a:off x="5468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7" name=""/>
          <p:cNvSpPr/>
          <p:nvPr/>
        </p:nvSpPr>
        <p:spPr>
          <a:xfrm>
            <a:off x="2743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"/>
          <p:cNvSpPr/>
          <p:nvPr/>
        </p:nvSpPr>
        <p:spPr>
          <a:xfrm>
            <a:off x="6847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"/>
          <p:cNvSpPr/>
          <p:nvPr/>
        </p:nvSpPr>
        <p:spPr>
          <a:xfrm flipH="1">
            <a:off x="3200400" y="4343400"/>
            <a:ext cx="11430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"/>
          <p:cNvSpPr/>
          <p:nvPr/>
        </p:nvSpPr>
        <p:spPr>
          <a:xfrm flipH="1">
            <a:off x="4343400" y="4343400"/>
            <a:ext cx="29718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1" name=""/>
          <p:cNvSpPr/>
          <p:nvPr/>
        </p:nvSpPr>
        <p:spPr>
          <a:xfrm flipH="1">
            <a:off x="7423200" y="4301280"/>
            <a:ext cx="1512000" cy="1008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"/>
          <p:cNvSpPr/>
          <p:nvPr/>
        </p:nvSpPr>
        <p:spPr>
          <a:xfrm>
            <a:off x="3200400" y="685800"/>
            <a:ext cx="1548000" cy="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533" name="Group 89_4"/>
          <p:cNvGrpSpPr/>
          <p:nvPr/>
        </p:nvGrpSpPr>
        <p:grpSpPr>
          <a:xfrm>
            <a:off x="1865880" y="265320"/>
            <a:ext cx="1334520" cy="311760"/>
            <a:chOff x="1865880" y="265320"/>
            <a:chExt cx="1334520" cy="311760"/>
          </a:xfrm>
        </p:grpSpPr>
        <p:sp>
          <p:nvSpPr>
            <p:cNvPr id="534" name="Rectangle 93_4"/>
            <p:cNvSpPr/>
            <p:nvPr/>
          </p:nvSpPr>
          <p:spPr>
            <a:xfrm>
              <a:off x="1865880" y="26532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grpSp>
        <p:nvGrpSpPr>
          <p:cNvPr id="535" name=""/>
          <p:cNvGrpSpPr/>
          <p:nvPr/>
        </p:nvGrpSpPr>
        <p:grpSpPr>
          <a:xfrm>
            <a:off x="6172200" y="112320"/>
            <a:ext cx="2351880" cy="1997280"/>
            <a:chOff x="6172200" y="112320"/>
            <a:chExt cx="2351880" cy="1997280"/>
          </a:xfrm>
        </p:grpSpPr>
        <p:pic>
          <p:nvPicPr>
            <p:cNvPr id="536" name="" descr=""/>
            <p:cNvPicPr/>
            <p:nvPr/>
          </p:nvPicPr>
          <p:blipFill>
            <a:blip r:embed="rId1"/>
            <a:stretch/>
          </p:blipFill>
          <p:spPr>
            <a:xfrm>
              <a:off x="6172200" y="137160"/>
              <a:ext cx="2351880" cy="1972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37" name=""/>
            <p:cNvSpPr/>
            <p:nvPr/>
          </p:nvSpPr>
          <p:spPr>
            <a:xfrm flipV="1">
              <a:off x="7030440" y="613440"/>
              <a:ext cx="362880" cy="32472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8" name=""/>
            <p:cNvSpPr/>
            <p:nvPr/>
          </p:nvSpPr>
          <p:spPr>
            <a:xfrm flipV="1">
              <a:off x="6750000" y="1012320"/>
              <a:ext cx="181440" cy="44568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9" name=""/>
            <p:cNvSpPr/>
            <p:nvPr/>
          </p:nvSpPr>
          <p:spPr>
            <a:xfrm rot="18982200">
              <a:off x="6971760" y="547920"/>
              <a:ext cx="470160" cy="16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540" name=""/>
            <p:cNvSpPr/>
            <p:nvPr/>
          </p:nvSpPr>
          <p:spPr>
            <a:xfrm rot="17616000">
              <a:off x="6609240" y="954000"/>
              <a:ext cx="470160" cy="163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541" name=""/>
            <p:cNvSpPr/>
            <p:nvPr/>
          </p:nvSpPr>
          <p:spPr>
            <a:xfrm flipV="1">
              <a:off x="67500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2" name=""/>
            <p:cNvSpPr/>
            <p:nvPr/>
          </p:nvSpPr>
          <p:spPr>
            <a:xfrm flipV="1">
              <a:off x="69228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3" name=""/>
            <p:cNvSpPr/>
            <p:nvPr/>
          </p:nvSpPr>
          <p:spPr>
            <a:xfrm flipV="1">
              <a:off x="702180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4" name=""/>
            <p:cNvSpPr/>
            <p:nvPr/>
          </p:nvSpPr>
          <p:spPr>
            <a:xfrm flipV="1">
              <a:off x="739224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5" name=""/>
            <p:cNvSpPr/>
            <p:nvPr/>
          </p:nvSpPr>
          <p:spPr>
            <a:xfrm>
              <a:off x="6741360" y="12060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546" name=""/>
            <p:cNvSpPr/>
            <p:nvPr/>
          </p:nvSpPr>
          <p:spPr>
            <a:xfrm>
              <a:off x="7111800" y="11232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latin typeface="Arial"/>
              </a:endParaRPr>
            </a:p>
          </p:txBody>
        </p:sp>
      </p:grpSp>
      <p:grpSp>
        <p:nvGrpSpPr>
          <p:cNvPr id="547" name="Group 89_8"/>
          <p:cNvGrpSpPr/>
          <p:nvPr/>
        </p:nvGrpSpPr>
        <p:grpSpPr>
          <a:xfrm>
            <a:off x="5511600" y="4559400"/>
            <a:ext cx="3657600" cy="584280"/>
            <a:chOff x="5511600" y="4559400"/>
            <a:chExt cx="3657600" cy="584280"/>
          </a:xfrm>
        </p:grpSpPr>
        <p:sp>
          <p:nvSpPr>
            <p:cNvPr id="548" name="Rectangle 93_8"/>
            <p:cNvSpPr/>
            <p:nvPr/>
          </p:nvSpPr>
          <p:spPr>
            <a:xfrm>
              <a:off x="5511600" y="4559400"/>
              <a:ext cx="3657600" cy="58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Age-matching treatments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138;p20_1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Thinning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Mortality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50" name="Google Shape;143;p20_2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aphicFrame>
        <p:nvGraphicFramePr>
          <p:cNvPr id="551" name=""/>
          <p:cNvGraphicFramePr/>
          <p:nvPr/>
        </p:nvGraphicFramePr>
        <p:xfrm>
          <a:off x="588600" y="1859400"/>
          <a:ext cx="3384000" cy="1655640"/>
        </p:xfrm>
        <a:graphic>
          <a:graphicData uri="http://schemas.openxmlformats.org/drawingml/2006/table">
            <a:tbl>
              <a:tblPr/>
              <a:tblGrid>
                <a:gridCol w="1268640"/>
                <a:gridCol w="747360"/>
                <a:gridCol w="693000"/>
                <a:gridCol w="675360"/>
              </a:tblGrid>
              <a:tr h="35028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Treatment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Net Dead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%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Unthinned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92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361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25.4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Light Thin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72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195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36.9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27900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Thin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60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172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34.8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552" name=""/>
          <p:cNvSpPr txBox="1"/>
          <p:nvPr/>
        </p:nvSpPr>
        <p:spPr>
          <a:xfrm>
            <a:off x="457200" y="1155600"/>
            <a:ext cx="480060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Long term mortality: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(LRR Dead 2020 – LRR Dead 1990)/ Total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85800" y="3728880"/>
            <a:ext cx="159192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F</a:t>
            </a:r>
            <a:r>
              <a:rPr b="0" lang="en" sz="1850" spc="-1" strike="noStrike" baseline="-8000">
                <a:solidFill>
                  <a:srgbClr val="000000"/>
                </a:solidFill>
                <a:latin typeface="Arial"/>
                <a:ea typeface="Arial"/>
              </a:rPr>
              <a:t>2,12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=0.484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p=0.629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5029200" y="2357280"/>
            <a:ext cx="3429000" cy="14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PLOT over time? 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mean +/- SE?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Mortalitiy is sparse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138;p20_5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Thinning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Growth and FVS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56" name="Google Shape;143;p20_6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557" name="" descr=""/>
          <p:cNvPicPr/>
          <p:nvPr/>
        </p:nvPicPr>
        <p:blipFill>
          <a:blip r:embed="rId1"/>
          <a:srcRect l="0" t="0" r="21000" b="0"/>
          <a:stretch/>
        </p:blipFill>
        <p:spPr>
          <a:xfrm>
            <a:off x="3090240" y="927000"/>
            <a:ext cx="3276360" cy="3809520"/>
          </a:xfrm>
          <a:prstGeom prst="rect">
            <a:avLst/>
          </a:prstGeom>
          <a:ln w="0">
            <a:noFill/>
          </a:ln>
        </p:spPr>
      </p:pic>
      <p:pic>
        <p:nvPicPr>
          <p:cNvPr id="558" name="" descr=""/>
          <p:cNvPicPr/>
          <p:nvPr/>
        </p:nvPicPr>
        <p:blipFill>
          <a:blip r:embed="rId2"/>
          <a:srcRect l="0" t="0" r="21997" b="0"/>
          <a:stretch/>
        </p:blipFill>
        <p:spPr>
          <a:xfrm>
            <a:off x="6121800" y="927000"/>
            <a:ext cx="3022200" cy="3809520"/>
          </a:xfrm>
          <a:prstGeom prst="rect">
            <a:avLst/>
          </a:prstGeom>
          <a:ln w="0">
            <a:noFill/>
          </a:ln>
        </p:spPr>
      </p:pic>
      <p:pic>
        <p:nvPicPr>
          <p:cNvPr id="559" name="" descr=""/>
          <p:cNvPicPr/>
          <p:nvPr/>
        </p:nvPicPr>
        <p:blipFill>
          <a:blip r:embed="rId3"/>
          <a:srcRect l="0" t="0" r="21997" b="0"/>
          <a:stretch/>
        </p:blipFill>
        <p:spPr>
          <a:xfrm>
            <a:off x="360" y="917280"/>
            <a:ext cx="3200040" cy="3809520"/>
          </a:xfrm>
          <a:prstGeom prst="rect">
            <a:avLst/>
          </a:prstGeom>
          <a:ln w="0">
            <a:noFill/>
          </a:ln>
        </p:spPr>
      </p:pic>
      <p:sp>
        <p:nvSpPr>
          <p:cNvPr id="560" name=""/>
          <p:cNvSpPr/>
          <p:nvPr/>
        </p:nvSpPr>
        <p:spPr>
          <a:xfrm>
            <a:off x="336600" y="986400"/>
            <a:ext cx="45720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61" name=""/>
          <p:cNvSpPr/>
          <p:nvPr/>
        </p:nvSpPr>
        <p:spPr>
          <a:xfrm>
            <a:off x="3441600" y="950400"/>
            <a:ext cx="45720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62" name=""/>
          <p:cNvSpPr/>
          <p:nvPr/>
        </p:nvSpPr>
        <p:spPr>
          <a:xfrm>
            <a:off x="6438600" y="986400"/>
            <a:ext cx="45720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"/>
          <p:cNvSpPr txBox="1"/>
          <p:nvPr/>
        </p:nvSpPr>
        <p:spPr>
          <a:xfrm>
            <a:off x="457200" y="1143000"/>
            <a:ext cx="1371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Unthinned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3657600" y="1143000"/>
            <a:ext cx="1371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Light thin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6593400" y="1143000"/>
            <a:ext cx="1371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Thin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566" name="" descr=""/>
          <p:cNvPicPr/>
          <p:nvPr/>
        </p:nvPicPr>
        <p:blipFill>
          <a:blip r:embed="rId4"/>
          <a:srcRect l="77994" t="39989" r="0" b="42001"/>
          <a:stretch/>
        </p:blipFill>
        <p:spPr>
          <a:xfrm>
            <a:off x="7239240" y="241560"/>
            <a:ext cx="1676160" cy="685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138;p20_2"/>
          <p:cNvSpPr/>
          <p:nvPr/>
        </p:nvSpPr>
        <p:spPr>
          <a:xfrm>
            <a:off x="567000" y="231480"/>
            <a:ext cx="857700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Results : THM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68" name="Google Shape;143;p20_3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9" name=""/>
          <p:cNvSpPr txBox="1"/>
          <p:nvPr/>
        </p:nvSpPr>
        <p:spPr>
          <a:xfrm>
            <a:off x="914400" y="1600200"/>
            <a:ext cx="7315200" cy="166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No observed effect of thinning on long-term rate of mortality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As yet unknown effect of thinning on basal area increments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FVS Western Root Disease Model very accurately predicts stand level basal area over the course of the experiment.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138;p20_3"/>
          <p:cNvSpPr/>
          <p:nvPr/>
        </p:nvSpPr>
        <p:spPr>
          <a:xfrm>
            <a:off x="567000" y="231480"/>
            <a:ext cx="857700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2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Results : Clarifications or Edits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71" name="Google Shape;143;p20_4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"/>
          <p:cNvSpPr txBox="1"/>
          <p:nvPr/>
        </p:nvSpPr>
        <p:spPr>
          <a:xfrm>
            <a:off x="914400" y="1600200"/>
            <a:ext cx="6400800" cy="14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make a BA x time plot with all treatments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make a mort x time plot with all treatments?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Calculate BA annual increments?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size distribution?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Growth by LRR status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138;p20_4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Rotation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Mortality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74" name="Google Shape;143;p20_5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"/>
          <p:cNvSpPr txBox="1"/>
          <p:nvPr/>
        </p:nvSpPr>
        <p:spPr>
          <a:xfrm>
            <a:off x="457200" y="1155600"/>
            <a:ext cx="480060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Long term mortality: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(LRR Dead 2020 – LRR Dead 1990)/ Total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85800" y="3728880"/>
            <a:ext cx="159192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F</a:t>
            </a:r>
            <a:r>
              <a:rPr b="0" lang="en" sz="1850" spc="-1" strike="noStrike" baseline="-8000">
                <a:solidFill>
                  <a:srgbClr val="000000"/>
                </a:solidFill>
                <a:latin typeface="Arial"/>
                <a:ea typeface="Arial"/>
              </a:rPr>
              <a:t>2,12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=0.484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p=0.629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5029200" y="2357280"/>
            <a:ext cx="3429000" cy="14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PLOT over time? 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mean +/- SE?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Mortalitiy is sparse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138;p20_6"/>
          <p:cNvSpPr/>
          <p:nvPr/>
        </p:nvSpPr>
        <p:spPr>
          <a:xfrm>
            <a:off x="531000" y="-9252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LRR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DBH increment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79" name="Google Shape;143;p20_7"/>
          <p:cNvSpPr/>
          <p:nvPr/>
        </p:nvSpPr>
        <p:spPr>
          <a:xfrm flipH="1" rot="10800000">
            <a:off x="669960" y="583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"/>
          <p:cNvSpPr txBox="1"/>
          <p:nvPr/>
        </p:nvSpPr>
        <p:spPr>
          <a:xfrm>
            <a:off x="658080" y="661680"/>
            <a:ext cx="8028720" cy="48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Trees binned “ever SUPP”, “ever LRR”, or “not”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. Only living DBH used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581" name="" descr=""/>
          <p:cNvPicPr/>
          <p:nvPr/>
        </p:nvPicPr>
        <p:blipFill>
          <a:blip r:embed="rId1"/>
          <a:srcRect l="0" t="0" r="80646" b="177415"/>
          <a:stretch/>
        </p:blipFill>
        <p:spPr>
          <a:xfrm>
            <a:off x="914760" y="1028880"/>
            <a:ext cx="7086240" cy="3879720"/>
          </a:xfrm>
          <a:prstGeom prst="rect">
            <a:avLst/>
          </a:prstGeom>
          <a:ln w="0">
            <a:noFill/>
          </a:ln>
        </p:spPr>
      </p:pic>
      <p:pic>
        <p:nvPicPr>
          <p:cNvPr id="582" name="" descr=""/>
          <p:cNvPicPr/>
          <p:nvPr/>
        </p:nvPicPr>
        <p:blipFill>
          <a:blip r:embed="rId2"/>
          <a:srcRect l="0" t="0" r="89741" b="182596"/>
          <a:stretch/>
        </p:blipFill>
        <p:spPr>
          <a:xfrm>
            <a:off x="685800" y="1028880"/>
            <a:ext cx="6857640" cy="3771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138;p20_7"/>
          <p:cNvSpPr/>
          <p:nvPr/>
        </p:nvSpPr>
        <p:spPr>
          <a:xfrm>
            <a:off x="531000" y="-9252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LRR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DBH increment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84" name="Google Shape;143;p20_8"/>
          <p:cNvSpPr/>
          <p:nvPr/>
        </p:nvSpPr>
        <p:spPr>
          <a:xfrm flipH="1" rot="10800000">
            <a:off x="669960" y="583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5" name=""/>
          <p:cNvSpPr txBox="1"/>
          <p:nvPr/>
        </p:nvSpPr>
        <p:spPr>
          <a:xfrm>
            <a:off x="658080" y="662040"/>
            <a:ext cx="8028720" cy="48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Trees binned “ever SUPP”, “ever LRR”, or “not”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. Only living DBH used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586" name="" descr=""/>
          <p:cNvPicPr/>
          <p:nvPr/>
        </p:nvPicPr>
        <p:blipFill>
          <a:blip r:embed="rId1"/>
          <a:srcRect l="74068" t="24437" r="0" b="22226"/>
          <a:stretch/>
        </p:blipFill>
        <p:spPr>
          <a:xfrm>
            <a:off x="6877080" y="1143000"/>
            <a:ext cx="2266560" cy="3886200"/>
          </a:xfrm>
          <a:prstGeom prst="rect">
            <a:avLst/>
          </a:prstGeom>
          <a:ln w="0">
            <a:noFill/>
          </a:ln>
        </p:spPr>
      </p:pic>
      <p:pic>
        <p:nvPicPr>
          <p:cNvPr id="587" name="" descr=""/>
          <p:cNvPicPr/>
          <p:nvPr/>
        </p:nvPicPr>
        <p:blipFill>
          <a:blip r:embed="rId2"/>
          <a:srcRect l="0" t="51100" r="22219" b="0"/>
          <a:stretch/>
        </p:blipFill>
        <p:spPr>
          <a:xfrm>
            <a:off x="36360" y="1238400"/>
            <a:ext cx="6982200" cy="365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2022-08-25T12:49:13Z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