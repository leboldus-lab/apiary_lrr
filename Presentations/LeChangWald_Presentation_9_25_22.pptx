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notesMasters/notesMaster1.xml" ContentType="application/vnd.openxmlformats-officedocument.presentationml.notesMaster+xml"/>
  <Override PartName="/ppt/notesMasters/_rels/notesMaster1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_rels/notesSlide4.xml.rels" ContentType="application/vnd.openxmlformats-package.relationships+xml"/>
  <Override PartName="/ppt/notesSlides/_rels/notesSlide15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media/image1.png" ContentType="image/png"/>
  <Override PartName="/ppt/media/image2.png" ContentType="image/png"/>
  <Override PartName="/ppt/media/image17.jpeg" ContentType="image/jpeg"/>
  <Override PartName="/ppt/media/image3.png" ContentType="image/png"/>
  <Override PartName="/ppt/media/image4.png" ContentType="image/png"/>
  <Override PartName="/ppt/media/image5.png" ContentType="image/png"/>
  <Override PartName="/ppt/media/image26.gif" ContentType="image/gif"/>
  <Override PartName="/ppt/media/image6.png" ContentType="image/png"/>
  <Override PartName="/ppt/media/image7.png" ContentType="image/png"/>
  <Override PartName="/ppt/media/image8.png" ContentType="image/png"/>
  <Override PartName="/ppt/media/image9.png" ContentType="image/png"/>
  <Override PartName="/ppt/media/image10.png" ContentType="image/png"/>
  <Override PartName="/ppt/media/image11.png" ContentType="image/png"/>
  <Override PartName="/ppt/media/image12.png" ContentType="image/png"/>
  <Override PartName="/ppt/media/image13.jpeg" ContentType="image/jpeg"/>
  <Override PartName="/ppt/media/image19.png" ContentType="image/png"/>
  <Override PartName="/ppt/media/image14.png" ContentType="image/png"/>
  <Override PartName="/ppt/media/image15.png" ContentType="image/png"/>
  <Override PartName="/ppt/media/image16.png" ContentType="image/png"/>
  <Override PartName="/ppt/media/image18.png" ContentType="image/png"/>
  <Override PartName="/ppt/media/image20.png" ContentType="image/png"/>
  <Override PartName="/ppt/media/image21.jpeg" ContentType="image/jpeg"/>
  <Override PartName="/ppt/media/image22.jpeg" ContentType="image/jpeg"/>
  <Override PartName="/ppt/media/image23.png" ContentType="image/png"/>
  <Override PartName="/ppt/media/image24.png" ContentType="image/png"/>
  <Override PartName="/ppt/media/image25.png" ContentType="image/png"/>
  <Override PartName="/ppt/media/image27.png" ContentType="image/png"/>
  <Override PartName="/ppt/media/image28.png" ContentType="image/png"/>
  <Override PartName="/ppt/media/image29.png" ContentType="image/png"/>
  <Override PartName="/ppt/media/image30.png" ContentType="image/png"/>
  <Override PartName="/ppt/media/image31.png" ContentType="image/png"/>
  <Override PartName="/ppt/media/image32.png" ContentType="image/png"/>
  <Override PartName="/ppt/_rels/presentation.xml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</p:sldIdLst>
  <p:sldSz cx="9144000" cy="5143500"/>
  <p:notesSz cx="6858000" cy="9144000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move the slide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</p:spPr>
        <p:txBody>
          <a:bodyPr lIns="0" rIns="0" tIns="0" bIns="0">
            <a:noAutofit/>
          </a:bodyPr>
          <a:p>
            <a:r>
              <a:rPr b="0" lang="en-US" sz="2000" spc="-1" strike="noStrike">
                <a:latin typeface="Arial"/>
              </a:rPr>
              <a:t>Click to edit the notes format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</p:spPr>
        <p:txBody>
          <a:bodyPr lIns="0" rIns="0" tIns="0" bIns="0">
            <a:noAutofit/>
          </a:bodyPr>
          <a:p>
            <a:r>
              <a:rPr b="0" lang="en-US" sz="1400" spc="-1" strike="noStrike">
                <a:latin typeface="Times New Roman"/>
              </a:rPr>
              <a:t>&lt;header&gt;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81" name="PlaceHolder 4"/>
          <p:cNvSpPr>
            <a:spLocks noGrp="1"/>
          </p:cNvSpPr>
          <p:nvPr>
            <p:ph type="dt"/>
          </p:nvPr>
        </p:nvSpPr>
        <p:spPr>
          <a:xfrm>
            <a:off x="4399200" y="0"/>
            <a:ext cx="3372840" cy="502560"/>
          </a:xfrm>
          <a:prstGeom prst="rect">
            <a:avLst/>
          </a:prstGeom>
        </p:spPr>
        <p:txBody>
          <a:bodyPr lIns="0" rIns="0" tIns="0" bIns="0">
            <a:noAutofit/>
          </a:bodyPr>
          <a:p>
            <a:pPr algn="r"/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82" name="PlaceHolder 5"/>
          <p:cNvSpPr>
            <a:spLocks noGrp="1"/>
          </p:cNvSpPr>
          <p:nvPr>
            <p:ph type="ftr"/>
          </p:nvPr>
        </p:nvSpPr>
        <p:spPr>
          <a:xfrm>
            <a:off x="0" y="9555480"/>
            <a:ext cx="3372840" cy="502560"/>
          </a:xfrm>
          <a:prstGeom prst="rect">
            <a:avLst/>
          </a:prstGeom>
        </p:spPr>
        <p:txBody>
          <a:bodyPr lIns="0" rIns="0" tIns="0" bIns="0" anchor="b">
            <a:noAutofit/>
          </a:bodyPr>
          <a:p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83" name="PlaceHolder 6"/>
          <p:cNvSpPr>
            <a:spLocks noGrp="1"/>
          </p:cNvSpPr>
          <p:nvPr>
            <p:ph type="sldNum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</p:spPr>
        <p:txBody>
          <a:bodyPr lIns="0" rIns="0" tIns="0" bIns="0" anchor="b">
            <a:noAutofit/>
          </a:bodyPr>
          <a:p>
            <a:pPr algn="r"/>
            <a:fld id="{78067A06-5695-4EEB-8563-EF57D8C7908F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5520" cy="3428640"/>
          </a:xfrm>
          <a:prstGeom prst="rect">
            <a:avLst/>
          </a:prstGeom>
        </p:spPr>
      </p:sp>
      <p:sp>
        <p:nvSpPr>
          <p:cNvPr id="20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</p:spPr>
        <p:txBody>
          <a:bodyPr tIns="91440" bIns="91440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100" spc="-1" strike="noStrike">
                <a:latin typeface="Arial"/>
              </a:rPr>
              <a:t>C.G. Riley </a:t>
            </a:r>
            <a:endParaRPr b="0" lang="en-US" sz="1100" spc="-1" strike="noStrike">
              <a:latin typeface="Arial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5520" cy="3428640"/>
          </a:xfrm>
          <a:prstGeom prst="rect">
            <a:avLst/>
          </a:prstGeom>
        </p:spPr>
      </p:sp>
      <p:sp>
        <p:nvSpPr>
          <p:cNvPr id="20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</p:spPr>
        <p:txBody>
          <a:bodyPr tIns="91440" bIns="91440">
            <a:noAutofit/>
          </a:bodyPr>
          <a:p>
            <a:pPr marL="457200" indent="-329760">
              <a:lnSpc>
                <a:spcPct val="115000"/>
              </a:lnSpc>
              <a:buClr>
                <a:srgbClr val="000000"/>
              </a:buClr>
              <a:buFont typeface="StarSymbol"/>
              <a:buChar char="-"/>
            </a:pPr>
            <a:r>
              <a:rPr b="0" i="1" lang="en" sz="1600" spc="-1" strike="noStrike">
                <a:solidFill>
                  <a:srgbClr val="000000"/>
                </a:solidFill>
                <a:latin typeface="Arial"/>
              </a:rPr>
              <a:t>Graphs here, redo the 1990 data with age set to 0 for the stand age.</a:t>
            </a:r>
            <a:endParaRPr b="0" lang="en-US" sz="1600" spc="-1" strike="noStrike"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subTitle"/>
          </p:nvPr>
        </p:nvSpPr>
        <p:spPr>
          <a:xfrm>
            <a:off x="311760" y="1152360"/>
            <a:ext cx="8520120" cy="34160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8520120" cy="3416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4157640" cy="3416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4677840" y="1152360"/>
            <a:ext cx="4157640" cy="3416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subTitle"/>
          </p:nvPr>
        </p:nvSpPr>
        <p:spPr>
          <a:xfrm>
            <a:off x="311760" y="444960"/>
            <a:ext cx="8520120" cy="26546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4157640" cy="16293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body"/>
          </p:nvPr>
        </p:nvSpPr>
        <p:spPr>
          <a:xfrm>
            <a:off x="4677840" y="1152360"/>
            <a:ext cx="4157640" cy="3416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body"/>
          </p:nvPr>
        </p:nvSpPr>
        <p:spPr>
          <a:xfrm>
            <a:off x="311760" y="2936880"/>
            <a:ext cx="4157640" cy="16293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4157640" cy="3416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body"/>
          </p:nvPr>
        </p:nvSpPr>
        <p:spPr>
          <a:xfrm>
            <a:off x="4677840" y="1152360"/>
            <a:ext cx="4157640" cy="16293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body"/>
          </p:nvPr>
        </p:nvSpPr>
        <p:spPr>
          <a:xfrm>
            <a:off x="4677840" y="2936880"/>
            <a:ext cx="4157640" cy="16293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4157640" cy="16293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body"/>
          </p:nvPr>
        </p:nvSpPr>
        <p:spPr>
          <a:xfrm>
            <a:off x="4677840" y="1152360"/>
            <a:ext cx="4157640" cy="16293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body"/>
          </p:nvPr>
        </p:nvSpPr>
        <p:spPr>
          <a:xfrm>
            <a:off x="311760" y="2936880"/>
            <a:ext cx="8520120" cy="16293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8520120" cy="16293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body"/>
          </p:nvPr>
        </p:nvSpPr>
        <p:spPr>
          <a:xfrm>
            <a:off x="311760" y="2936880"/>
            <a:ext cx="8520120" cy="16293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4157640" cy="16293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body"/>
          </p:nvPr>
        </p:nvSpPr>
        <p:spPr>
          <a:xfrm>
            <a:off x="4677840" y="1152360"/>
            <a:ext cx="4157640" cy="16293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body"/>
          </p:nvPr>
        </p:nvSpPr>
        <p:spPr>
          <a:xfrm>
            <a:off x="311760" y="2936880"/>
            <a:ext cx="4157640" cy="16293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body"/>
          </p:nvPr>
        </p:nvSpPr>
        <p:spPr>
          <a:xfrm>
            <a:off x="4677840" y="2936880"/>
            <a:ext cx="4157640" cy="16293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2743200" cy="16293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3192480" y="1152360"/>
            <a:ext cx="2743200" cy="16293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6073200" y="1152360"/>
            <a:ext cx="2743200" cy="16293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311760" y="2936880"/>
            <a:ext cx="2743200" cy="16293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body"/>
          </p:nvPr>
        </p:nvSpPr>
        <p:spPr>
          <a:xfrm>
            <a:off x="3192480" y="2936880"/>
            <a:ext cx="2743200" cy="16293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body"/>
          </p:nvPr>
        </p:nvSpPr>
        <p:spPr>
          <a:xfrm>
            <a:off x="6073200" y="2936880"/>
            <a:ext cx="2743200" cy="16293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subTitle"/>
          </p:nvPr>
        </p:nvSpPr>
        <p:spPr>
          <a:xfrm>
            <a:off x="311760" y="1152360"/>
            <a:ext cx="8520120" cy="34160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8520120" cy="3416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4157640" cy="3416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body"/>
          </p:nvPr>
        </p:nvSpPr>
        <p:spPr>
          <a:xfrm>
            <a:off x="4677840" y="1152360"/>
            <a:ext cx="4157640" cy="3416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subTitle"/>
          </p:nvPr>
        </p:nvSpPr>
        <p:spPr>
          <a:xfrm>
            <a:off x="311760" y="444960"/>
            <a:ext cx="8520120" cy="26546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4157640" cy="16293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body"/>
          </p:nvPr>
        </p:nvSpPr>
        <p:spPr>
          <a:xfrm>
            <a:off x="4677840" y="1152360"/>
            <a:ext cx="4157640" cy="3416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body"/>
          </p:nvPr>
        </p:nvSpPr>
        <p:spPr>
          <a:xfrm>
            <a:off x="311760" y="2936880"/>
            <a:ext cx="4157640" cy="16293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4157640" cy="3416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677840" y="1152360"/>
            <a:ext cx="4157640" cy="16293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body"/>
          </p:nvPr>
        </p:nvSpPr>
        <p:spPr>
          <a:xfrm>
            <a:off x="4677840" y="2936880"/>
            <a:ext cx="4157640" cy="16293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4157640" cy="16293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 type="body"/>
          </p:nvPr>
        </p:nvSpPr>
        <p:spPr>
          <a:xfrm>
            <a:off x="4677840" y="1152360"/>
            <a:ext cx="4157640" cy="16293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 type="body"/>
          </p:nvPr>
        </p:nvSpPr>
        <p:spPr>
          <a:xfrm>
            <a:off x="311760" y="2936880"/>
            <a:ext cx="8520120" cy="16293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8520120" cy="16293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body"/>
          </p:nvPr>
        </p:nvSpPr>
        <p:spPr>
          <a:xfrm>
            <a:off x="311760" y="2936880"/>
            <a:ext cx="8520120" cy="16293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4157640" cy="16293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body"/>
          </p:nvPr>
        </p:nvSpPr>
        <p:spPr>
          <a:xfrm>
            <a:off x="4677840" y="1152360"/>
            <a:ext cx="4157640" cy="16293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 type="body"/>
          </p:nvPr>
        </p:nvSpPr>
        <p:spPr>
          <a:xfrm>
            <a:off x="311760" y="2936880"/>
            <a:ext cx="4157640" cy="16293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5"/>
          <p:cNvSpPr>
            <a:spLocks noGrp="1"/>
          </p:cNvSpPr>
          <p:nvPr>
            <p:ph type="body"/>
          </p:nvPr>
        </p:nvSpPr>
        <p:spPr>
          <a:xfrm>
            <a:off x="4677840" y="2936880"/>
            <a:ext cx="4157640" cy="16293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2743200" cy="16293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 type="body"/>
          </p:nvPr>
        </p:nvSpPr>
        <p:spPr>
          <a:xfrm>
            <a:off x="3192480" y="1152360"/>
            <a:ext cx="2743200" cy="16293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4"/>
          <p:cNvSpPr>
            <a:spLocks noGrp="1"/>
          </p:cNvSpPr>
          <p:nvPr>
            <p:ph type="body"/>
          </p:nvPr>
        </p:nvSpPr>
        <p:spPr>
          <a:xfrm>
            <a:off x="6073200" y="1152360"/>
            <a:ext cx="2743200" cy="16293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PlaceHolder 5"/>
          <p:cNvSpPr>
            <a:spLocks noGrp="1"/>
          </p:cNvSpPr>
          <p:nvPr>
            <p:ph type="body"/>
          </p:nvPr>
        </p:nvSpPr>
        <p:spPr>
          <a:xfrm>
            <a:off x="311760" y="2936880"/>
            <a:ext cx="2743200" cy="16293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6"/>
          <p:cNvSpPr>
            <a:spLocks noGrp="1"/>
          </p:cNvSpPr>
          <p:nvPr>
            <p:ph type="body"/>
          </p:nvPr>
        </p:nvSpPr>
        <p:spPr>
          <a:xfrm>
            <a:off x="3192480" y="2936880"/>
            <a:ext cx="2743200" cy="16293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7"/>
          <p:cNvSpPr>
            <a:spLocks noGrp="1"/>
          </p:cNvSpPr>
          <p:nvPr>
            <p:ph type="body"/>
          </p:nvPr>
        </p:nvSpPr>
        <p:spPr>
          <a:xfrm>
            <a:off x="6073200" y="2936880"/>
            <a:ext cx="2743200" cy="16293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20120" cy="2052360"/>
          </a:xfrm>
          <a:prstGeom prst="rect">
            <a:avLst/>
          </a:prstGeom>
        </p:spPr>
        <p:txBody>
          <a:bodyPr tIns="91440" bIns="91440" anchor="b">
            <a:normAutofit/>
          </a:bodyPr>
          <a:p>
            <a:r>
              <a:rPr b="0" lang="en-US" sz="52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5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</p:spPr>
        <p:txBody>
          <a:bodyPr tIns="91440" bIns="91440" anchor="ctr">
            <a:normAutofit/>
          </a:bodyPr>
          <a:p>
            <a:pPr algn="r">
              <a:lnSpc>
                <a:spcPct val="100000"/>
              </a:lnSpc>
              <a:tabLst>
                <a:tab algn="l" pos="0"/>
              </a:tabLst>
            </a:pPr>
            <a:fld id="{7C7E30D0-CBD5-469C-BF7F-20472A0D6822}" type="slidenum">
              <a:rPr b="0" lang="en" sz="1000" spc="-1" strike="noStrike">
                <a:solidFill>
                  <a:srgbClr val="595959"/>
                </a:solidFill>
                <a:latin typeface="Arial"/>
                <a:ea typeface="Arial"/>
              </a:rPr>
              <a:t>&lt;number&gt;</a:t>
            </a:fld>
            <a:endParaRPr b="0" lang="en-US" sz="10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</p:spPr>
        <p:txBody>
          <a:bodyPr tIns="91440" bIns="91440">
            <a:normAutofit fontScale="97000"/>
          </a:bodyPr>
          <a:p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8520120" cy="3416040"/>
          </a:xfrm>
          <a:prstGeom prst="rect">
            <a:avLst/>
          </a:prstGeom>
        </p:spPr>
        <p:txBody>
          <a:bodyPr tIns="91440" bIns="9144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sldNum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</p:spPr>
        <p:txBody>
          <a:bodyPr tIns="91440" bIns="91440" anchor="ctr">
            <a:normAutofit/>
          </a:bodyPr>
          <a:p>
            <a:pPr algn="r">
              <a:lnSpc>
                <a:spcPct val="100000"/>
              </a:lnSpc>
              <a:tabLst>
                <a:tab algn="l" pos="0"/>
              </a:tabLst>
            </a:pPr>
            <a:fld id="{A81FC6D7-155E-440D-862E-EEE200E29CAA}" type="slidenum">
              <a:rPr b="0" lang="en" sz="1000" spc="-1" strike="noStrike">
                <a:solidFill>
                  <a:srgbClr val="595959"/>
                </a:solidFill>
                <a:latin typeface="Arial"/>
                <a:ea typeface="Arial"/>
              </a:rPr>
              <a:t>&lt;number&gt;</a:t>
            </a:fld>
            <a:endParaRPr b="0" lang="en-US" sz="10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jpe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png"/><Relationship Id="rId3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7.jpeg"/><Relationship Id="rId3" Type="http://schemas.openxmlformats.org/officeDocument/2006/relationships/slideLayout" Target="../slideLayouts/slideLayout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slideLayout" Target="../slideLayouts/slideLayout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1.jpeg"/><Relationship Id="rId2" Type="http://schemas.openxmlformats.org/officeDocument/2006/relationships/image" Target="../media/image22.jpeg"/><Relationship Id="rId3" Type="http://schemas.openxmlformats.org/officeDocument/2006/relationships/slideLayout" Target="../slideLayouts/slideLayout2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slideLayout" Target="../slideLayouts/slideLayout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slideLayout" Target="../slideLayouts/slideLayout2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26.gif"/><Relationship Id="rId3" Type="http://schemas.openxmlformats.org/officeDocument/2006/relationships/image" Target="../media/image27.png"/><Relationship Id="rId4" Type="http://schemas.openxmlformats.org/officeDocument/2006/relationships/slideLayout" Target="../slideLayouts/slideLayout2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8.png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32.png"/><Relationship Id="rId2" Type="http://schemas.openxmlformats.org/officeDocument/2006/relationships/slideLayout" Target="../slideLayouts/slideLayout2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hyperlink" Target="https://www.redbubble.com/people/ro83land/shop" TargetMode="External"/><Relationship Id="rId2" Type="http://schemas.openxmlformats.org/officeDocument/2006/relationships/slideLayout" Target="../slideLayouts/slideLayout1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54;p13"/>
          <p:cNvSpPr txBox="1"/>
          <p:nvPr/>
        </p:nvSpPr>
        <p:spPr>
          <a:xfrm>
            <a:off x="-215640" y="96480"/>
            <a:ext cx="10163160" cy="27414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rm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" sz="2700" spc="-1" strike="noStrike">
                <a:solidFill>
                  <a:srgbClr val="222222"/>
                </a:solidFill>
                <a:highlight>
                  <a:srgbClr val="f8f8f8"/>
                </a:highlight>
                <a:latin typeface="Oswald"/>
                <a:ea typeface="Oswald"/>
              </a:rPr>
              <a:t>Epidemiology and </a:t>
            </a:r>
            <a:br/>
            <a:r>
              <a:rPr b="0" lang="en" sz="2700" spc="-1" strike="noStrike">
                <a:solidFill>
                  <a:srgbClr val="222222"/>
                </a:solidFill>
                <a:highlight>
                  <a:srgbClr val="f8f8f8"/>
                </a:highlight>
                <a:latin typeface="Oswald"/>
                <a:ea typeface="Oswald"/>
              </a:rPr>
              <a:t>Population Genomics of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" sz="2700" spc="-1" strike="noStrike">
                <a:solidFill>
                  <a:srgbClr val="222222"/>
                </a:solidFill>
                <a:highlight>
                  <a:srgbClr val="f8f8f8"/>
                </a:highlight>
                <a:latin typeface="Oswald"/>
                <a:ea typeface="Oswald"/>
              </a:rPr>
              <a:t> </a:t>
            </a:r>
            <a:r>
              <a:rPr b="0" i="1" lang="en" sz="2700" spc="-1" strike="noStrike">
                <a:solidFill>
                  <a:srgbClr val="222222"/>
                </a:solidFill>
                <a:highlight>
                  <a:srgbClr val="f8f8f8"/>
                </a:highlight>
                <a:latin typeface="Oswald"/>
                <a:ea typeface="Oswald"/>
              </a:rPr>
              <a:t>Coniferiporia sulphurascens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Google Shape;55;p13"/>
          <p:cNvSpPr txBox="1"/>
          <p:nvPr/>
        </p:nvSpPr>
        <p:spPr>
          <a:xfrm>
            <a:off x="605880" y="2837880"/>
            <a:ext cx="8520120" cy="792360"/>
          </a:xfrm>
          <a:prstGeom prst="rect">
            <a:avLst/>
          </a:prstGeom>
          <a:noFill/>
          <a:ln w="0">
            <a:noFill/>
          </a:ln>
        </p:spPr>
        <p:txBody>
          <a:bodyPr tIns="91440" bIns="91440">
            <a:normAutofit/>
          </a:bodyPr>
          <a:p>
            <a:pPr algn="ctr">
              <a:lnSpc>
                <a:spcPct val="90000"/>
              </a:lnSpc>
              <a:tabLst>
                <a:tab algn="l" pos="0"/>
              </a:tabLst>
            </a:pPr>
            <a:r>
              <a:rPr b="0" lang="en" sz="2000" spc="-1" strike="noStrike">
                <a:solidFill>
                  <a:srgbClr val="222222"/>
                </a:solidFill>
                <a:highlight>
                  <a:srgbClr val="f8f8f8"/>
                </a:highlight>
                <a:latin typeface="Oswald"/>
                <a:ea typeface="Oswald"/>
              </a:rPr>
              <a:t>Shawn McMurtrey</a:t>
            </a:r>
            <a:endParaRPr b="0" lang="en-US" sz="2000" spc="-1" strike="noStrike">
              <a:latin typeface="Arial"/>
            </a:endParaRPr>
          </a:p>
          <a:p>
            <a:pPr algn="ctr">
              <a:lnSpc>
                <a:spcPct val="90000"/>
              </a:lnSpc>
              <a:tabLst>
                <a:tab algn="l" pos="0"/>
              </a:tabLst>
            </a:pPr>
            <a:r>
              <a:rPr b="0" lang="en" sz="2000" spc="-1" strike="noStrike">
                <a:solidFill>
                  <a:srgbClr val="222222"/>
                </a:solidFill>
                <a:highlight>
                  <a:srgbClr val="f8f8f8"/>
                </a:highlight>
                <a:latin typeface="Oswald"/>
                <a:ea typeface="Oswald"/>
              </a:rPr>
              <a:t>Major Advisor: Jared LeBoldus</a:t>
            </a:r>
            <a:endParaRPr b="0" lang="en-US" sz="2000" spc="-1" strike="noStrike">
              <a:latin typeface="Arial"/>
            </a:endParaRPr>
          </a:p>
        </p:txBody>
      </p:sp>
      <p:pic>
        <p:nvPicPr>
          <p:cNvPr id="86" name="Google Shape;56;p13" descr=""/>
          <p:cNvPicPr/>
          <p:nvPr/>
        </p:nvPicPr>
        <p:blipFill>
          <a:blip r:embed="rId1"/>
          <a:stretch/>
        </p:blipFill>
        <p:spPr>
          <a:xfrm>
            <a:off x="792360" y="1040040"/>
            <a:ext cx="2002320" cy="3583080"/>
          </a:xfrm>
          <a:prstGeom prst="rect">
            <a:avLst/>
          </a:prstGeom>
          <a:ln w="0">
            <a:noFill/>
          </a:ln>
        </p:spPr>
      </p:pic>
      <p:sp>
        <p:nvSpPr>
          <p:cNvPr id="87" name="Google Shape;57;p13"/>
          <p:cNvSpPr/>
          <p:nvPr/>
        </p:nvSpPr>
        <p:spPr>
          <a:xfrm>
            <a:off x="318960" y="564120"/>
            <a:ext cx="360" cy="343224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9525">
            <a:solidFill>
              <a:srgbClr val="59595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8" name="Google Shape;58;p13"/>
          <p:cNvSpPr/>
          <p:nvPr/>
        </p:nvSpPr>
        <p:spPr>
          <a:xfrm rot="10800000">
            <a:off x="7885080" y="564120"/>
            <a:ext cx="360" cy="31665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9525">
            <a:solidFill>
              <a:srgbClr val="59595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9" name="Google Shape;59;p13"/>
          <p:cNvSpPr/>
          <p:nvPr/>
        </p:nvSpPr>
        <p:spPr>
          <a:xfrm>
            <a:off x="1233000" y="755280"/>
            <a:ext cx="5982840" cy="3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9525">
            <a:solidFill>
              <a:srgbClr val="595959"/>
            </a:solidFill>
            <a:round/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64;p14"/>
          <p:cNvSpPr txBox="1"/>
          <p:nvPr/>
        </p:nvSpPr>
        <p:spPr>
          <a:xfrm>
            <a:off x="-1657440" y="-1133640"/>
            <a:ext cx="8520120" cy="20523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rm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                    </a:t>
            </a: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Laminated Root Rot (LRR)</a:t>
            </a:r>
            <a:r>
              <a:rPr b="0" lang="en" sz="3600" spc="-1" strike="noStrike">
                <a:solidFill>
                  <a:srgbClr val="000000"/>
                </a:solidFill>
                <a:latin typeface="Arial"/>
                <a:ea typeface="Arial"/>
              </a:rPr>
              <a:t>  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1" name="Google Shape;65;p14" descr=""/>
          <p:cNvPicPr/>
          <p:nvPr/>
        </p:nvPicPr>
        <p:blipFill>
          <a:blip r:embed="rId1"/>
          <a:stretch/>
        </p:blipFill>
        <p:spPr>
          <a:xfrm>
            <a:off x="4703760" y="2838240"/>
            <a:ext cx="4259520" cy="2052360"/>
          </a:xfrm>
          <a:prstGeom prst="rect">
            <a:avLst/>
          </a:prstGeom>
          <a:ln w="0">
            <a:noFill/>
          </a:ln>
        </p:spPr>
      </p:pic>
      <p:sp>
        <p:nvSpPr>
          <p:cNvPr id="92" name="Google Shape;66;p14"/>
          <p:cNvSpPr/>
          <p:nvPr/>
        </p:nvSpPr>
        <p:spPr>
          <a:xfrm>
            <a:off x="353160" y="1101960"/>
            <a:ext cx="8673120" cy="158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>
            <a:spAutoFit/>
          </a:bodyPr>
          <a:p>
            <a:pPr marL="457200" indent="-329760">
              <a:lnSpc>
                <a:spcPct val="115000"/>
              </a:lnSpc>
              <a:buClr>
                <a:srgbClr val="000000"/>
              </a:buClr>
              <a:buFont typeface="Arial"/>
              <a:buChar char="-"/>
            </a:pPr>
            <a:r>
              <a:rPr b="0" i="1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Coniferiporia sulphurascens, </a:t>
            </a: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several hosts</a:t>
            </a:r>
            <a:endParaRPr b="0" lang="en-US" sz="1600" spc="-1" strike="noStrike">
              <a:latin typeface="Arial"/>
            </a:endParaRPr>
          </a:p>
          <a:p>
            <a:pPr marL="457200" indent="-329760">
              <a:lnSpc>
                <a:spcPct val="115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Both saprophytic and parasitic </a:t>
            </a:r>
            <a:endParaRPr b="0" lang="en-US" sz="1600" spc="-1" strike="noStrike">
              <a:latin typeface="Arial"/>
            </a:endParaRPr>
          </a:p>
          <a:p>
            <a:pPr marL="457200" indent="-329760">
              <a:lnSpc>
                <a:spcPct val="115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Spread through root to root contact</a:t>
            </a:r>
            <a:endParaRPr b="0" lang="en-US" sz="1600" spc="-1" strike="noStrike">
              <a:latin typeface="Arial"/>
            </a:endParaRPr>
          </a:p>
          <a:p>
            <a:pPr marL="457200" indent="-329760">
              <a:lnSpc>
                <a:spcPct val="115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Disease of the site, for 50 years (Hansen, 1976)</a:t>
            </a:r>
            <a:endParaRPr b="0" lang="en-US" sz="1600" spc="-1" strike="noStrike">
              <a:latin typeface="Arial"/>
            </a:endParaRPr>
          </a:p>
          <a:p>
            <a:pPr marL="457200" indent="-329760">
              <a:lnSpc>
                <a:spcPct val="115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Root rot pockets 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93" name="Google Shape;67;p14"/>
          <p:cNvSpPr/>
          <p:nvPr/>
        </p:nvSpPr>
        <p:spPr>
          <a:xfrm>
            <a:off x="4734000" y="4730040"/>
            <a:ext cx="3143520" cy="245520"/>
          </a:xfrm>
          <a:prstGeom prst="rect">
            <a:avLst/>
          </a:prstGeom>
          <a:solidFill>
            <a:schemeClr val="lt1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4" name="Google Shape;68;p14"/>
          <p:cNvSpPr/>
          <p:nvPr/>
        </p:nvSpPr>
        <p:spPr>
          <a:xfrm>
            <a:off x="5226120" y="4668120"/>
            <a:ext cx="2844000" cy="35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100" spc="-1" strike="noStrike">
                <a:solidFill>
                  <a:srgbClr val="24292e"/>
                </a:solidFill>
                <a:highlight>
                  <a:srgbClr val="ffffff"/>
                </a:highlight>
                <a:latin typeface="Arial"/>
                <a:ea typeface="Arial"/>
              </a:rPr>
              <a:t>Sturrock &amp; Garbutt, 1994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95" name="Google Shape;69;p14"/>
          <p:cNvSpPr/>
          <p:nvPr/>
        </p:nvSpPr>
        <p:spPr>
          <a:xfrm flipH="1" rot="10800000">
            <a:off x="588600" y="919440"/>
            <a:ext cx="5389200" cy="1044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96" name="Google Shape;70;p14" descr=""/>
          <p:cNvPicPr/>
          <p:nvPr/>
        </p:nvPicPr>
        <p:blipFill>
          <a:blip r:embed="rId2"/>
          <a:stretch/>
        </p:blipFill>
        <p:spPr>
          <a:xfrm>
            <a:off x="6577200" y="51480"/>
            <a:ext cx="1823400" cy="2362320"/>
          </a:xfrm>
          <a:prstGeom prst="rect">
            <a:avLst/>
          </a:prstGeom>
          <a:ln w="0">
            <a:noFill/>
          </a:ln>
        </p:spPr>
      </p:pic>
      <p:sp>
        <p:nvSpPr>
          <p:cNvPr id="97" name="Google Shape;71;p14"/>
          <p:cNvSpPr/>
          <p:nvPr/>
        </p:nvSpPr>
        <p:spPr>
          <a:xfrm>
            <a:off x="6500160" y="2311920"/>
            <a:ext cx="1977840" cy="35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100" spc="-1" strike="noStrike">
                <a:solidFill>
                  <a:srgbClr val="000000"/>
                </a:solidFill>
                <a:latin typeface="Arial"/>
                <a:ea typeface="Arial"/>
              </a:rPr>
              <a:t>Kevin Zobrist</a:t>
            </a:r>
            <a:endParaRPr b="0" lang="en-US" sz="1100" spc="-1" strike="noStrike">
              <a:latin typeface="Arial"/>
            </a:endParaRPr>
          </a:p>
        </p:txBody>
      </p:sp>
      <p:pic>
        <p:nvPicPr>
          <p:cNvPr id="98" name="Google Shape;72;p14" descr=""/>
          <p:cNvPicPr/>
          <p:nvPr/>
        </p:nvPicPr>
        <p:blipFill>
          <a:blip r:embed="rId3"/>
          <a:stretch/>
        </p:blipFill>
        <p:spPr>
          <a:xfrm>
            <a:off x="734400" y="2666160"/>
            <a:ext cx="3969000" cy="2172240"/>
          </a:xfrm>
          <a:prstGeom prst="rect">
            <a:avLst/>
          </a:prstGeom>
          <a:ln w="0">
            <a:noFill/>
          </a:ln>
        </p:spPr>
      </p:pic>
      <p:sp>
        <p:nvSpPr>
          <p:cNvPr id="99" name="Google Shape;73;p14"/>
          <p:cNvSpPr/>
          <p:nvPr/>
        </p:nvSpPr>
        <p:spPr>
          <a:xfrm>
            <a:off x="778680" y="4730040"/>
            <a:ext cx="3648240" cy="34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050" spc="-1" strike="noStrike">
                <a:solidFill>
                  <a:srgbClr val="002145"/>
                </a:solidFill>
                <a:highlight>
                  <a:srgbClr val="ffffff"/>
                </a:highlight>
                <a:latin typeface="Arial"/>
                <a:ea typeface="Arial"/>
              </a:rPr>
              <a:t>Dr. Richard Hamelin &amp; Dr. Allan Carroll</a:t>
            </a:r>
            <a:endParaRPr b="0" lang="en-US" sz="10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78;p15"/>
          <p:cNvSpPr txBox="1"/>
          <p:nvPr/>
        </p:nvSpPr>
        <p:spPr>
          <a:xfrm>
            <a:off x="-1657440" y="-1133640"/>
            <a:ext cx="8520120" cy="20523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rm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Arial"/>
                <a:ea typeface="Arial"/>
              </a:rPr>
              <a:t>                 </a:t>
            </a: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Signs and Symptoms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Google Shape;79;p15"/>
          <p:cNvSpPr/>
          <p:nvPr/>
        </p:nvSpPr>
        <p:spPr>
          <a:xfrm>
            <a:off x="160560" y="4759200"/>
            <a:ext cx="3143520" cy="245520"/>
          </a:xfrm>
          <a:prstGeom prst="rect">
            <a:avLst/>
          </a:prstGeom>
          <a:solidFill>
            <a:schemeClr val="lt1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2" name="Google Shape;80;p15"/>
          <p:cNvSpPr/>
          <p:nvPr/>
        </p:nvSpPr>
        <p:spPr>
          <a:xfrm flipH="1" rot="10800000">
            <a:off x="588600" y="919440"/>
            <a:ext cx="5389200" cy="1044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103" name="Google Shape;81;p15" descr=""/>
          <p:cNvPicPr/>
          <p:nvPr/>
        </p:nvPicPr>
        <p:blipFill>
          <a:blip r:embed="rId1"/>
          <a:stretch/>
        </p:blipFill>
        <p:spPr>
          <a:xfrm>
            <a:off x="160560" y="1244880"/>
            <a:ext cx="3048120" cy="3198600"/>
          </a:xfrm>
          <a:prstGeom prst="rect">
            <a:avLst/>
          </a:prstGeom>
          <a:ln w="0">
            <a:noFill/>
          </a:ln>
        </p:spPr>
      </p:pic>
      <p:pic>
        <p:nvPicPr>
          <p:cNvPr id="104" name="Google Shape;82;p15" descr=""/>
          <p:cNvPicPr/>
          <p:nvPr/>
        </p:nvPicPr>
        <p:blipFill>
          <a:blip r:embed="rId2"/>
          <a:stretch/>
        </p:blipFill>
        <p:spPr>
          <a:xfrm>
            <a:off x="3460320" y="2957760"/>
            <a:ext cx="2832120" cy="1917360"/>
          </a:xfrm>
          <a:prstGeom prst="rect">
            <a:avLst/>
          </a:prstGeom>
          <a:ln w="0">
            <a:noFill/>
          </a:ln>
        </p:spPr>
      </p:pic>
      <p:sp>
        <p:nvSpPr>
          <p:cNvPr id="105" name="Google Shape;83;p15"/>
          <p:cNvSpPr/>
          <p:nvPr/>
        </p:nvSpPr>
        <p:spPr>
          <a:xfrm>
            <a:off x="3368520" y="4789080"/>
            <a:ext cx="3551040" cy="33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000" spc="-1" strike="noStrike">
                <a:solidFill>
                  <a:srgbClr val="000000"/>
                </a:solidFill>
                <a:latin typeface="Arial"/>
                <a:ea typeface="Arial"/>
              </a:rPr>
              <a:t>David Shaw, pnwhandbooks.org</a:t>
            </a:r>
            <a:endParaRPr b="0" lang="en-US" sz="1000" spc="-1" strike="noStrike">
              <a:latin typeface="Arial"/>
            </a:endParaRPr>
          </a:p>
        </p:txBody>
      </p:sp>
      <p:pic>
        <p:nvPicPr>
          <p:cNvPr id="106" name="Google Shape;84;p15" descr=""/>
          <p:cNvPicPr/>
          <p:nvPr/>
        </p:nvPicPr>
        <p:blipFill>
          <a:blip r:embed="rId3"/>
          <a:stretch/>
        </p:blipFill>
        <p:spPr>
          <a:xfrm>
            <a:off x="6544080" y="2746800"/>
            <a:ext cx="2530800" cy="2128320"/>
          </a:xfrm>
          <a:prstGeom prst="rect">
            <a:avLst/>
          </a:prstGeom>
          <a:ln w="0">
            <a:noFill/>
          </a:ln>
        </p:spPr>
      </p:pic>
      <p:sp>
        <p:nvSpPr>
          <p:cNvPr id="107" name="Google Shape;85;p15"/>
          <p:cNvSpPr/>
          <p:nvPr/>
        </p:nvSpPr>
        <p:spPr>
          <a:xfrm>
            <a:off x="469080" y="4444200"/>
            <a:ext cx="273996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Near Waldo Lake, OR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08" name="Google Shape;86;p15"/>
          <p:cNvSpPr/>
          <p:nvPr/>
        </p:nvSpPr>
        <p:spPr>
          <a:xfrm>
            <a:off x="6166800" y="2217600"/>
            <a:ext cx="1977840" cy="33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000" spc="-1" strike="noStrike">
                <a:solidFill>
                  <a:srgbClr val="000000"/>
                </a:solidFill>
                <a:latin typeface="Arial"/>
                <a:ea typeface="Arial"/>
              </a:rPr>
              <a:t>Kevin Zobrist</a:t>
            </a:r>
            <a:endParaRPr b="0" lang="en-US" sz="1000" spc="-1" strike="noStrike">
              <a:latin typeface="Arial"/>
            </a:endParaRPr>
          </a:p>
        </p:txBody>
      </p:sp>
      <p:pic>
        <p:nvPicPr>
          <p:cNvPr id="109" name="Google Shape;87;p15" descr=""/>
          <p:cNvPicPr/>
          <p:nvPr/>
        </p:nvPicPr>
        <p:blipFill>
          <a:blip r:embed="rId4"/>
          <a:stretch/>
        </p:blipFill>
        <p:spPr>
          <a:xfrm>
            <a:off x="6243120" y="173880"/>
            <a:ext cx="2832120" cy="2128320"/>
          </a:xfrm>
          <a:prstGeom prst="rect">
            <a:avLst/>
          </a:prstGeom>
          <a:ln w="0">
            <a:noFill/>
          </a:ln>
        </p:spPr>
      </p:pic>
      <p:pic>
        <p:nvPicPr>
          <p:cNvPr id="110" name="Google Shape;88;p15" descr=""/>
          <p:cNvPicPr/>
          <p:nvPr/>
        </p:nvPicPr>
        <p:blipFill>
          <a:blip r:embed="rId5"/>
          <a:stretch/>
        </p:blipFill>
        <p:spPr>
          <a:xfrm>
            <a:off x="3759480" y="1034640"/>
            <a:ext cx="2057400" cy="18068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93;p16"/>
          <p:cNvSpPr txBox="1"/>
          <p:nvPr/>
        </p:nvSpPr>
        <p:spPr>
          <a:xfrm>
            <a:off x="311760" y="744480"/>
            <a:ext cx="8520120" cy="20523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Google Shape;94;p16"/>
          <p:cNvSpPr txBox="1"/>
          <p:nvPr/>
        </p:nvSpPr>
        <p:spPr>
          <a:xfrm>
            <a:off x="311760" y="2834280"/>
            <a:ext cx="8520120" cy="792360"/>
          </a:xfrm>
          <a:prstGeom prst="rect">
            <a:avLst/>
          </a:prstGeom>
          <a:noFill/>
          <a:ln w="0">
            <a:noFill/>
          </a:ln>
        </p:spPr>
        <p:txBody>
          <a:bodyPr tIns="91440" bIns="91440">
            <a:norm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  <p:pic>
        <p:nvPicPr>
          <p:cNvPr id="113" name="Google Shape;95;p16" descr=""/>
          <p:cNvPicPr/>
          <p:nvPr/>
        </p:nvPicPr>
        <p:blipFill>
          <a:blip r:embed="rId1"/>
          <a:stretch/>
        </p:blipFill>
        <p:spPr>
          <a:xfrm>
            <a:off x="989280" y="1133280"/>
            <a:ext cx="7655040" cy="4370040"/>
          </a:xfrm>
          <a:prstGeom prst="rect">
            <a:avLst/>
          </a:prstGeom>
          <a:ln w="0">
            <a:noFill/>
          </a:ln>
        </p:spPr>
      </p:pic>
      <p:pic>
        <p:nvPicPr>
          <p:cNvPr id="114" name="Google Shape;96;p16" descr=""/>
          <p:cNvPicPr/>
          <p:nvPr/>
        </p:nvPicPr>
        <p:blipFill>
          <a:blip r:embed="rId2"/>
          <a:srcRect l="19636" t="177178" r="-19636" b="-177178"/>
          <a:stretch/>
        </p:blipFill>
        <p:spPr>
          <a:xfrm>
            <a:off x="311760" y="3041640"/>
            <a:ext cx="1168200" cy="1651680"/>
          </a:xfrm>
          <a:prstGeom prst="rect">
            <a:avLst/>
          </a:prstGeom>
          <a:ln w="0">
            <a:noFill/>
          </a:ln>
        </p:spPr>
      </p:pic>
      <p:sp>
        <p:nvSpPr>
          <p:cNvPr id="115" name="Google Shape;97;p16"/>
          <p:cNvSpPr/>
          <p:nvPr/>
        </p:nvSpPr>
        <p:spPr>
          <a:xfrm>
            <a:off x="54360" y="1494360"/>
            <a:ext cx="1683000" cy="39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" sz="700" spc="-1" strike="noStrike">
                <a:solidFill>
                  <a:srgbClr val="000000"/>
                </a:solidFill>
                <a:highlight>
                  <a:srgbClr val="f8f9fa"/>
                </a:highlight>
                <a:latin typeface="Arial"/>
                <a:ea typeface="Arial"/>
              </a:rPr>
              <a:t>William Alphonso Murrill</a:t>
            </a:r>
            <a:br/>
            <a:r>
              <a:rPr b="0" lang="en" sz="700" spc="-1" strike="noStrike">
                <a:solidFill>
                  <a:srgbClr val="000000"/>
                </a:solidFill>
                <a:highlight>
                  <a:srgbClr val="f8f9fa"/>
                </a:highlight>
                <a:latin typeface="Arial"/>
                <a:ea typeface="Arial"/>
              </a:rPr>
              <a:t>wikipedia.org</a:t>
            </a:r>
            <a:endParaRPr b="0" lang="en-US" sz="700" spc="-1" strike="noStrike">
              <a:latin typeface="Arial"/>
            </a:endParaRPr>
          </a:p>
        </p:txBody>
      </p:sp>
      <p:pic>
        <p:nvPicPr>
          <p:cNvPr id="116" name="Google Shape;98;p16" descr=""/>
          <p:cNvPicPr/>
          <p:nvPr/>
        </p:nvPicPr>
        <p:blipFill>
          <a:blip r:embed="rId3"/>
          <a:stretch/>
        </p:blipFill>
        <p:spPr>
          <a:xfrm>
            <a:off x="139680" y="76680"/>
            <a:ext cx="1067760" cy="1509480"/>
          </a:xfrm>
          <a:prstGeom prst="rect">
            <a:avLst/>
          </a:prstGeom>
          <a:ln w="0">
            <a:noFill/>
          </a:ln>
        </p:spPr>
      </p:pic>
      <p:pic>
        <p:nvPicPr>
          <p:cNvPr id="117" name="Google Shape;99;p16" descr=""/>
          <p:cNvPicPr/>
          <p:nvPr/>
        </p:nvPicPr>
        <p:blipFill>
          <a:blip r:embed="rId4"/>
          <a:stretch/>
        </p:blipFill>
        <p:spPr>
          <a:xfrm>
            <a:off x="4215600" y="-377280"/>
            <a:ext cx="2279160" cy="1963080"/>
          </a:xfrm>
          <a:prstGeom prst="rect">
            <a:avLst/>
          </a:prstGeom>
          <a:ln w="0">
            <a:noFill/>
          </a:ln>
        </p:spPr>
      </p:pic>
      <p:sp>
        <p:nvSpPr>
          <p:cNvPr id="118" name="Google Shape;100;p16"/>
          <p:cNvSpPr/>
          <p:nvPr/>
        </p:nvSpPr>
        <p:spPr>
          <a:xfrm>
            <a:off x="3625200" y="-593280"/>
            <a:ext cx="3031920" cy="669240"/>
          </a:xfrm>
          <a:prstGeom prst="rect">
            <a:avLst/>
          </a:prstGeom>
          <a:solidFill>
            <a:schemeClr val="lt1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05;p17"/>
          <p:cNvSpPr txBox="1"/>
          <p:nvPr/>
        </p:nvSpPr>
        <p:spPr>
          <a:xfrm>
            <a:off x="-1657440" y="-1133640"/>
            <a:ext cx="8520120" cy="2052360"/>
          </a:xfrm>
          <a:prstGeom prst="rect">
            <a:avLst/>
          </a:prstGeom>
          <a:noFill/>
          <a:ln w="9360">
            <a:solidFill>
              <a:srgbClr val="ffffff"/>
            </a:solidFill>
            <a:round/>
          </a:ln>
        </p:spPr>
        <p:txBody>
          <a:bodyPr tIns="91440" bIns="91440" anchor="b">
            <a:norm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Arial"/>
                <a:ea typeface="Arial"/>
              </a:rPr>
              <a:t>                 </a:t>
            </a: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Economic Impact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Google Shape;106;p17"/>
          <p:cNvSpPr/>
          <p:nvPr/>
        </p:nvSpPr>
        <p:spPr>
          <a:xfrm>
            <a:off x="363960" y="1048680"/>
            <a:ext cx="8673120" cy="280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>
            <a:spAutoFit/>
          </a:bodyPr>
          <a:p>
            <a:pPr marL="457200" indent="-317160">
              <a:lnSpc>
                <a:spcPct val="115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85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</a:rPr>
              <a:t>Most damaging root rot of </a:t>
            </a:r>
            <a:r>
              <a:rPr b="0" i="1" lang="en" sz="185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</a:rPr>
              <a:t>Pseudotsuga menziesii </a:t>
            </a:r>
            <a:r>
              <a:rPr b="0" lang="en" sz="185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</a:rPr>
              <a:t>in PNW. </a:t>
            </a:r>
            <a:br/>
            <a:r>
              <a:rPr b="0" lang="en" sz="185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</a:rPr>
              <a:t> </a:t>
            </a:r>
            <a:endParaRPr b="0" lang="en-US" sz="1850" spc="-1" strike="noStrike">
              <a:latin typeface="Arial"/>
            </a:endParaRPr>
          </a:p>
          <a:p>
            <a:pPr marL="457200" indent="-345600">
              <a:lnSpc>
                <a:spcPct val="115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85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</a:rPr>
              <a:t>Infected sites result in a 40% - 70% reduction in wood volume</a:t>
            </a:r>
            <a:br/>
            <a:r>
              <a:rPr b="0" lang="en" sz="185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</a:rPr>
              <a:t>(Goheen and Hansen, 1993).</a:t>
            </a:r>
            <a:br/>
            <a:r>
              <a:rPr b="0" lang="en" sz="185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</a:rPr>
              <a:t> </a:t>
            </a:r>
            <a:endParaRPr b="0" lang="en-US" sz="1850" spc="-1" strike="noStrike">
              <a:latin typeface="Arial"/>
            </a:endParaRPr>
          </a:p>
          <a:p>
            <a:pPr marL="457200" indent="-317160">
              <a:lnSpc>
                <a:spcPct val="115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85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</a:rPr>
              <a:t>Oregon timber industry, $12 billion annually, over 58,000 jobs (Oregon Department of Forestry).</a:t>
            </a:r>
            <a:endParaRPr b="0" lang="en-US" sz="1850" spc="-1" strike="noStrike"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  <a:spcAft>
                <a:spcPts val="1199"/>
              </a:spcAft>
              <a:tabLst>
                <a:tab algn="l" pos="0"/>
              </a:tabLst>
            </a:pPr>
            <a:endParaRPr b="0" lang="en-US" sz="1850" spc="-1" strike="noStrike">
              <a:latin typeface="Arial"/>
            </a:endParaRPr>
          </a:p>
        </p:txBody>
      </p:sp>
      <p:sp>
        <p:nvSpPr>
          <p:cNvPr id="121" name="Google Shape;107;p17"/>
          <p:cNvSpPr/>
          <p:nvPr/>
        </p:nvSpPr>
        <p:spPr>
          <a:xfrm flipH="1" rot="10800000">
            <a:off x="588600" y="919440"/>
            <a:ext cx="5389200" cy="1044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12;p18"/>
          <p:cNvSpPr txBox="1"/>
          <p:nvPr/>
        </p:nvSpPr>
        <p:spPr>
          <a:xfrm>
            <a:off x="-1657440" y="-1133640"/>
            <a:ext cx="8520120" cy="2052360"/>
          </a:xfrm>
          <a:prstGeom prst="rect">
            <a:avLst/>
          </a:prstGeom>
          <a:noFill/>
          <a:ln w="9360">
            <a:solidFill>
              <a:srgbClr val="ffffff"/>
            </a:solidFill>
            <a:round/>
          </a:ln>
        </p:spPr>
        <p:txBody>
          <a:bodyPr tIns="91440" bIns="91440" anchor="b">
            <a:norm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Arial"/>
                <a:ea typeface="Arial"/>
              </a:rPr>
              <a:t>                 </a:t>
            </a: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Research Questions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Google Shape;113;p18"/>
          <p:cNvSpPr/>
          <p:nvPr/>
        </p:nvSpPr>
        <p:spPr>
          <a:xfrm>
            <a:off x="363960" y="1048680"/>
            <a:ext cx="8673120" cy="313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>
            <a:spAutoFit/>
          </a:bodyPr>
          <a:p>
            <a:pPr marL="457200" indent="-345600">
              <a:lnSpc>
                <a:spcPct val="115000"/>
              </a:lnSpc>
              <a:buClr>
                <a:srgbClr val="000000"/>
              </a:buClr>
              <a:buFont typeface="Arial"/>
              <a:buAutoNum type="arabicPeriod"/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Do thinning treatments have an effect on the rate of spread and tree mortality caused by the fungus </a:t>
            </a:r>
            <a:r>
              <a:rPr b="0" i="1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Coniferiporia sulphurascens</a:t>
            </a: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?</a:t>
            </a:r>
            <a:br/>
            <a:r>
              <a:rPr b="0" lang="en" sz="185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en-US" sz="1850" spc="-1" strike="noStrike">
              <a:latin typeface="Arial"/>
            </a:endParaRPr>
          </a:p>
          <a:p>
            <a:pPr marL="457200" indent="-345600">
              <a:lnSpc>
                <a:spcPct val="115000"/>
              </a:lnSpc>
              <a:buClr>
                <a:srgbClr val="000000"/>
              </a:buClr>
              <a:buFont typeface="Arial"/>
              <a:buAutoNum type="arabicPeriod"/>
            </a:pPr>
            <a:r>
              <a:rPr b="0" lang="en" sz="185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</a:rPr>
              <a:t>How closely related are </a:t>
            </a:r>
            <a:r>
              <a:rPr b="0" i="1" lang="en" sz="185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</a:rPr>
              <a:t>C. sulphurascens</a:t>
            </a:r>
            <a:r>
              <a:rPr b="0" lang="en" sz="185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</a:rPr>
              <a:t> and </a:t>
            </a:r>
            <a:r>
              <a:rPr b="0" i="1" lang="en" sz="185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</a:rPr>
              <a:t>C. weirri</a:t>
            </a:r>
            <a:r>
              <a:rPr b="0" lang="en" sz="185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</a:rPr>
              <a:t> isolates that have been collected from across the Pacific Northwest and the world?</a:t>
            </a:r>
            <a:br/>
            <a:r>
              <a:rPr b="0" lang="en" sz="185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</a:rPr>
              <a:t> </a:t>
            </a:r>
            <a:endParaRPr b="0" lang="en-US" sz="1850" spc="-1" strike="noStrike">
              <a:latin typeface="Arial"/>
            </a:endParaRPr>
          </a:p>
          <a:p>
            <a:pPr marL="457200" indent="-345600">
              <a:lnSpc>
                <a:spcPct val="115000"/>
              </a:lnSpc>
              <a:buClr>
                <a:srgbClr val="000000"/>
              </a:buClr>
              <a:buFont typeface="Arial"/>
              <a:buAutoNum type="arabicPeriod"/>
            </a:pPr>
            <a:r>
              <a:rPr b="0" lang="en" sz="185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</a:rPr>
              <a:t>What are the driving infection mechanisms for diseased trees occurring sporadically throughout the forest?</a:t>
            </a:r>
            <a:endParaRPr b="0" lang="en-US" sz="1850" spc="-1" strike="noStrike"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  <a:spcAft>
                <a:spcPts val="1199"/>
              </a:spcAft>
              <a:tabLst>
                <a:tab algn="l" pos="0"/>
              </a:tabLst>
            </a:pPr>
            <a:endParaRPr b="0" lang="en-US" sz="1850" spc="-1" strike="noStrike">
              <a:latin typeface="Arial"/>
            </a:endParaRPr>
          </a:p>
        </p:txBody>
      </p:sp>
      <p:sp>
        <p:nvSpPr>
          <p:cNvPr id="124" name="Google Shape;114;p18"/>
          <p:cNvSpPr/>
          <p:nvPr/>
        </p:nvSpPr>
        <p:spPr>
          <a:xfrm flipH="1" rot="10800000">
            <a:off x="588600" y="919440"/>
            <a:ext cx="5389200" cy="1044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19;p19"/>
          <p:cNvSpPr txBox="1"/>
          <p:nvPr/>
        </p:nvSpPr>
        <p:spPr>
          <a:xfrm>
            <a:off x="-977040" y="-1133640"/>
            <a:ext cx="8520120" cy="20523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rm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               </a:t>
            </a: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Siuslaw National Forest 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Google Shape;120;p19"/>
          <p:cNvSpPr/>
          <p:nvPr/>
        </p:nvSpPr>
        <p:spPr>
          <a:xfrm flipH="1" rot="10800000">
            <a:off x="706320" y="903960"/>
            <a:ext cx="5389200" cy="1044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7" name="Google Shape;121;p19"/>
          <p:cNvSpPr/>
          <p:nvPr/>
        </p:nvSpPr>
        <p:spPr>
          <a:xfrm>
            <a:off x="705960" y="1073520"/>
            <a:ext cx="5624280" cy="252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>
            <a:spAutoFit/>
          </a:bodyPr>
          <a:p>
            <a:pPr marL="457200" indent="-329760">
              <a:lnSpc>
                <a:spcPct val="75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Unique ecosystem for surveying of LRR.</a:t>
            </a:r>
            <a:br/>
            <a:r>
              <a:rPr b="0" lang="en" sz="16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en-US" sz="1600" spc="-1" strike="noStrike">
              <a:latin typeface="Arial"/>
            </a:endParaRPr>
          </a:p>
          <a:p>
            <a:pPr marL="457200" indent="-329760">
              <a:lnSpc>
                <a:spcPct val="75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Study area was clear cut between 1910 </a:t>
            </a:r>
            <a:br/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and 1920.</a:t>
            </a:r>
            <a:br/>
            <a:r>
              <a:rPr b="0" lang="en" sz="16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en-US" sz="1600" spc="-1" strike="noStrike">
              <a:latin typeface="Arial"/>
            </a:endParaRPr>
          </a:p>
          <a:p>
            <a:pPr marL="457200" indent="-329760">
              <a:lnSpc>
                <a:spcPct val="75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Area burned after reharvest, reestablished </a:t>
            </a:r>
            <a:br/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from seed (Tkacz &amp; Hansen, 1982).</a:t>
            </a:r>
            <a:endParaRPr b="0" lang="en-US" sz="1600" spc="-1" strike="noStrike">
              <a:latin typeface="Arial"/>
            </a:endParaRPr>
          </a:p>
          <a:p>
            <a:pPr marL="457200">
              <a:lnSpc>
                <a:spcPct val="75000"/>
              </a:lnSpc>
              <a:tabLst>
                <a:tab algn="l" pos="0"/>
              </a:tabLst>
            </a:pPr>
            <a:endParaRPr b="0" lang="en-US" sz="1600" spc="-1" strike="noStrike">
              <a:latin typeface="Arial"/>
            </a:endParaRPr>
          </a:p>
          <a:p>
            <a:pPr marL="457200" indent="-329760">
              <a:lnSpc>
                <a:spcPct val="75000"/>
              </a:lnSpc>
              <a:buClr>
                <a:srgbClr val="000000"/>
              </a:buClr>
              <a:buFont typeface="Arial"/>
              <a:buChar char="-"/>
              <a:tabLst>
                <a:tab algn="l" pos="0"/>
              </a:tabLst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Study area is ~400 acres. </a:t>
            </a:r>
            <a:br/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 </a:t>
            </a:r>
            <a:endParaRPr b="0" lang="en-US" sz="1600" spc="-1" strike="noStrike">
              <a:latin typeface="Arial"/>
            </a:endParaRPr>
          </a:p>
          <a:p>
            <a:pPr marL="457200">
              <a:lnSpc>
                <a:spcPct val="75000"/>
              </a:lnSpc>
              <a:tabLst>
                <a:tab algn="l" pos="0"/>
              </a:tabLst>
            </a:pPr>
            <a:br/>
            <a:endParaRPr b="0" lang="en-US" sz="1600" spc="-1" strike="noStrike"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600" spc="-1" strike="noStrike">
              <a:latin typeface="Arial"/>
            </a:endParaRPr>
          </a:p>
        </p:txBody>
      </p:sp>
      <p:pic>
        <p:nvPicPr>
          <p:cNvPr id="128" name="Google Shape;122;p19" descr=""/>
          <p:cNvPicPr/>
          <p:nvPr/>
        </p:nvPicPr>
        <p:blipFill>
          <a:blip r:embed="rId1"/>
          <a:stretch/>
        </p:blipFill>
        <p:spPr>
          <a:xfrm>
            <a:off x="5689800" y="1073520"/>
            <a:ext cx="2938320" cy="3919320"/>
          </a:xfrm>
          <a:prstGeom prst="rect">
            <a:avLst/>
          </a:prstGeom>
          <a:ln w="0">
            <a:noFill/>
          </a:ln>
        </p:spPr>
      </p:pic>
      <p:sp>
        <p:nvSpPr>
          <p:cNvPr id="129" name="Google Shape;123;p19"/>
          <p:cNvSpPr/>
          <p:nvPr/>
        </p:nvSpPr>
        <p:spPr>
          <a:xfrm>
            <a:off x="160560" y="4598640"/>
            <a:ext cx="3403080" cy="266040"/>
          </a:xfrm>
          <a:prstGeom prst="rect">
            <a:avLst/>
          </a:prstGeom>
          <a:solidFill>
            <a:schemeClr val="lt1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0" name="Google Shape;124;p19"/>
          <p:cNvSpPr/>
          <p:nvPr/>
        </p:nvSpPr>
        <p:spPr>
          <a:xfrm>
            <a:off x="611640" y="4728600"/>
            <a:ext cx="2745360" cy="195840"/>
          </a:xfrm>
          <a:prstGeom prst="rect">
            <a:avLst/>
          </a:prstGeom>
          <a:solidFill>
            <a:schemeClr val="lt1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131" name="Google Shape;125;p19" descr=""/>
          <p:cNvPicPr/>
          <p:nvPr/>
        </p:nvPicPr>
        <p:blipFill>
          <a:blip r:embed="rId2"/>
          <a:stretch/>
        </p:blipFill>
        <p:spPr>
          <a:xfrm>
            <a:off x="1173600" y="3025440"/>
            <a:ext cx="3290040" cy="1942200"/>
          </a:xfrm>
          <a:prstGeom prst="rect">
            <a:avLst/>
          </a:prstGeom>
          <a:ln w="0">
            <a:noFill/>
          </a:ln>
        </p:spPr>
      </p:pic>
      <p:sp>
        <p:nvSpPr>
          <p:cNvPr id="132" name="Google Shape;126;p19"/>
          <p:cNvSpPr/>
          <p:nvPr/>
        </p:nvSpPr>
        <p:spPr>
          <a:xfrm>
            <a:off x="1461240" y="3509640"/>
            <a:ext cx="1045800" cy="39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400" spc="-1" strike="noStrike">
                <a:solidFill>
                  <a:srgbClr val="000000"/>
                </a:solidFill>
                <a:latin typeface="Arial"/>
                <a:ea typeface="Arial"/>
              </a:rPr>
              <a:t>Study site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33" name="Google Shape;127;p19"/>
          <p:cNvSpPr/>
          <p:nvPr/>
        </p:nvSpPr>
        <p:spPr>
          <a:xfrm flipH="1" rot="10800000">
            <a:off x="2228400" y="3440160"/>
            <a:ext cx="223920" cy="1594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9525">
            <a:solidFill>
              <a:srgbClr val="59595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4" name="Google Shape;128;p19"/>
          <p:cNvSpPr/>
          <p:nvPr/>
        </p:nvSpPr>
        <p:spPr>
          <a:xfrm>
            <a:off x="1161720" y="3038760"/>
            <a:ext cx="360" cy="195372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9525">
            <a:solidFill>
              <a:srgbClr val="59595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5" name="Google Shape;129;p19"/>
          <p:cNvSpPr/>
          <p:nvPr/>
        </p:nvSpPr>
        <p:spPr>
          <a:xfrm flipH="1" rot="10800000">
            <a:off x="1153080" y="3016440"/>
            <a:ext cx="3318840" cy="1620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9525">
            <a:solidFill>
              <a:srgbClr val="59595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6" name="Google Shape;130;p19"/>
          <p:cNvSpPr/>
          <p:nvPr/>
        </p:nvSpPr>
        <p:spPr>
          <a:xfrm rot="10800000">
            <a:off x="4461480" y="3016440"/>
            <a:ext cx="5040" cy="196092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9525">
            <a:solidFill>
              <a:srgbClr val="59595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7" name="Google Shape;131;p19"/>
          <p:cNvSpPr/>
          <p:nvPr/>
        </p:nvSpPr>
        <p:spPr>
          <a:xfrm flipH="1" rot="10800000">
            <a:off x="1159560" y="4968000"/>
            <a:ext cx="3318480" cy="612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9525">
            <a:solidFill>
              <a:srgbClr val="59595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8" name="Google Shape;132;p19"/>
          <p:cNvSpPr/>
          <p:nvPr/>
        </p:nvSpPr>
        <p:spPr>
          <a:xfrm>
            <a:off x="4478040" y="4581360"/>
            <a:ext cx="4202640" cy="39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9" name="Google Shape;133;p19"/>
          <p:cNvSpPr/>
          <p:nvPr/>
        </p:nvSpPr>
        <p:spPr>
          <a:xfrm>
            <a:off x="5619960" y="4924800"/>
            <a:ext cx="2189880" cy="32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900" spc="-1" strike="noStrike">
                <a:solidFill>
                  <a:srgbClr val="000000"/>
                </a:solidFill>
                <a:latin typeface="Arial"/>
                <a:ea typeface="Arial"/>
              </a:rPr>
              <a:t>Adam Carson</a:t>
            </a:r>
            <a:endParaRPr b="0" lang="en-US" sz="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38;p20"/>
          <p:cNvSpPr txBox="1"/>
          <p:nvPr/>
        </p:nvSpPr>
        <p:spPr>
          <a:xfrm>
            <a:off x="-977040" y="-1133640"/>
            <a:ext cx="8520120" cy="20523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rm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               </a:t>
            </a: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Woods Creek Study Area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Google Shape;139;p20"/>
          <p:cNvSpPr/>
          <p:nvPr/>
        </p:nvSpPr>
        <p:spPr>
          <a:xfrm>
            <a:off x="588240" y="1070640"/>
            <a:ext cx="5624280" cy="236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>
            <a:spAutoFit/>
          </a:bodyPr>
          <a:p>
            <a:pPr marL="457200" indent="-323640">
              <a:lnSpc>
                <a:spcPct val="75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Network of 75 plots established in 1985. </a:t>
            </a:r>
            <a:br/>
            <a:r>
              <a:rPr b="0" lang="en" sz="15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en-US" sz="1500" spc="-1" strike="noStrike">
              <a:latin typeface="Arial"/>
            </a:endParaRPr>
          </a:p>
          <a:p>
            <a:pPr marL="457200" indent="-323640">
              <a:lnSpc>
                <a:spcPct val="75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Plot size of 1/10 acre, with a plot </a:t>
            </a:r>
            <a:endParaRPr b="0" lang="en-US" sz="1500" spc="-1" strike="noStrike">
              <a:latin typeface="Arial"/>
            </a:endParaRPr>
          </a:p>
          <a:p>
            <a:pPr marL="457200">
              <a:lnSpc>
                <a:spcPct val="75000"/>
              </a:lnSpc>
              <a:tabLst>
                <a:tab algn="l" pos="0"/>
              </a:tabLst>
            </a:pP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radius of 37 feet.</a:t>
            </a:r>
            <a:br/>
            <a:endParaRPr b="0" lang="en-US" sz="1500" spc="-1" strike="noStrike">
              <a:latin typeface="Arial"/>
            </a:endParaRPr>
          </a:p>
          <a:p>
            <a:pPr marL="457200" indent="-323640">
              <a:lnSpc>
                <a:spcPct val="75000"/>
              </a:lnSpc>
              <a:buClr>
                <a:srgbClr val="000000"/>
              </a:buClr>
              <a:buFont typeface="Arial"/>
              <a:buChar char="-"/>
              <a:tabLst>
                <a:tab algn="l" pos="0"/>
              </a:tabLst>
            </a:pP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Stands ranged from ~15-35 acres.</a:t>
            </a:r>
            <a:br/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 </a:t>
            </a:r>
            <a:endParaRPr b="0" lang="en-US" sz="1500" spc="-1" strike="noStrike">
              <a:latin typeface="Arial"/>
            </a:endParaRPr>
          </a:p>
          <a:p>
            <a:pPr marL="457200" indent="-329760">
              <a:lnSpc>
                <a:spcPct val="75000"/>
              </a:lnSpc>
              <a:buClr>
                <a:srgbClr val="000000"/>
              </a:buClr>
              <a:buFont typeface="Arial"/>
              <a:buChar char="-"/>
              <a:tabLst>
                <a:tab algn="l" pos="0"/>
              </a:tabLst>
            </a:pP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Data recorded was</a:t>
            </a:r>
            <a:r>
              <a:rPr b="1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 species,</a:t>
            </a: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 diameter at </a:t>
            </a:r>
            <a:br/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breast height (</a:t>
            </a:r>
            <a:r>
              <a:rPr b="1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DBH</a:t>
            </a: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), and</a:t>
            </a:r>
            <a:r>
              <a:rPr b="1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 tree health </a:t>
            </a:r>
            <a:br/>
            <a:r>
              <a:rPr b="1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condition.</a:t>
            </a: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 </a:t>
            </a:r>
            <a:br/>
            <a:r>
              <a:rPr b="0" lang="en" sz="18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en-US" sz="1800" spc="-1" strike="noStrike">
              <a:latin typeface="Arial"/>
            </a:endParaRPr>
          </a:p>
          <a:p>
            <a:pPr marL="4572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latin typeface="Arial"/>
            </a:endParaRPr>
          </a:p>
        </p:txBody>
      </p:sp>
      <p:sp>
        <p:nvSpPr>
          <p:cNvPr id="142" name="Google Shape;140;p20"/>
          <p:cNvSpPr/>
          <p:nvPr/>
        </p:nvSpPr>
        <p:spPr>
          <a:xfrm>
            <a:off x="135000" y="4650480"/>
            <a:ext cx="3403080" cy="266040"/>
          </a:xfrm>
          <a:prstGeom prst="rect">
            <a:avLst/>
          </a:prstGeom>
          <a:solidFill>
            <a:schemeClr val="lt1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143" name="Google Shape;141;p20" descr=""/>
          <p:cNvPicPr/>
          <p:nvPr/>
        </p:nvPicPr>
        <p:blipFill>
          <a:blip r:embed="rId1"/>
          <a:stretch/>
        </p:blipFill>
        <p:spPr>
          <a:xfrm>
            <a:off x="4933800" y="734040"/>
            <a:ext cx="5832360" cy="4507920"/>
          </a:xfrm>
          <a:prstGeom prst="rect">
            <a:avLst/>
          </a:prstGeom>
          <a:ln w="0">
            <a:noFill/>
          </a:ln>
        </p:spPr>
      </p:pic>
      <p:sp>
        <p:nvSpPr>
          <p:cNvPr id="144" name="Google Shape;142;p20"/>
          <p:cNvSpPr/>
          <p:nvPr/>
        </p:nvSpPr>
        <p:spPr>
          <a:xfrm>
            <a:off x="4588200" y="4574520"/>
            <a:ext cx="4812480" cy="39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45" name="Google Shape;143;p20"/>
          <p:cNvSpPr/>
          <p:nvPr/>
        </p:nvSpPr>
        <p:spPr>
          <a:xfrm flipH="1" rot="10800000">
            <a:off x="706320" y="903960"/>
            <a:ext cx="5389200" cy="1044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6" name="Google Shape;144;p20"/>
          <p:cNvSpPr/>
          <p:nvPr/>
        </p:nvSpPr>
        <p:spPr>
          <a:xfrm>
            <a:off x="586080" y="4780800"/>
            <a:ext cx="2745360" cy="195840"/>
          </a:xfrm>
          <a:prstGeom prst="rect">
            <a:avLst/>
          </a:prstGeom>
          <a:solidFill>
            <a:schemeClr val="lt1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7" name="Google Shape;145;p20"/>
          <p:cNvSpPr/>
          <p:nvPr/>
        </p:nvSpPr>
        <p:spPr>
          <a:xfrm>
            <a:off x="4452480" y="4633200"/>
            <a:ext cx="4202640" cy="39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48" name="Google Shape;146;p20"/>
          <p:cNvSpPr/>
          <p:nvPr/>
        </p:nvSpPr>
        <p:spPr>
          <a:xfrm flipH="1" rot="10800000">
            <a:off x="5961240" y="1787760"/>
            <a:ext cx="256680" cy="7840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9525">
            <a:solidFill>
              <a:srgbClr val="59595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9" name="Google Shape;147;p20"/>
          <p:cNvSpPr/>
          <p:nvPr/>
        </p:nvSpPr>
        <p:spPr>
          <a:xfrm>
            <a:off x="5529600" y="1523160"/>
            <a:ext cx="1872000" cy="33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000" spc="-1" strike="noStrike">
                <a:solidFill>
                  <a:srgbClr val="000000"/>
                </a:solidFill>
                <a:latin typeface="Arial"/>
                <a:ea typeface="Arial"/>
              </a:rPr>
              <a:t>Woods Creek Trailhead</a:t>
            </a:r>
            <a:endParaRPr b="0" lang="en-US" sz="1000" spc="-1" strike="noStrike">
              <a:latin typeface="Arial"/>
            </a:endParaRPr>
          </a:p>
        </p:txBody>
      </p:sp>
      <p:pic>
        <p:nvPicPr>
          <p:cNvPr id="150" name="Google Shape;148;p20" descr=""/>
          <p:cNvPicPr/>
          <p:nvPr/>
        </p:nvPicPr>
        <p:blipFill>
          <a:blip r:embed="rId2"/>
          <a:stretch/>
        </p:blipFill>
        <p:spPr>
          <a:xfrm>
            <a:off x="1146240" y="3049920"/>
            <a:ext cx="2644200" cy="19832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3;p21"/>
          <p:cNvSpPr txBox="1"/>
          <p:nvPr/>
        </p:nvSpPr>
        <p:spPr>
          <a:xfrm>
            <a:off x="-977040" y="-1133640"/>
            <a:ext cx="8520120" cy="20523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rm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               </a:t>
            </a: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Thinning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Google Shape;154;p21"/>
          <p:cNvSpPr/>
          <p:nvPr/>
        </p:nvSpPr>
        <p:spPr>
          <a:xfrm>
            <a:off x="160560" y="4759200"/>
            <a:ext cx="3143520" cy="245520"/>
          </a:xfrm>
          <a:prstGeom prst="rect">
            <a:avLst/>
          </a:prstGeom>
          <a:solidFill>
            <a:schemeClr val="lt1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3" name="Google Shape;155;p21"/>
          <p:cNvSpPr/>
          <p:nvPr/>
        </p:nvSpPr>
        <p:spPr>
          <a:xfrm>
            <a:off x="4588200" y="4574520"/>
            <a:ext cx="4812480" cy="39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54" name="Google Shape;156;p21"/>
          <p:cNvSpPr/>
          <p:nvPr/>
        </p:nvSpPr>
        <p:spPr>
          <a:xfrm flipH="1" rot="10800000">
            <a:off x="706320" y="903960"/>
            <a:ext cx="5389200" cy="1044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5" name="Google Shape;157;p21"/>
          <p:cNvSpPr/>
          <p:nvPr/>
        </p:nvSpPr>
        <p:spPr>
          <a:xfrm>
            <a:off x="705960" y="913320"/>
            <a:ext cx="5564520" cy="14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>
            <a:spAutoFit/>
          </a:bodyPr>
          <a:p>
            <a:pPr marL="457200" indent="-32976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Benefits the local economy and wildlife.</a:t>
            </a:r>
            <a:endParaRPr b="0" lang="en-US" sz="1600" spc="-1" strike="noStrike">
              <a:latin typeface="Arial"/>
            </a:endParaRPr>
          </a:p>
          <a:p>
            <a:pPr marL="457200" indent="-32976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Help prevent fire spreading to crowns of larger trees. </a:t>
            </a:r>
            <a:endParaRPr b="0" lang="en-US" sz="1600" spc="-1" strike="noStrike">
              <a:latin typeface="Arial"/>
            </a:endParaRPr>
          </a:p>
          <a:p>
            <a:pPr marL="457200" indent="-32976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Increase health and reduces some disease threats.</a:t>
            </a:r>
            <a:endParaRPr b="0" lang="en-US" sz="1600" spc="-1" strike="noStrike">
              <a:latin typeface="Arial"/>
            </a:endParaRPr>
          </a:p>
          <a:p>
            <a:pPr marL="457200" indent="-32976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Improve vegetation diversity of the forest floor. </a:t>
            </a:r>
            <a:endParaRPr b="0" lang="en-US" sz="1600" spc="-1" strike="noStrike">
              <a:latin typeface="Arial"/>
            </a:endParaRPr>
          </a:p>
          <a:p>
            <a:pPr marL="457200" indent="-32976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Increase tree growth and vigor of remaining trees.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56" name="Google Shape;158;p21"/>
          <p:cNvSpPr/>
          <p:nvPr/>
        </p:nvSpPr>
        <p:spPr>
          <a:xfrm>
            <a:off x="1479240" y="2646000"/>
            <a:ext cx="359640" cy="1796400"/>
          </a:xfrm>
          <a:prstGeom prst="rect">
            <a:avLst/>
          </a:prstGeom>
          <a:solidFill>
            <a:schemeClr val="lt1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7" name="Google Shape;159;p21"/>
          <p:cNvSpPr/>
          <p:nvPr/>
        </p:nvSpPr>
        <p:spPr>
          <a:xfrm>
            <a:off x="3444480" y="2715480"/>
            <a:ext cx="359640" cy="1796400"/>
          </a:xfrm>
          <a:prstGeom prst="rect">
            <a:avLst/>
          </a:prstGeom>
          <a:solidFill>
            <a:schemeClr val="lt1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158" name="Google Shape;160;p21" descr=""/>
          <p:cNvPicPr/>
          <p:nvPr/>
        </p:nvPicPr>
        <p:blipFill>
          <a:blip r:embed="rId1"/>
          <a:stretch/>
        </p:blipFill>
        <p:spPr>
          <a:xfrm>
            <a:off x="551520" y="2715480"/>
            <a:ext cx="2573640" cy="1946160"/>
          </a:xfrm>
          <a:prstGeom prst="rect">
            <a:avLst/>
          </a:prstGeom>
          <a:ln w="0">
            <a:noFill/>
          </a:ln>
        </p:spPr>
      </p:pic>
      <p:pic>
        <p:nvPicPr>
          <p:cNvPr id="159" name="Google Shape;161;p21" descr=""/>
          <p:cNvPicPr/>
          <p:nvPr/>
        </p:nvPicPr>
        <p:blipFill>
          <a:blip r:embed="rId2"/>
          <a:stretch/>
        </p:blipFill>
        <p:spPr>
          <a:xfrm>
            <a:off x="3355920" y="2715480"/>
            <a:ext cx="2603160" cy="1946160"/>
          </a:xfrm>
          <a:prstGeom prst="rect">
            <a:avLst/>
          </a:prstGeom>
          <a:ln w="0">
            <a:noFill/>
          </a:ln>
        </p:spPr>
      </p:pic>
      <p:pic>
        <p:nvPicPr>
          <p:cNvPr id="160" name="Google Shape;162;p21" descr=""/>
          <p:cNvPicPr/>
          <p:nvPr/>
        </p:nvPicPr>
        <p:blipFill>
          <a:blip r:embed="rId3"/>
          <a:stretch/>
        </p:blipFill>
        <p:spPr>
          <a:xfrm>
            <a:off x="6125040" y="2715480"/>
            <a:ext cx="2599560" cy="1946160"/>
          </a:xfrm>
          <a:prstGeom prst="rect">
            <a:avLst/>
          </a:prstGeom>
          <a:ln w="0">
            <a:noFill/>
          </a:ln>
        </p:spPr>
      </p:pic>
      <p:sp>
        <p:nvSpPr>
          <p:cNvPr id="161" name="Google Shape;163;p21"/>
          <p:cNvSpPr/>
          <p:nvPr/>
        </p:nvSpPr>
        <p:spPr>
          <a:xfrm>
            <a:off x="551520" y="4720680"/>
            <a:ext cx="4171680" cy="32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900" spc="-1" strike="noStrike">
                <a:solidFill>
                  <a:srgbClr val="000000"/>
                </a:solidFill>
                <a:latin typeface="Arial"/>
                <a:ea typeface="Arial"/>
              </a:rPr>
              <a:t>Source and illustrations: US Forest Service, 2020</a:t>
            </a:r>
            <a:endParaRPr b="0" lang="en-US" sz="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2" name="Google Shape;168;p22"/>
          <p:cNvGraphicFramePr/>
          <p:nvPr/>
        </p:nvGraphicFramePr>
        <p:xfrm>
          <a:off x="1600200" y="530280"/>
          <a:ext cx="5943240" cy="151920"/>
        </p:xfrm>
        <a:graphic>
          <a:graphicData uri="http://schemas.openxmlformats.org/drawingml/2006/table">
            <a:tbl>
              <a:tblPr/>
              <a:tblGrid>
                <a:gridCol w="2971800"/>
                <a:gridCol w="2971800"/>
              </a:tblGrid>
              <a:tr h="282600">
                <a:tc>
                  <a:txBody>
                    <a:bodyPr lIns="63360" rIns="63360" tIns="63360" bIns="63360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" sz="1100" spc="-1" strike="noStrike">
                          <a:solidFill>
                            <a:srgbClr val="000000"/>
                          </a:solidFill>
                          <a:highlight>
                            <a:srgbClr val="cccccc"/>
                          </a:highlight>
                          <a:latin typeface="Arial"/>
                          <a:ea typeface="Arial"/>
                        </a:rPr>
                        <a:t>Species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marL="63360" marR="6336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63360" rIns="63360" tIns="63360" bIns="63360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" sz="1100" spc="-1" strike="noStrike">
                          <a:solidFill>
                            <a:srgbClr val="000000"/>
                          </a:solidFill>
                          <a:highlight>
                            <a:srgbClr val="cccccc"/>
                          </a:highlight>
                          <a:latin typeface="Arial"/>
                          <a:ea typeface="Arial"/>
                        </a:rPr>
                        <a:t>Count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marL="63360" marR="6336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cccccc"/>
                    </a:solidFill>
                  </a:tcPr>
                </a:tc>
              </a:tr>
              <a:tr h="282600">
                <a:tc>
                  <a:txBody>
                    <a:bodyPr lIns="63360" rIns="63360" tIns="63360" bIns="63360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Douglas fir (</a:t>
                      </a:r>
                      <a:r>
                        <a:rPr b="0" i="1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Pseudotsuga menziesii</a:t>
                      </a:r>
                      <a:r>
                        <a:rPr b="0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)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marL="63360" marR="6336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3360" rIns="63360" tIns="63360" bIns="63360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1,511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marL="63360" marR="6336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282600">
                <a:tc>
                  <a:txBody>
                    <a:bodyPr lIns="63360" rIns="63360" tIns="63360" bIns="63360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Western hemlock (</a:t>
                      </a:r>
                      <a:r>
                        <a:rPr b="0" i="1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Tsuga heterophylla</a:t>
                      </a:r>
                      <a:r>
                        <a:rPr b="0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)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marL="63360" marR="6336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3360" rIns="63360" tIns="63360" bIns="63360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222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marL="63360" marR="6336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282600">
                <a:tc>
                  <a:txBody>
                    <a:bodyPr lIns="63360" rIns="63360" tIns="63360" bIns="63360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Bigleaf maple (</a:t>
                      </a:r>
                      <a:r>
                        <a:rPr b="0" i="1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Acer macrophyllum</a:t>
                      </a:r>
                      <a:r>
                        <a:rPr b="0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)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marL="63360" marR="6336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3360" rIns="63360" tIns="63360" bIns="63360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62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marL="63360" marR="6336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282600">
                <a:tc>
                  <a:txBody>
                    <a:bodyPr lIns="63360" rIns="63360" tIns="63360" bIns="63360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Western red cedar (</a:t>
                      </a:r>
                      <a:r>
                        <a:rPr b="0" i="1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Thuja plicata</a:t>
                      </a:r>
                      <a:r>
                        <a:rPr b="0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)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marL="63360" marR="6336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3360" rIns="63360" tIns="63360" bIns="63360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41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marL="63360" marR="6336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282600">
                <a:tc>
                  <a:txBody>
                    <a:bodyPr lIns="63360" rIns="63360" tIns="63360" bIns="63360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Red alder (</a:t>
                      </a:r>
                      <a:r>
                        <a:rPr b="0" i="1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Alnus rubra</a:t>
                      </a:r>
                      <a:r>
                        <a:rPr b="0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)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marL="63360" marR="6336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3360" rIns="63360" tIns="63360" bIns="63360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39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marL="63360" marR="6336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438120">
                <a:tc>
                  <a:txBody>
                    <a:bodyPr lIns="63360" rIns="63360" tIns="63360" bIns="63360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Golden chinquapin (</a:t>
                      </a:r>
                      <a:r>
                        <a:rPr b="0" i="1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Chrysolepis chrysophylla</a:t>
                      </a:r>
                      <a:r>
                        <a:rPr b="0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)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marL="63360" marR="6336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3360" rIns="63360" tIns="63360" bIns="63360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19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marL="63360" marR="6336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282600">
                <a:tc>
                  <a:txBody>
                    <a:bodyPr lIns="63360" rIns="63360" tIns="63360" bIns="63360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Willow (</a:t>
                      </a:r>
                      <a:r>
                        <a:rPr b="0" i="1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Salix</a:t>
                      </a:r>
                      <a:r>
                        <a:rPr b="0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) 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marL="63360" marR="6336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3360" rIns="63360" tIns="63360" bIns="63360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3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marL="63360" marR="6336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282600">
                <a:tc>
                  <a:txBody>
                    <a:bodyPr lIns="63360" rIns="63360" tIns="63360" bIns="63360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Birch (</a:t>
                      </a:r>
                      <a:r>
                        <a:rPr b="0" i="1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Pendula</a:t>
                      </a:r>
                      <a:r>
                        <a:rPr b="0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)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marL="63360" marR="6336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3360" rIns="63360" tIns="63360" bIns="63360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2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marL="63360" marR="6336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282600">
                <a:tc>
                  <a:txBody>
                    <a:bodyPr lIns="63360" rIns="63360" tIns="63360" bIns="63360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Grand fir (</a:t>
                      </a:r>
                      <a:r>
                        <a:rPr b="0" i="1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Abies grandis</a:t>
                      </a:r>
                      <a:r>
                        <a:rPr b="0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)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marL="63360" marR="6336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3360" rIns="63360" tIns="63360" bIns="63360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2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marL="63360" marR="6336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282600">
                <a:tc>
                  <a:txBody>
                    <a:bodyPr lIns="63360" rIns="63360" tIns="63360" bIns="63360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Noble fir (</a:t>
                      </a:r>
                      <a:r>
                        <a:rPr b="0" i="1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Abies procera</a:t>
                      </a:r>
                      <a:r>
                        <a:rPr b="0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)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marL="63360" marR="6336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3360" rIns="63360" tIns="63360" bIns="63360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2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marL="63360" marR="6336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282600">
                <a:tc>
                  <a:txBody>
                    <a:bodyPr lIns="63360" rIns="63360" tIns="63360" bIns="63360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TOTAL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marL="63360" marR="6336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3360" rIns="63360" tIns="63360" bIns="63360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1,903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marL="63360" marR="6336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63" name="Google Shape;169;p22"/>
          <p:cNvSpPr/>
          <p:nvPr/>
        </p:nvSpPr>
        <p:spPr>
          <a:xfrm>
            <a:off x="2482200" y="4410360"/>
            <a:ext cx="7491960" cy="59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400" spc="-1" strike="noStrike">
                <a:solidFill>
                  <a:srgbClr val="000000"/>
                </a:solidFill>
                <a:latin typeface="Arial"/>
                <a:ea typeface="Arial"/>
              </a:rPr>
              <a:t>10 different tree species were surveyed. 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64" name="Google Shape;170;p22"/>
          <p:cNvSpPr/>
          <p:nvPr/>
        </p:nvSpPr>
        <p:spPr>
          <a:xfrm>
            <a:off x="1600200" y="136800"/>
            <a:ext cx="640152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" sz="1300" spc="-1" strike="noStrike">
                <a:solidFill>
                  <a:srgbClr val="000000"/>
                </a:solidFill>
                <a:latin typeface="Arial"/>
                <a:ea typeface="Arial"/>
              </a:rPr>
              <a:t>Count of  tree species that were measured over the course of the study. </a:t>
            </a:r>
            <a:endParaRPr b="0" lang="en-US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75;p23"/>
          <p:cNvSpPr txBox="1"/>
          <p:nvPr/>
        </p:nvSpPr>
        <p:spPr>
          <a:xfrm>
            <a:off x="-1657440" y="-1133640"/>
            <a:ext cx="8520120" cy="2052360"/>
          </a:xfrm>
          <a:prstGeom prst="rect">
            <a:avLst/>
          </a:prstGeom>
          <a:noFill/>
          <a:ln w="9360">
            <a:solidFill>
              <a:srgbClr val="ffffff"/>
            </a:solidFill>
            <a:round/>
          </a:ln>
        </p:spPr>
        <p:txBody>
          <a:bodyPr tIns="91440" bIns="91440" anchor="b">
            <a:norm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Arial"/>
                <a:ea typeface="Arial"/>
              </a:rPr>
              <a:t>                 </a:t>
            </a: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Tree Count by Plot 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Google Shape;176;p23"/>
          <p:cNvSpPr/>
          <p:nvPr/>
        </p:nvSpPr>
        <p:spPr>
          <a:xfrm flipH="1" rot="10800000">
            <a:off x="588600" y="919440"/>
            <a:ext cx="5389200" cy="1044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167" name="Google Shape;177;p23" descr=""/>
          <p:cNvPicPr/>
          <p:nvPr/>
        </p:nvPicPr>
        <p:blipFill>
          <a:blip r:embed="rId1"/>
          <a:stretch/>
        </p:blipFill>
        <p:spPr>
          <a:xfrm>
            <a:off x="66600" y="1282680"/>
            <a:ext cx="4505040" cy="2780280"/>
          </a:xfrm>
          <a:prstGeom prst="rect">
            <a:avLst/>
          </a:prstGeom>
          <a:ln w="0">
            <a:noFill/>
          </a:ln>
        </p:spPr>
      </p:pic>
      <p:pic>
        <p:nvPicPr>
          <p:cNvPr id="168" name="Google Shape;178;p23" descr=""/>
          <p:cNvPicPr/>
          <p:nvPr/>
        </p:nvPicPr>
        <p:blipFill>
          <a:blip r:embed="rId2"/>
          <a:stretch/>
        </p:blipFill>
        <p:spPr>
          <a:xfrm>
            <a:off x="4724280" y="1356120"/>
            <a:ext cx="4266720" cy="26334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" name="Google Shape;183;p24" descr=""/>
          <p:cNvPicPr/>
          <p:nvPr/>
        </p:nvPicPr>
        <p:blipFill>
          <a:blip r:embed="rId1"/>
          <a:stretch/>
        </p:blipFill>
        <p:spPr>
          <a:xfrm>
            <a:off x="462240" y="729000"/>
            <a:ext cx="8219520" cy="39679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88;p25"/>
          <p:cNvSpPr txBox="1"/>
          <p:nvPr/>
        </p:nvSpPr>
        <p:spPr>
          <a:xfrm>
            <a:off x="311760" y="744480"/>
            <a:ext cx="8520120" cy="20523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Google Shape;189;p25"/>
          <p:cNvSpPr txBox="1"/>
          <p:nvPr/>
        </p:nvSpPr>
        <p:spPr>
          <a:xfrm>
            <a:off x="311760" y="2834280"/>
            <a:ext cx="8520120" cy="792360"/>
          </a:xfrm>
          <a:prstGeom prst="rect">
            <a:avLst/>
          </a:prstGeom>
          <a:noFill/>
          <a:ln w="0">
            <a:noFill/>
          </a:ln>
        </p:spPr>
        <p:txBody>
          <a:bodyPr tIns="91440" bIns="91440">
            <a:norm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  <p:pic>
        <p:nvPicPr>
          <p:cNvPr id="172" name="Google Shape;190;p25" descr=""/>
          <p:cNvPicPr/>
          <p:nvPr/>
        </p:nvPicPr>
        <p:blipFill>
          <a:blip r:embed="rId1"/>
          <a:stretch/>
        </p:blipFill>
        <p:spPr>
          <a:xfrm>
            <a:off x="1244880" y="0"/>
            <a:ext cx="6653880" cy="5142960"/>
          </a:xfrm>
          <a:prstGeom prst="rect">
            <a:avLst/>
          </a:prstGeom>
          <a:ln w="0">
            <a:noFill/>
          </a:ln>
        </p:spPr>
      </p:pic>
      <p:sp>
        <p:nvSpPr>
          <p:cNvPr id="173" name="Google Shape;191;p25"/>
          <p:cNvSpPr/>
          <p:nvPr/>
        </p:nvSpPr>
        <p:spPr>
          <a:xfrm>
            <a:off x="7684200" y="3124080"/>
            <a:ext cx="1338840" cy="146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400" spc="-1" strike="noStrike">
                <a:solidFill>
                  <a:srgbClr val="000000"/>
                </a:solidFill>
                <a:latin typeface="Arial"/>
                <a:ea typeface="Arial"/>
              </a:rPr>
              <a:t>(Hansen, 1978. Line intercept survey. Bloomberg et al., 1980.)</a:t>
            </a:r>
            <a:endParaRPr b="0" lang="en-US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96;p26"/>
          <p:cNvSpPr txBox="1"/>
          <p:nvPr/>
        </p:nvSpPr>
        <p:spPr>
          <a:xfrm>
            <a:off x="-1657440" y="-1133640"/>
            <a:ext cx="8520120" cy="2052360"/>
          </a:xfrm>
          <a:prstGeom prst="rect">
            <a:avLst/>
          </a:prstGeom>
          <a:noFill/>
          <a:ln w="9360">
            <a:solidFill>
              <a:srgbClr val="ffffff"/>
            </a:solidFill>
            <a:round/>
          </a:ln>
        </p:spPr>
        <p:txBody>
          <a:bodyPr tIns="91440" bIns="91440" anchor="b">
            <a:norm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Arial"/>
                <a:ea typeface="Arial"/>
              </a:rPr>
              <a:t>                 </a:t>
            </a: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Findings Over Time 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Google Shape;197;p26"/>
          <p:cNvSpPr/>
          <p:nvPr/>
        </p:nvSpPr>
        <p:spPr>
          <a:xfrm flipH="1" rot="10800000">
            <a:off x="588600" y="919440"/>
            <a:ext cx="5389200" cy="1044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6" name="Google Shape;198;p26"/>
          <p:cNvSpPr txBox="1"/>
          <p:nvPr/>
        </p:nvSpPr>
        <p:spPr>
          <a:xfrm>
            <a:off x="619920" y="1969200"/>
            <a:ext cx="7737120" cy="3102120"/>
          </a:xfrm>
          <a:prstGeom prst="rect">
            <a:avLst/>
          </a:prstGeom>
          <a:noFill/>
          <a:ln w="0">
            <a:noFill/>
          </a:ln>
        </p:spPr>
        <p:txBody>
          <a:bodyPr tIns="91440" bIns="91440">
            <a:normAutofit/>
          </a:bodyPr>
          <a:p>
            <a:pPr>
              <a:lnSpc>
                <a:spcPct val="115000"/>
              </a:lnSpc>
              <a:spcAft>
                <a:spcPts val="1199"/>
              </a:spcAft>
              <a:tabLst>
                <a:tab algn="l" pos="0"/>
              </a:tabLst>
            </a:pPr>
            <a:r>
              <a:rPr b="0" lang="en" sz="1800" spc="-1" strike="noStrike">
                <a:solidFill>
                  <a:srgbClr val="000000"/>
                </a:solidFill>
                <a:latin typeface="Arial"/>
                <a:ea typeface="Arial"/>
              </a:rPr>
              <a:t>1985: n = 44</a:t>
            </a:r>
            <a:br/>
            <a:r>
              <a:rPr b="0" lang="en" sz="1800" spc="-1" strike="noStrike">
                <a:solidFill>
                  <a:srgbClr val="000000"/>
                </a:solidFill>
                <a:latin typeface="Arial"/>
                <a:ea typeface="Arial"/>
              </a:rPr>
              <a:t>1990: n = 46</a:t>
            </a:r>
            <a:br/>
            <a:r>
              <a:rPr b="0" lang="en" sz="1800" spc="-1" strike="noStrike">
                <a:solidFill>
                  <a:srgbClr val="000000"/>
                </a:solidFill>
                <a:latin typeface="Arial"/>
                <a:ea typeface="Arial"/>
              </a:rPr>
              <a:t>1995: n = 50</a:t>
            </a:r>
            <a:br/>
            <a:r>
              <a:rPr b="0" lang="en" sz="1800" spc="-1" strike="noStrike">
                <a:solidFill>
                  <a:srgbClr val="000000"/>
                </a:solidFill>
                <a:latin typeface="Arial"/>
                <a:ea typeface="Arial"/>
              </a:rPr>
              <a:t>2000: n = 53</a:t>
            </a:r>
            <a:br/>
            <a:r>
              <a:rPr b="0" lang="en" sz="1800" spc="-1" strike="noStrike">
                <a:solidFill>
                  <a:srgbClr val="000000"/>
                </a:solidFill>
                <a:latin typeface="Arial"/>
                <a:ea typeface="Arial"/>
              </a:rPr>
              <a:t>2009: n = 56</a:t>
            </a:r>
            <a:br/>
            <a:r>
              <a:rPr b="0" lang="en" sz="1800" spc="-1" strike="noStrike">
                <a:solidFill>
                  <a:srgbClr val="000000"/>
                </a:solidFill>
                <a:latin typeface="Arial"/>
                <a:ea typeface="Arial"/>
              </a:rPr>
              <a:t>2020: n = 62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7" name="Google Shape;199;p26" descr=""/>
          <p:cNvPicPr/>
          <p:nvPr/>
        </p:nvPicPr>
        <p:blipFill>
          <a:blip r:embed="rId1"/>
          <a:stretch/>
        </p:blipFill>
        <p:spPr>
          <a:xfrm>
            <a:off x="4990320" y="4561200"/>
            <a:ext cx="394560" cy="408960"/>
          </a:xfrm>
          <a:prstGeom prst="rect">
            <a:avLst/>
          </a:prstGeom>
          <a:ln w="0">
            <a:noFill/>
          </a:ln>
        </p:spPr>
      </p:pic>
      <p:sp>
        <p:nvSpPr>
          <p:cNvPr id="178" name="Google Shape;200;p26"/>
          <p:cNvSpPr/>
          <p:nvPr/>
        </p:nvSpPr>
        <p:spPr>
          <a:xfrm>
            <a:off x="5644800" y="4598640"/>
            <a:ext cx="1305720" cy="39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9" name="Google Shape;201;p26"/>
          <p:cNvSpPr/>
          <p:nvPr/>
        </p:nvSpPr>
        <p:spPr>
          <a:xfrm>
            <a:off x="5177880" y="4736160"/>
            <a:ext cx="1305720" cy="36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200" spc="-1" strike="noStrike">
                <a:solidFill>
                  <a:srgbClr val="000000"/>
                </a:solidFill>
                <a:latin typeface="Roboto Condensed"/>
                <a:ea typeface="Roboto Condensed"/>
              </a:rPr>
              <a:t>LRR DETECTED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80" name="Google Shape;202;p26"/>
          <p:cNvSpPr/>
          <p:nvPr/>
        </p:nvSpPr>
        <p:spPr>
          <a:xfrm>
            <a:off x="5177880" y="4500720"/>
            <a:ext cx="13057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200" spc="-1" strike="noStrike">
                <a:solidFill>
                  <a:srgbClr val="000000"/>
                </a:solidFill>
                <a:latin typeface="Roboto Condensed"/>
                <a:ea typeface="Roboto Condensed"/>
              </a:rPr>
              <a:t>LRR NOT DETECTED</a:t>
            </a:r>
            <a:endParaRPr b="0" lang="en-US" sz="1200" spc="-1" strike="noStrike">
              <a:latin typeface="Arial"/>
            </a:endParaRPr>
          </a:p>
        </p:txBody>
      </p:sp>
      <p:pic>
        <p:nvPicPr>
          <p:cNvPr id="181" name="Google Shape;203;p26" descr=""/>
          <p:cNvPicPr/>
          <p:nvPr/>
        </p:nvPicPr>
        <p:blipFill>
          <a:blip r:embed="rId2"/>
          <a:stretch/>
        </p:blipFill>
        <p:spPr>
          <a:xfrm>
            <a:off x="2390040" y="1065600"/>
            <a:ext cx="6133680" cy="4737960"/>
          </a:xfrm>
          <a:prstGeom prst="rect">
            <a:avLst/>
          </a:prstGeom>
          <a:ln w="0">
            <a:noFill/>
          </a:ln>
        </p:spPr>
      </p:pic>
      <p:pic>
        <p:nvPicPr>
          <p:cNvPr id="182" name="Google Shape;204;p26" descr=""/>
          <p:cNvPicPr/>
          <p:nvPr/>
        </p:nvPicPr>
        <p:blipFill>
          <a:blip r:embed="rId3"/>
          <a:stretch/>
        </p:blipFill>
        <p:spPr>
          <a:xfrm>
            <a:off x="5128920" y="4503600"/>
            <a:ext cx="394560" cy="408960"/>
          </a:xfrm>
          <a:prstGeom prst="rect">
            <a:avLst/>
          </a:prstGeom>
          <a:ln w="0">
            <a:noFill/>
          </a:ln>
        </p:spPr>
      </p:pic>
      <p:sp>
        <p:nvSpPr>
          <p:cNvPr id="183" name="Google Shape;205;p26"/>
          <p:cNvSpPr/>
          <p:nvPr/>
        </p:nvSpPr>
        <p:spPr>
          <a:xfrm>
            <a:off x="5783400" y="4541040"/>
            <a:ext cx="1305720" cy="39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4" name="Google Shape;206;p26"/>
          <p:cNvSpPr/>
          <p:nvPr/>
        </p:nvSpPr>
        <p:spPr>
          <a:xfrm>
            <a:off x="5316120" y="4678560"/>
            <a:ext cx="1305720" cy="36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200" spc="-1" strike="noStrike">
                <a:solidFill>
                  <a:srgbClr val="000000"/>
                </a:solidFill>
                <a:latin typeface="Roboto Condensed"/>
                <a:ea typeface="Roboto Condensed"/>
              </a:rPr>
              <a:t>LRR DETECTED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85" name="Google Shape;207;p26"/>
          <p:cNvSpPr/>
          <p:nvPr/>
        </p:nvSpPr>
        <p:spPr>
          <a:xfrm>
            <a:off x="5316120" y="4443120"/>
            <a:ext cx="1473840" cy="36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200" spc="-1" strike="noStrike">
                <a:solidFill>
                  <a:srgbClr val="000000"/>
                </a:solidFill>
                <a:latin typeface="Roboto Condensed"/>
                <a:ea typeface="Roboto Condensed"/>
              </a:rPr>
              <a:t>LRR NOT DETECTED</a:t>
            </a:r>
            <a:endParaRPr b="0" lang="en-US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6" name="Google Shape;212;p27" descr=""/>
          <p:cNvPicPr/>
          <p:nvPr/>
        </p:nvPicPr>
        <p:blipFill>
          <a:blip r:embed="rId1"/>
          <a:stretch/>
        </p:blipFill>
        <p:spPr>
          <a:xfrm>
            <a:off x="242640" y="1253880"/>
            <a:ext cx="5389200" cy="3312360"/>
          </a:xfrm>
          <a:prstGeom prst="rect">
            <a:avLst/>
          </a:prstGeom>
          <a:ln w="0">
            <a:noFill/>
          </a:ln>
        </p:spPr>
      </p:pic>
      <p:sp>
        <p:nvSpPr>
          <p:cNvPr id="187" name="Google Shape;213;p27"/>
          <p:cNvSpPr txBox="1"/>
          <p:nvPr/>
        </p:nvSpPr>
        <p:spPr>
          <a:xfrm>
            <a:off x="-1657440" y="-1133640"/>
            <a:ext cx="8520120" cy="20523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rm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Arial"/>
                <a:ea typeface="Arial"/>
              </a:rPr>
              <a:t>     </a:t>
            </a: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Forest Vegetation Simulator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Google Shape;214;p27"/>
          <p:cNvSpPr/>
          <p:nvPr/>
        </p:nvSpPr>
        <p:spPr>
          <a:xfrm flipH="1" rot="10800000">
            <a:off x="588600" y="919440"/>
            <a:ext cx="5389200" cy="1044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89" name="Google Shape;215;p27"/>
          <p:cNvSpPr/>
          <p:nvPr/>
        </p:nvSpPr>
        <p:spPr>
          <a:xfrm>
            <a:off x="561240" y="662040"/>
            <a:ext cx="6196680" cy="39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190" name="Google Shape;216;p27" descr=""/>
          <p:cNvPicPr/>
          <p:nvPr/>
        </p:nvPicPr>
        <p:blipFill>
          <a:blip r:embed="rId2"/>
          <a:stretch/>
        </p:blipFill>
        <p:spPr>
          <a:xfrm>
            <a:off x="5892120" y="2205720"/>
            <a:ext cx="3034080" cy="2052360"/>
          </a:xfrm>
          <a:prstGeom prst="rect">
            <a:avLst/>
          </a:prstGeom>
          <a:ln w="0">
            <a:noFill/>
          </a:ln>
        </p:spPr>
      </p:pic>
      <p:pic>
        <p:nvPicPr>
          <p:cNvPr id="191" name="Google Shape;217;p27" descr=""/>
          <p:cNvPicPr/>
          <p:nvPr/>
        </p:nvPicPr>
        <p:blipFill>
          <a:blip r:embed="rId3"/>
          <a:stretch/>
        </p:blipFill>
        <p:spPr>
          <a:xfrm>
            <a:off x="913680" y="1932480"/>
            <a:ext cx="1472040" cy="451800"/>
          </a:xfrm>
          <a:prstGeom prst="rect">
            <a:avLst/>
          </a:prstGeom>
          <a:ln w="0">
            <a:noFill/>
          </a:ln>
        </p:spPr>
      </p:pic>
      <p:pic>
        <p:nvPicPr>
          <p:cNvPr id="192" name="Google Shape;218;p27" descr=""/>
          <p:cNvPicPr/>
          <p:nvPr/>
        </p:nvPicPr>
        <p:blipFill>
          <a:blip r:embed="rId4"/>
          <a:stretch/>
        </p:blipFill>
        <p:spPr>
          <a:xfrm>
            <a:off x="920160" y="2384640"/>
            <a:ext cx="1255320" cy="163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244;p30"/>
          <p:cNvSpPr txBox="1"/>
          <p:nvPr/>
        </p:nvSpPr>
        <p:spPr>
          <a:xfrm>
            <a:off x="-1657440" y="-1133640"/>
            <a:ext cx="8520120" cy="20523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rm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                     </a:t>
            </a: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Acknowledgements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Google Shape;245;p30"/>
          <p:cNvSpPr/>
          <p:nvPr/>
        </p:nvSpPr>
        <p:spPr>
          <a:xfrm>
            <a:off x="353160" y="1402560"/>
            <a:ext cx="8673120" cy="334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>
            <a:spAutoFit/>
          </a:bodyPr>
          <a:p>
            <a:pPr marL="457200" indent="-329760">
              <a:lnSpc>
                <a:spcPct val="100000"/>
              </a:lnSpc>
              <a:buClr>
                <a:srgbClr val="222222"/>
              </a:buClr>
              <a:buFont typeface="Arial"/>
              <a:buChar char="-"/>
            </a:pPr>
            <a:r>
              <a:rPr b="1" lang="en" sz="1600" spc="-1" strike="noStrike">
                <a:solidFill>
                  <a:srgbClr val="222222"/>
                </a:solidFill>
                <a:latin typeface="Arial"/>
                <a:ea typeface="Arial"/>
              </a:rPr>
              <a:t>LeBoldus lab</a:t>
            </a:r>
            <a:r>
              <a:rPr b="0" lang="en" sz="1600" spc="-1" strike="noStrike">
                <a:solidFill>
                  <a:srgbClr val="222222"/>
                </a:solidFill>
                <a:latin typeface="Arial"/>
                <a:ea typeface="Arial"/>
              </a:rPr>
              <a:t>, David Showalter, </a:t>
            </a:r>
            <a:br/>
            <a:r>
              <a:rPr b="0" lang="en" sz="1600" spc="-1" strike="noStrike">
                <a:solidFill>
                  <a:srgbClr val="222222"/>
                </a:solidFill>
                <a:latin typeface="Arial"/>
                <a:ea typeface="Arial"/>
              </a:rPr>
              <a:t>Adam Carson, Hazel Daniels, </a:t>
            </a:r>
            <a:br/>
            <a:r>
              <a:rPr b="0" lang="en" sz="1600" spc="-1" strike="noStrike">
                <a:solidFill>
                  <a:srgbClr val="222222"/>
                </a:solidFill>
                <a:latin typeface="Arial"/>
                <a:ea typeface="Arial"/>
              </a:rPr>
              <a:t>Nick Carleson, Paul Reeser,</a:t>
            </a:r>
            <a:br/>
            <a:r>
              <a:rPr b="0" lang="en" sz="1600" spc="-1" strike="noStrike">
                <a:solidFill>
                  <a:srgbClr val="222222"/>
                </a:solidFill>
                <a:latin typeface="Arial"/>
                <a:ea typeface="Arial"/>
              </a:rPr>
              <a:t>Wendy Sutton, Everett Hansen</a:t>
            </a:r>
            <a:endParaRPr b="0" lang="en-US" sz="1600" spc="-1" strike="noStrike"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600" spc="-1" strike="noStrike">
              <a:latin typeface="Arial"/>
            </a:endParaRPr>
          </a:p>
          <a:p>
            <a:pPr marL="457200" indent="-329760">
              <a:lnSpc>
                <a:spcPct val="100000"/>
              </a:lnSpc>
              <a:buClr>
                <a:srgbClr val="222222"/>
              </a:buClr>
              <a:buFont typeface="Arial"/>
              <a:buChar char="-"/>
              <a:tabLst>
                <a:tab algn="l" pos="0"/>
              </a:tabLst>
            </a:pPr>
            <a:r>
              <a:rPr b="1" lang="en" sz="1600" spc="-1" strike="noStrike">
                <a:solidFill>
                  <a:srgbClr val="222222"/>
                </a:solidFill>
                <a:latin typeface="Arial"/>
                <a:ea typeface="Arial"/>
              </a:rPr>
              <a:t>Committee members:</a:t>
            </a:r>
            <a:r>
              <a:rPr b="0" lang="en" sz="1600" spc="-1" strike="noStrike">
                <a:solidFill>
                  <a:srgbClr val="222222"/>
                </a:solidFill>
                <a:latin typeface="Arial"/>
                <a:ea typeface="Arial"/>
              </a:rPr>
              <a:t> </a:t>
            </a:r>
            <a:endParaRPr b="0" lang="en-US" sz="1600" spc="-1" strike="noStrike">
              <a:latin typeface="Arial"/>
            </a:endParaRPr>
          </a:p>
          <a:p>
            <a:pPr marL="457200">
              <a:lnSpc>
                <a:spcPct val="100000"/>
              </a:lnSpc>
              <a:tabLst>
                <a:tab algn="l" pos="0"/>
              </a:tabLst>
            </a:pPr>
            <a:r>
              <a:rPr b="0" lang="en" sz="1600" spc="-1" strike="noStrike">
                <a:solidFill>
                  <a:srgbClr val="222222"/>
                </a:solidFill>
                <a:latin typeface="Arial"/>
                <a:ea typeface="Arial"/>
              </a:rPr>
              <a:t>Jared LeBoldus, Jay Pscheidt, </a:t>
            </a:r>
            <a:br/>
            <a:r>
              <a:rPr b="0" lang="en" sz="1600" spc="-1" strike="noStrike">
                <a:solidFill>
                  <a:srgbClr val="222222"/>
                </a:solidFill>
                <a:latin typeface="Arial"/>
                <a:ea typeface="Arial"/>
              </a:rPr>
              <a:t>Jessie Uehling, Irene Lockman, </a:t>
            </a:r>
            <a:br/>
            <a:r>
              <a:rPr b="0" lang="en" sz="1600" spc="-1" strike="noStrike">
                <a:solidFill>
                  <a:srgbClr val="222222"/>
                </a:solidFill>
                <a:latin typeface="Arial"/>
                <a:ea typeface="Arial"/>
              </a:rPr>
              <a:t>Christopher Beaudry</a:t>
            </a:r>
            <a:endParaRPr b="0" lang="en-US" sz="1600" spc="-1" strike="noStrike">
              <a:latin typeface="Arial"/>
            </a:endParaRPr>
          </a:p>
          <a:p>
            <a:pPr marL="457200">
              <a:lnSpc>
                <a:spcPct val="100000"/>
              </a:lnSpc>
              <a:tabLst>
                <a:tab algn="l" pos="0"/>
              </a:tabLst>
            </a:pPr>
            <a:endParaRPr b="0" lang="en-US" sz="1600" spc="-1" strike="noStrike">
              <a:latin typeface="Arial"/>
            </a:endParaRPr>
          </a:p>
          <a:p>
            <a:pPr marL="457200" indent="-329760">
              <a:lnSpc>
                <a:spcPct val="100000"/>
              </a:lnSpc>
              <a:buClr>
                <a:srgbClr val="222222"/>
              </a:buClr>
              <a:buFont typeface="Arial"/>
              <a:buChar char="-"/>
              <a:tabLst>
                <a:tab algn="l" pos="0"/>
              </a:tabLst>
            </a:pPr>
            <a:r>
              <a:rPr b="0" lang="en" sz="1600" spc="-1" strike="noStrike">
                <a:solidFill>
                  <a:srgbClr val="222222"/>
                </a:solidFill>
                <a:latin typeface="Arial"/>
                <a:ea typeface="Arial"/>
              </a:rPr>
              <a:t>All others who collected data or </a:t>
            </a:r>
            <a:br/>
            <a:r>
              <a:rPr b="0" lang="en" sz="1600" spc="-1" strike="noStrike">
                <a:solidFill>
                  <a:srgbClr val="222222"/>
                </a:solidFill>
                <a:latin typeface="Arial"/>
                <a:ea typeface="Arial"/>
              </a:rPr>
              <a:t>worked on this over the years.</a:t>
            </a:r>
            <a:br/>
            <a:r>
              <a:rPr b="0" lang="en" sz="1600" spc="-1" strike="noStrike">
                <a:solidFill>
                  <a:srgbClr val="222222"/>
                </a:solidFill>
                <a:latin typeface="Arial"/>
              </a:rPr>
              <a:t> 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95" name="Google Shape;246;p30"/>
          <p:cNvSpPr/>
          <p:nvPr/>
        </p:nvSpPr>
        <p:spPr>
          <a:xfrm flipH="1" rot="10800000">
            <a:off x="588600" y="919440"/>
            <a:ext cx="5389200" cy="1044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196" name="Google Shape;247;p30" descr=""/>
          <p:cNvPicPr/>
          <p:nvPr/>
        </p:nvPicPr>
        <p:blipFill>
          <a:blip r:embed="rId1"/>
          <a:stretch/>
        </p:blipFill>
        <p:spPr>
          <a:xfrm>
            <a:off x="3874680" y="1492560"/>
            <a:ext cx="5151600" cy="2961360"/>
          </a:xfrm>
          <a:prstGeom prst="rect">
            <a:avLst/>
          </a:prstGeom>
          <a:ln w="0">
            <a:noFill/>
          </a:ln>
        </p:spPr>
      </p:pic>
      <p:sp>
        <p:nvSpPr>
          <p:cNvPr id="197" name="Google Shape;248;p30"/>
          <p:cNvSpPr/>
          <p:nvPr/>
        </p:nvSpPr>
        <p:spPr>
          <a:xfrm>
            <a:off x="3787560" y="4401000"/>
            <a:ext cx="2189880" cy="32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900" spc="-1" strike="noStrike">
                <a:solidFill>
                  <a:srgbClr val="000000"/>
                </a:solidFill>
                <a:latin typeface="Arial"/>
                <a:ea typeface="Arial"/>
              </a:rPr>
              <a:t>Adam Carson</a:t>
            </a:r>
            <a:endParaRPr b="0" lang="en-US" sz="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253;p31"/>
          <p:cNvSpPr txBox="1"/>
          <p:nvPr/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tIns="91440" bIns="91440">
            <a:normAutofit fontScale="91000"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2800" spc="-1" strike="noStrike">
                <a:solidFill>
                  <a:srgbClr val="000000"/>
                </a:solidFill>
                <a:latin typeface="Oswald"/>
                <a:ea typeface="Oswald"/>
              </a:rPr>
              <a:t>References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Google Shape;254;p31"/>
          <p:cNvSpPr txBox="1"/>
          <p:nvPr/>
        </p:nvSpPr>
        <p:spPr>
          <a:xfrm>
            <a:off x="311760" y="1152360"/>
            <a:ext cx="8520120" cy="3798720"/>
          </a:xfrm>
          <a:prstGeom prst="rect">
            <a:avLst/>
          </a:prstGeom>
          <a:noFill/>
          <a:ln w="9360">
            <a:solidFill>
              <a:srgbClr val="000000"/>
            </a:solidFill>
            <a:round/>
          </a:ln>
        </p:spPr>
        <p:txBody>
          <a:bodyPr tIns="91440" bIns="91440">
            <a:normAutofit fontScale="2000"/>
          </a:bodyPr>
          <a:p>
            <a:pPr>
              <a:lnSpc>
                <a:spcPct val="115000"/>
              </a:lnSpc>
              <a:tabLst>
                <a:tab algn="l" pos="0"/>
              </a:tabLst>
            </a:pPr>
            <a:r>
              <a:rPr b="0" lang="en" sz="454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</a:rPr>
              <a:t>Bloomberg, W. J., Cumberbirch, P. M., &amp; Wallis, G. W. (1980). A ground survey method for estimating loss caused by Phellinus weirii root rot. I. Development of survey design. II. Survey procedures and data analysis. A ground survey method for estimating loss caused by Phellinus weirii root rot. I. Development of survey design. II. Survey procedures and data analysis., (BC-R-3; BC-R-4).</a:t>
            </a:r>
            <a:endParaRPr b="0" lang="en-US" sz="454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  <a:tabLst>
                <a:tab algn="l" pos="0"/>
              </a:tabLst>
            </a:pPr>
            <a:r>
              <a:rPr b="0" lang="en" sz="454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</a:rPr>
              <a:t>Bloomberg, W. J., &amp; Reynolds, G. (1985). Growth loss and mortality in laminated root rot infection centers in second-growth Douglas-fir on Vancouver Island. Forest science, 31(2), 497-508.</a:t>
            </a:r>
            <a:endParaRPr b="0" lang="en-US" sz="454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  <a:tabLst>
                <a:tab algn="l" pos="0"/>
              </a:tabLst>
            </a:pPr>
            <a:r>
              <a:rPr b="0" lang="en" sz="454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</a:rPr>
              <a:t>Goheen, D. J., &amp; Hansen, E. M. (1993). Effects of pathogens and bark beetles on forests. Beetle-Pathogen Interactions in Conifer Forests. TD Schowalter and GM Filip, eds. Academic Press. San Diego, 175-196.</a:t>
            </a:r>
            <a:br/>
            <a:br/>
            <a:r>
              <a:rPr b="0" lang="en" sz="454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</a:rPr>
              <a:t>Sturrock, R. N., &amp; Garbutt, R. W. (1994). Laminated root rot of Douglas-fir. Canadian Forest Service, Forest Insect and Disease Survey, Pacific Forestry Centre.</a:t>
            </a:r>
            <a:endParaRPr b="0" lang="en-US" sz="454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  <a:tabLst>
                <a:tab algn="l" pos="0"/>
              </a:tabLst>
            </a:pPr>
            <a:r>
              <a:rPr b="0" lang="en" sz="454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</a:rPr>
              <a:t>Thies, W. G. (1984). Laminated root rot. The quest for control. Journal of Forestry, 82(6), 345-356.</a:t>
            </a:r>
            <a:endParaRPr b="0" lang="en-US" sz="454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  <a:tabLst>
                <a:tab algn="l" pos="0"/>
              </a:tabLst>
            </a:pPr>
            <a:r>
              <a:rPr b="0" lang="en" sz="454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</a:rPr>
              <a:t>Title image by: </a:t>
            </a:r>
            <a:r>
              <a:rPr b="0" lang="en" sz="4540" spc="-1" strike="noStrike" u="sng">
                <a:solidFill>
                  <a:srgbClr val="000000"/>
                </a:solidFill>
                <a:highlight>
                  <a:srgbClr val="ffffff"/>
                </a:highlight>
                <a:uFillTx/>
                <a:latin typeface="Arial"/>
                <a:ea typeface="Arial"/>
                <a:hlinkClick r:id="rId1"/>
              </a:rPr>
              <a:t>ro83land</a:t>
            </a:r>
            <a:r>
              <a:rPr b="0" lang="en" sz="454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</a:rPr>
              <a:t>  https://www.redbubble.com/i/sticker/Mushroom-picking-mushrooms-lies-in-my-DNA-by-ro83land/41231954.EJUG5</a:t>
            </a:r>
            <a:br/>
            <a:br/>
            <a:r>
              <a:rPr b="0" lang="en" sz="454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</a:rPr>
              <a:t>Williams, H. L., Sturrock, R. N., Islam, M. A., Hammett, C., Ekramoddoullah, A. K., &amp; Leal, I. (2014). Gene expression profiling of candidate virulence factors in the laminated root rot pathogen Phellinus sulphurascens. BMC genomics, 15(1), 1-17.</a:t>
            </a:r>
            <a:endParaRPr b="0" lang="en-US" sz="454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  <a:tabLst>
                <a:tab algn="l" pos="0"/>
              </a:tabLst>
            </a:pPr>
            <a:endParaRPr b="0" lang="en-US" sz="454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  <a:tabLst>
                <a:tab algn="l" pos="0"/>
              </a:tabLst>
            </a:pPr>
            <a:endParaRPr b="0" lang="en-US" sz="454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  <a:tabLst>
                <a:tab algn="l" pos="0"/>
              </a:tabLst>
            </a:pPr>
            <a:endParaRPr b="0" lang="en-US" sz="454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  <a:tabLst>
                <a:tab algn="l" pos="0"/>
              </a:tabLst>
            </a:pPr>
            <a:endParaRPr b="0" lang="en-US" sz="454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  <a:tabLst>
                <a:tab algn="l" pos="0"/>
              </a:tabLst>
            </a:pPr>
            <a:endParaRPr b="0" lang="en-US" sz="454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  <a:spcAft>
                <a:spcPts val="1199"/>
              </a:spcAft>
              <a:tabLst>
                <a:tab algn="l" pos="0"/>
              </a:tabLst>
            </a:pPr>
            <a:endParaRPr b="0" lang="en-US" sz="454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</TotalTime>
  <Application>LibreOffice/7.1.5.2$Windows_X86_64 LibreOffice_project/85f04e9f809797b8199d13c421bd8a2b025d52b5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dcterms:modified xsi:type="dcterms:W3CDTF">2022-08-19T09:29:30Z</dcterms:modified>
  <cp:revision>1</cp:revision>
  <dc:subject/>
  <dc:title/>
</cp:coreProperties>
</file>