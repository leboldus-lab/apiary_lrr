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6840" y="204840"/>
            <a:ext cx="822888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6840" y="204840"/>
            <a:ext cx="822888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6840" y="204840"/>
            <a:ext cx="822888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6840" y="204840"/>
            <a:ext cx="822888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63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9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6840" y="204840"/>
            <a:ext cx="822888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63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2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4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7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8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1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1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1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1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1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1"/>
          <p:cNvPicPr/>
          <p:nvPr/>
        </p:nvPicPr>
        <p:blipFill>
          <a:blip r:embed="rId2"/>
          <a:stretch/>
        </p:blipFill>
        <p:spPr>
          <a:xfrm>
            <a:off x="0" y="360"/>
            <a:ext cx="4633200" cy="5143320"/>
          </a:xfrm>
          <a:prstGeom prst="rect">
            <a:avLst/>
          </a:prstGeom>
          <a:ln w="0">
            <a:noFill/>
          </a:ln>
        </p:spPr>
      </p:pic>
      <p:sp>
        <p:nvSpPr>
          <p:cNvPr id="153" name="Google Shape;54;p13"/>
          <p:cNvSpPr/>
          <p:nvPr/>
        </p:nvSpPr>
        <p:spPr>
          <a:xfrm>
            <a:off x="4633200" y="12600"/>
            <a:ext cx="4572000" cy="34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222222"/>
                </a:solidFill>
                <a:highlight>
                  <a:srgbClr val="F8F8F8"/>
                </a:highlight>
                <a:latin typeface="Oswald"/>
                <a:ea typeface="Oswald"/>
              </a:rPr>
              <a:t>Thinning, hardwood rotation, and </a:t>
            </a:r>
            <a:endParaRPr lang="en-US" sz="3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222222"/>
                </a:solidFill>
                <a:highlight>
                  <a:srgbClr val="F8F8F8"/>
                </a:highlight>
                <a:latin typeface="Oswald"/>
                <a:ea typeface="Oswald"/>
              </a:rPr>
              <a:t>laminated root rot in Douglas fir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Google Shape;55;p13"/>
          <p:cNvSpPr/>
          <p:nvPr/>
        </p:nvSpPr>
        <p:spPr>
          <a:xfrm>
            <a:off x="4885200" y="3742200"/>
            <a:ext cx="41148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rmAutofit fontScale="91000" lnSpcReduction="10000"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000" b="0" strike="noStrike" spc="-1">
                <a:solidFill>
                  <a:srgbClr val="222222"/>
                </a:solidFill>
                <a:highlight>
                  <a:srgbClr val="F8F8F8"/>
                </a:highlight>
                <a:latin typeface="Oswald"/>
                <a:ea typeface="Oswald"/>
              </a:rPr>
              <a:t>David Showalter, Shawn McMurtrey, Anna Leon, John Browning, Michael McWilliams, Blakey Lockman, Everett Hansen,  Jared LeBoldus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64;p14"/>
          <p:cNvSpPr/>
          <p:nvPr/>
        </p:nvSpPr>
        <p:spPr>
          <a:xfrm>
            <a:off x="-4680" y="224280"/>
            <a:ext cx="5490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85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                   Laminated Root Rot (LRR)</a:t>
            </a:r>
            <a:r>
              <a:rPr lang="en" sz="3600" b="0" strike="noStrike" spc="-1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56" name="Google Shape;65;p14"/>
          <p:cNvPicPr/>
          <p:nvPr/>
        </p:nvPicPr>
        <p:blipFill>
          <a:blip r:embed="rId2"/>
          <a:stretch/>
        </p:blipFill>
        <p:spPr>
          <a:xfrm>
            <a:off x="4703760" y="2838240"/>
            <a:ext cx="4259160" cy="2052000"/>
          </a:xfrm>
          <a:prstGeom prst="rect">
            <a:avLst/>
          </a:prstGeom>
          <a:ln w="0">
            <a:noFill/>
          </a:ln>
        </p:spPr>
      </p:pic>
      <p:sp>
        <p:nvSpPr>
          <p:cNvPr id="157" name="Google Shape;66;p14"/>
          <p:cNvSpPr/>
          <p:nvPr/>
        </p:nvSpPr>
        <p:spPr>
          <a:xfrm>
            <a:off x="353160" y="1101960"/>
            <a:ext cx="8672760" cy="186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 marL="457200" indent="-32940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i="1" strike="noStrike" spc="-1">
                <a:solidFill>
                  <a:srgbClr val="000000"/>
                </a:solidFill>
                <a:latin typeface="Arial"/>
                <a:ea typeface="Arial"/>
              </a:rPr>
              <a:t>Coniferiporia sulphurascens </a:t>
            </a: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(Basidiomycota:Agaricomycetes)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Several coniferous hosts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Both saprophytic and parasitic 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Spread through root to root contact between trees and/or stumps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Disease of the site, for 50 years (Hansen, 1976)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Root rot pockets 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8" name="Google Shape;67;p14"/>
          <p:cNvSpPr/>
          <p:nvPr/>
        </p:nvSpPr>
        <p:spPr>
          <a:xfrm>
            <a:off x="4734000" y="4730040"/>
            <a:ext cx="3143160" cy="2451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Google Shape;68;p14"/>
          <p:cNvSpPr/>
          <p:nvPr/>
        </p:nvSpPr>
        <p:spPr>
          <a:xfrm>
            <a:off x="5226120" y="4668120"/>
            <a:ext cx="2843640" cy="35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strike="noStrike" spc="-1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</a:rPr>
              <a:t>Sturrock &amp; Garbutt, 1994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60" name="Google Shape;69;p14"/>
          <p:cNvSpPr/>
          <p:nvPr/>
        </p:nvSpPr>
        <p:spPr>
          <a:xfrm rot="10800000" flipH="1">
            <a:off x="588240" y="9198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1" name="Google Shape;70;p14"/>
          <p:cNvPicPr/>
          <p:nvPr/>
        </p:nvPicPr>
        <p:blipFill>
          <a:blip r:embed="rId3"/>
          <a:stretch/>
        </p:blipFill>
        <p:spPr>
          <a:xfrm>
            <a:off x="6829200" y="51480"/>
            <a:ext cx="1823040" cy="2361960"/>
          </a:xfrm>
          <a:prstGeom prst="rect">
            <a:avLst/>
          </a:prstGeom>
          <a:ln w="0">
            <a:noFill/>
          </a:ln>
        </p:spPr>
      </p:pic>
      <p:sp>
        <p:nvSpPr>
          <p:cNvPr id="162" name="Google Shape;71;p14"/>
          <p:cNvSpPr/>
          <p:nvPr/>
        </p:nvSpPr>
        <p:spPr>
          <a:xfrm>
            <a:off x="6752160" y="2311920"/>
            <a:ext cx="1977480" cy="35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strike="noStrike" spc="-1">
                <a:solidFill>
                  <a:srgbClr val="000000"/>
                </a:solidFill>
                <a:latin typeface="Arial"/>
                <a:ea typeface="Arial"/>
              </a:rPr>
              <a:t>Kevin Zobrist</a:t>
            </a:r>
            <a:endParaRPr lang="en-US" sz="1100" b="0" strike="noStrike" spc="-1">
              <a:latin typeface="Arial"/>
            </a:endParaRPr>
          </a:p>
        </p:txBody>
      </p:sp>
      <p:pic>
        <p:nvPicPr>
          <p:cNvPr id="163" name="Google Shape;72;p14"/>
          <p:cNvPicPr/>
          <p:nvPr/>
        </p:nvPicPr>
        <p:blipFill>
          <a:blip r:embed="rId4"/>
          <a:stretch/>
        </p:blipFill>
        <p:spPr>
          <a:xfrm>
            <a:off x="734400" y="2666160"/>
            <a:ext cx="3968640" cy="2171880"/>
          </a:xfrm>
          <a:prstGeom prst="rect">
            <a:avLst/>
          </a:prstGeom>
          <a:ln w="0">
            <a:noFill/>
          </a:ln>
        </p:spPr>
      </p:pic>
      <p:sp>
        <p:nvSpPr>
          <p:cNvPr id="164" name="Google Shape;73;p14"/>
          <p:cNvSpPr/>
          <p:nvPr/>
        </p:nvSpPr>
        <p:spPr>
          <a:xfrm>
            <a:off x="778680" y="4730040"/>
            <a:ext cx="36478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strike="noStrike" spc="-1">
                <a:solidFill>
                  <a:srgbClr val="002145"/>
                </a:solidFill>
                <a:highlight>
                  <a:srgbClr val="FFFFFF"/>
                </a:highlight>
                <a:latin typeface="Arial"/>
                <a:ea typeface="Arial"/>
              </a:rPr>
              <a:t>Dr. Richard Hamelin &amp; Dr. Allan Carroll</a:t>
            </a:r>
            <a:endParaRPr lang="en-US" sz="10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78;p15"/>
          <p:cNvSpPr/>
          <p:nvPr/>
        </p:nvSpPr>
        <p:spPr>
          <a:xfrm>
            <a:off x="-1657440" y="-1133640"/>
            <a:ext cx="8519760" cy="20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Arial"/>
                <a:ea typeface="Arial"/>
              </a:rPr>
              <a:t>                 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Signs and Symptoms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6" name="Google Shape;79;p15"/>
          <p:cNvSpPr/>
          <p:nvPr/>
        </p:nvSpPr>
        <p:spPr>
          <a:xfrm>
            <a:off x="160560" y="4759200"/>
            <a:ext cx="3143160" cy="2451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Google Shape;80;p15"/>
          <p:cNvSpPr/>
          <p:nvPr/>
        </p:nvSpPr>
        <p:spPr>
          <a:xfrm rot="10800000" flipH="1">
            <a:off x="588240" y="9198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8" name="Google Shape;81;p15"/>
          <p:cNvPicPr/>
          <p:nvPr/>
        </p:nvPicPr>
        <p:blipFill>
          <a:blip r:embed="rId2"/>
          <a:stretch/>
        </p:blipFill>
        <p:spPr>
          <a:xfrm>
            <a:off x="160560" y="1244880"/>
            <a:ext cx="3047760" cy="3198240"/>
          </a:xfrm>
          <a:prstGeom prst="rect">
            <a:avLst/>
          </a:prstGeom>
          <a:ln w="0">
            <a:noFill/>
          </a:ln>
        </p:spPr>
      </p:pic>
      <p:pic>
        <p:nvPicPr>
          <p:cNvPr id="169" name="Google Shape;82;p15"/>
          <p:cNvPicPr/>
          <p:nvPr/>
        </p:nvPicPr>
        <p:blipFill>
          <a:blip r:embed="rId3"/>
          <a:stretch/>
        </p:blipFill>
        <p:spPr>
          <a:xfrm>
            <a:off x="3460320" y="2957760"/>
            <a:ext cx="2831760" cy="1917000"/>
          </a:xfrm>
          <a:prstGeom prst="rect">
            <a:avLst/>
          </a:prstGeom>
          <a:ln w="0">
            <a:noFill/>
          </a:ln>
        </p:spPr>
      </p:pic>
      <p:sp>
        <p:nvSpPr>
          <p:cNvPr id="170" name="Google Shape;83;p15"/>
          <p:cNvSpPr/>
          <p:nvPr/>
        </p:nvSpPr>
        <p:spPr>
          <a:xfrm>
            <a:off x="3368520" y="4789080"/>
            <a:ext cx="3550680" cy="33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strike="noStrike" spc="-1">
                <a:solidFill>
                  <a:srgbClr val="000000"/>
                </a:solidFill>
                <a:latin typeface="Arial"/>
                <a:ea typeface="Arial"/>
              </a:rPr>
              <a:t>David Shaw, pnwhandbooks.org</a:t>
            </a:r>
            <a:endParaRPr lang="en-US" sz="1000" b="0" strike="noStrike" spc="-1">
              <a:latin typeface="Arial"/>
            </a:endParaRPr>
          </a:p>
        </p:txBody>
      </p:sp>
      <p:pic>
        <p:nvPicPr>
          <p:cNvPr id="171" name="Google Shape;84;p15"/>
          <p:cNvPicPr/>
          <p:nvPr/>
        </p:nvPicPr>
        <p:blipFill>
          <a:blip r:embed="rId4"/>
          <a:stretch/>
        </p:blipFill>
        <p:spPr>
          <a:xfrm>
            <a:off x="6544080" y="2746800"/>
            <a:ext cx="2530440" cy="2127960"/>
          </a:xfrm>
          <a:prstGeom prst="rect">
            <a:avLst/>
          </a:prstGeom>
          <a:ln w="0">
            <a:noFill/>
          </a:ln>
        </p:spPr>
      </p:pic>
      <p:sp>
        <p:nvSpPr>
          <p:cNvPr id="172" name="Google Shape;85;p15"/>
          <p:cNvSpPr/>
          <p:nvPr/>
        </p:nvSpPr>
        <p:spPr>
          <a:xfrm>
            <a:off x="469080" y="4444200"/>
            <a:ext cx="273960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Near Waldo Lake, OR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73" name="Google Shape;86;p15"/>
          <p:cNvSpPr/>
          <p:nvPr/>
        </p:nvSpPr>
        <p:spPr>
          <a:xfrm>
            <a:off x="6166800" y="2217600"/>
            <a:ext cx="1977480" cy="33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strike="noStrike" spc="-1">
                <a:solidFill>
                  <a:srgbClr val="000000"/>
                </a:solidFill>
                <a:latin typeface="Arial"/>
                <a:ea typeface="Arial"/>
              </a:rPr>
              <a:t>Kevin Zobrist</a:t>
            </a:r>
            <a:endParaRPr lang="en-US" sz="1000" b="0" strike="noStrike" spc="-1">
              <a:latin typeface="Arial"/>
            </a:endParaRPr>
          </a:p>
        </p:txBody>
      </p:sp>
      <p:pic>
        <p:nvPicPr>
          <p:cNvPr id="174" name="Google Shape;87;p15"/>
          <p:cNvPicPr/>
          <p:nvPr/>
        </p:nvPicPr>
        <p:blipFill>
          <a:blip r:embed="rId5"/>
          <a:stretch/>
        </p:blipFill>
        <p:spPr>
          <a:xfrm>
            <a:off x="6243120" y="173880"/>
            <a:ext cx="2831760" cy="212796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88;p15"/>
          <p:cNvPicPr/>
          <p:nvPr/>
        </p:nvPicPr>
        <p:blipFill>
          <a:blip r:embed="rId6"/>
          <a:stretch/>
        </p:blipFill>
        <p:spPr>
          <a:xfrm>
            <a:off x="3759480" y="1034640"/>
            <a:ext cx="2057040" cy="1806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78;p15_0"/>
          <p:cNvSpPr/>
          <p:nvPr/>
        </p:nvSpPr>
        <p:spPr>
          <a:xfrm>
            <a:off x="516600" y="0"/>
            <a:ext cx="5715000" cy="91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Arial"/>
              </a:rPr>
              <a:t>Impacts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Google Shape;79;p15_0"/>
          <p:cNvSpPr/>
          <p:nvPr/>
        </p:nvSpPr>
        <p:spPr>
          <a:xfrm>
            <a:off x="160560" y="4759200"/>
            <a:ext cx="3143160" cy="2451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Google Shape;80;p15_0"/>
          <p:cNvSpPr/>
          <p:nvPr/>
        </p:nvSpPr>
        <p:spPr>
          <a:xfrm rot="10800000" flipH="1">
            <a:off x="588240" y="9198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TextBox 178"/>
          <p:cNvSpPr txBox="1"/>
          <p:nvPr/>
        </p:nvSpPr>
        <p:spPr>
          <a:xfrm>
            <a:off x="346680" y="1143000"/>
            <a:ext cx="902592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Most damaging root rot of </a:t>
            </a:r>
            <a:r>
              <a:rPr lang="en" sz="1850" b="0" i="1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Pseudotsuga menziesii </a:t>
            </a:r>
            <a:r>
              <a:rPr lang="en" sz="185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in PNW. 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Infected sites result in a 40% - 70% reduction in wood volume 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Oregon timber industry, $12 billion annually, over 58,000 jobs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57200" y="2971800"/>
            <a:ext cx="902592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Buffer cutting, thinning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Inoculum removal (stumping)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</a:rPr>
              <a:t>Rotating less suceptible host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181" name="Google Shape;78;p15_1"/>
          <p:cNvSpPr/>
          <p:nvPr/>
        </p:nvSpPr>
        <p:spPr>
          <a:xfrm>
            <a:off x="516600" y="2016000"/>
            <a:ext cx="5715000" cy="91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Arial"/>
              </a:rPr>
              <a:t>Management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82" name="Picture 181"/>
          <p:cNvPicPr/>
          <p:nvPr/>
        </p:nvPicPr>
        <p:blipFill>
          <a:blip r:embed="rId2"/>
          <a:srcRect b="10773"/>
          <a:stretch/>
        </p:blipFill>
        <p:spPr>
          <a:xfrm>
            <a:off x="4177080" y="1956960"/>
            <a:ext cx="2319120" cy="2843280"/>
          </a:xfrm>
          <a:prstGeom prst="rect">
            <a:avLst/>
          </a:prstGeom>
          <a:ln w="0">
            <a:noFill/>
          </a:ln>
        </p:spPr>
      </p:pic>
      <p:pic>
        <p:nvPicPr>
          <p:cNvPr id="183" name="Picture 182"/>
          <p:cNvPicPr/>
          <p:nvPr/>
        </p:nvPicPr>
        <p:blipFill>
          <a:blip r:embed="rId3"/>
          <a:stretch/>
        </p:blipFill>
        <p:spPr>
          <a:xfrm>
            <a:off x="6430320" y="2057400"/>
            <a:ext cx="1818720" cy="2743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53;p21"/>
          <p:cNvSpPr/>
          <p:nvPr/>
        </p:nvSpPr>
        <p:spPr>
          <a:xfrm>
            <a:off x="-977040" y="-1133640"/>
            <a:ext cx="8519760" cy="20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              Thinning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5" name="Google Shape;154;p21"/>
          <p:cNvSpPr/>
          <p:nvPr/>
        </p:nvSpPr>
        <p:spPr>
          <a:xfrm>
            <a:off x="160560" y="4759200"/>
            <a:ext cx="3143160" cy="2451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6" name="Google Shape;155;p21"/>
          <p:cNvSpPr/>
          <p:nvPr/>
        </p:nvSpPr>
        <p:spPr>
          <a:xfrm>
            <a:off x="4588200" y="4574520"/>
            <a:ext cx="481212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Google Shape;156;p21"/>
          <p:cNvSpPr/>
          <p:nvPr/>
        </p:nvSpPr>
        <p:spPr>
          <a:xfrm rot="10800000" flipH="1">
            <a:off x="705960" y="90432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8" name="Google Shape;157;p21"/>
          <p:cNvSpPr/>
          <p:nvPr/>
        </p:nvSpPr>
        <p:spPr>
          <a:xfrm>
            <a:off x="705960" y="913320"/>
            <a:ext cx="5564160" cy="14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 marL="457200" indent="-32940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Benefits the local economy and wildlife.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Help prevent fire spreading to crowns of larger trees. 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Increase health and reduces some disease threats.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Improve vegetation diversity of the forest floor. 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Increase tree growth and vigor of remaining trees.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89" name="Google Shape;158;p21"/>
          <p:cNvSpPr/>
          <p:nvPr/>
        </p:nvSpPr>
        <p:spPr>
          <a:xfrm>
            <a:off x="1479240" y="2646000"/>
            <a:ext cx="359280" cy="179604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Google Shape;159;p21"/>
          <p:cNvSpPr/>
          <p:nvPr/>
        </p:nvSpPr>
        <p:spPr>
          <a:xfrm>
            <a:off x="3444480" y="2715480"/>
            <a:ext cx="359280" cy="179604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91" name="Google Shape;160;p21"/>
          <p:cNvPicPr/>
          <p:nvPr/>
        </p:nvPicPr>
        <p:blipFill>
          <a:blip r:embed="rId2"/>
          <a:stretch/>
        </p:blipFill>
        <p:spPr>
          <a:xfrm>
            <a:off x="551520" y="2715480"/>
            <a:ext cx="2573280" cy="1945800"/>
          </a:xfrm>
          <a:prstGeom prst="rect">
            <a:avLst/>
          </a:prstGeom>
          <a:ln w="0">
            <a:noFill/>
          </a:ln>
        </p:spPr>
      </p:pic>
      <p:pic>
        <p:nvPicPr>
          <p:cNvPr id="192" name="Google Shape;161;p21"/>
          <p:cNvPicPr/>
          <p:nvPr/>
        </p:nvPicPr>
        <p:blipFill>
          <a:blip r:embed="rId3"/>
          <a:stretch/>
        </p:blipFill>
        <p:spPr>
          <a:xfrm>
            <a:off x="3355920" y="2715480"/>
            <a:ext cx="2602800" cy="1945800"/>
          </a:xfrm>
          <a:prstGeom prst="rect">
            <a:avLst/>
          </a:prstGeom>
          <a:ln w="0">
            <a:noFill/>
          </a:ln>
        </p:spPr>
      </p:pic>
      <p:pic>
        <p:nvPicPr>
          <p:cNvPr id="193" name="Google Shape;162;p21"/>
          <p:cNvPicPr/>
          <p:nvPr/>
        </p:nvPicPr>
        <p:blipFill>
          <a:blip r:embed="rId4"/>
          <a:stretch/>
        </p:blipFill>
        <p:spPr>
          <a:xfrm>
            <a:off x="6125040" y="2715480"/>
            <a:ext cx="2599200" cy="1945800"/>
          </a:xfrm>
          <a:prstGeom prst="rect">
            <a:avLst/>
          </a:prstGeom>
          <a:ln w="0">
            <a:noFill/>
          </a:ln>
        </p:spPr>
      </p:pic>
      <p:sp>
        <p:nvSpPr>
          <p:cNvPr id="194" name="Google Shape;163;p21"/>
          <p:cNvSpPr/>
          <p:nvPr/>
        </p:nvSpPr>
        <p:spPr>
          <a:xfrm>
            <a:off x="551520" y="4720680"/>
            <a:ext cx="417132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strike="noStrike" spc="-1">
                <a:solidFill>
                  <a:srgbClr val="000000"/>
                </a:solidFill>
                <a:latin typeface="Arial"/>
                <a:ea typeface="Arial"/>
              </a:rPr>
              <a:t>Source and illustrations: US Forest Service, 2020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12;p18"/>
          <p:cNvSpPr/>
          <p:nvPr/>
        </p:nvSpPr>
        <p:spPr>
          <a:xfrm>
            <a:off x="228600" y="228600"/>
            <a:ext cx="6633720" cy="68976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Research Questions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6" name="Google Shape;113;p18_0"/>
          <p:cNvSpPr/>
          <p:nvPr/>
        </p:nvSpPr>
        <p:spPr>
          <a:xfrm>
            <a:off x="363960" y="1048680"/>
            <a:ext cx="8672760" cy="341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15000"/>
              </a:lnSpc>
            </a:pPr>
            <a:br/>
            <a:r>
              <a:rPr lang="en" sz="185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850" b="0" strike="noStrike" spc="-1">
              <a:latin typeface="Arial"/>
            </a:endParaRPr>
          </a:p>
          <a:p>
            <a:pPr marL="457200" indent="-3452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Do thinning treatments in mature stands with high incidence of laminated root rot increase tree growth and/or reduce mortality?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850" b="0" strike="noStrike" spc="-1">
              <a:latin typeface="Arial"/>
            </a:endParaRPr>
          </a:p>
          <a:p>
            <a:pPr marL="457200" indent="-3452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Do rotations of non-host hardwood species in areas with high LRR incidence increase growth and reduce mortality in subsequent Douglas fir plantings?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850" b="0" strike="noStrike" spc="-1">
              <a:latin typeface="Arial"/>
            </a:endParaRPr>
          </a:p>
          <a:p>
            <a:pPr marL="457200" indent="-3452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How well do the Forest Vegetation Similator and its Western Root Disease Model variant predict long term growth in these stands?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197" name="Google Shape;114;p18_0"/>
          <p:cNvSpPr/>
          <p:nvPr/>
        </p:nvSpPr>
        <p:spPr>
          <a:xfrm rot="10800000" flipH="1">
            <a:off x="588240" y="9198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19;p19"/>
          <p:cNvSpPr/>
          <p:nvPr/>
        </p:nvSpPr>
        <p:spPr>
          <a:xfrm>
            <a:off x="-977040" y="-1133640"/>
            <a:ext cx="8519760" cy="20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              Siuslaw National Forest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Google Shape;120;p19"/>
          <p:cNvSpPr/>
          <p:nvPr/>
        </p:nvSpPr>
        <p:spPr>
          <a:xfrm rot="10800000" flipH="1">
            <a:off x="705960" y="90432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Google Shape;121;p19"/>
          <p:cNvSpPr/>
          <p:nvPr/>
        </p:nvSpPr>
        <p:spPr>
          <a:xfrm>
            <a:off x="705960" y="1073520"/>
            <a:ext cx="5623920" cy="261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 marL="457200" indent="-329400">
              <a:lnSpc>
                <a:spcPct val="7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Unique ecosystem for surveying of LRR.</a:t>
            </a:r>
            <a:br/>
            <a:r>
              <a:rPr lang="en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7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Study area was clear cut between 1910 </a:t>
            </a:r>
            <a:br/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and 1920.</a:t>
            </a:r>
            <a:br/>
            <a:r>
              <a:rPr lang="en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75000"/>
              </a:lnSpc>
              <a:buClr>
                <a:srgbClr val="000000"/>
              </a:buClr>
              <a:buFont typeface="Arial"/>
              <a:buChar char="-"/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Area burned after reharvest, reestablished </a:t>
            </a:r>
            <a:br/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from seed (Tkacz &amp; Hansen, 1982).</a:t>
            </a:r>
            <a:endParaRPr lang="en-US" sz="1600" b="0" strike="noStrike" spc="-1">
              <a:latin typeface="Arial"/>
            </a:endParaRPr>
          </a:p>
          <a:p>
            <a:pPr marL="457200">
              <a:lnSpc>
                <a:spcPct val="75000"/>
              </a:lnSpc>
              <a:tabLst>
                <a:tab pos="0" algn="l"/>
              </a:tabLst>
            </a:pPr>
            <a:endParaRPr lang="en-US" sz="1600" b="0" strike="noStrike" spc="-1">
              <a:latin typeface="Arial"/>
            </a:endParaRPr>
          </a:p>
          <a:p>
            <a:pPr marL="457200" indent="-329400">
              <a:lnSpc>
                <a:spcPct val="75000"/>
              </a:lnSpc>
              <a:buClr>
                <a:srgbClr val="000000"/>
              </a:buClr>
              <a:buFont typeface="Arial"/>
              <a:buChar char="-"/>
              <a:tabLst>
                <a:tab pos="0" algn="l"/>
              </a:tabLst>
            </a:pPr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Study area is ~400 acres. </a:t>
            </a:r>
            <a:br/>
            <a:r>
              <a:rPr lang="en" sz="16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1600" b="0" strike="noStrike" spc="-1">
              <a:latin typeface="Arial"/>
            </a:endParaRPr>
          </a:p>
          <a:p>
            <a:pPr marL="457200">
              <a:lnSpc>
                <a:spcPct val="75000"/>
              </a:lnSpc>
              <a:tabLst>
                <a:tab pos="0" algn="l"/>
              </a:tabLst>
            </a:pPr>
            <a:br/>
            <a:endParaRPr lang="en-US" sz="16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latin typeface="Arial"/>
            </a:endParaRPr>
          </a:p>
        </p:txBody>
      </p:sp>
      <p:pic>
        <p:nvPicPr>
          <p:cNvPr id="201" name="Google Shape;122;p19"/>
          <p:cNvPicPr/>
          <p:nvPr/>
        </p:nvPicPr>
        <p:blipFill>
          <a:blip r:embed="rId2"/>
          <a:stretch/>
        </p:blipFill>
        <p:spPr>
          <a:xfrm>
            <a:off x="5689800" y="1073520"/>
            <a:ext cx="2937960" cy="3918960"/>
          </a:xfrm>
          <a:prstGeom prst="rect">
            <a:avLst/>
          </a:prstGeom>
          <a:ln w="0">
            <a:noFill/>
          </a:ln>
        </p:spPr>
      </p:pic>
      <p:sp>
        <p:nvSpPr>
          <p:cNvPr id="202" name="Google Shape;123;p19"/>
          <p:cNvSpPr/>
          <p:nvPr/>
        </p:nvSpPr>
        <p:spPr>
          <a:xfrm>
            <a:off x="160560" y="4598640"/>
            <a:ext cx="3402720" cy="265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3" name="Google Shape;124;p19"/>
          <p:cNvSpPr/>
          <p:nvPr/>
        </p:nvSpPr>
        <p:spPr>
          <a:xfrm>
            <a:off x="611640" y="4728600"/>
            <a:ext cx="2745000" cy="1954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04" name="Google Shape;125;p19"/>
          <p:cNvPicPr/>
          <p:nvPr/>
        </p:nvPicPr>
        <p:blipFill>
          <a:blip r:embed="rId3"/>
          <a:stretch/>
        </p:blipFill>
        <p:spPr>
          <a:xfrm>
            <a:off x="1173600" y="3025440"/>
            <a:ext cx="3289680" cy="1941840"/>
          </a:xfrm>
          <a:prstGeom prst="rect">
            <a:avLst/>
          </a:prstGeom>
          <a:ln w="0">
            <a:noFill/>
          </a:ln>
        </p:spPr>
      </p:pic>
      <p:sp>
        <p:nvSpPr>
          <p:cNvPr id="205" name="Google Shape;126;p19"/>
          <p:cNvSpPr/>
          <p:nvPr/>
        </p:nvSpPr>
        <p:spPr>
          <a:xfrm>
            <a:off x="1461240" y="3509640"/>
            <a:ext cx="1045440" cy="39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strike="noStrike" spc="-1">
                <a:solidFill>
                  <a:srgbClr val="000000"/>
                </a:solidFill>
                <a:latin typeface="Arial"/>
                <a:ea typeface="Arial"/>
              </a:rPr>
              <a:t>Study site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06" name="Google Shape;127;p19"/>
          <p:cNvSpPr/>
          <p:nvPr/>
        </p:nvSpPr>
        <p:spPr>
          <a:xfrm rot="10800000" flipH="1">
            <a:off x="2228040" y="3440520"/>
            <a:ext cx="223560" cy="159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5959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7" name="Google Shape;128;p19"/>
          <p:cNvSpPr/>
          <p:nvPr/>
        </p:nvSpPr>
        <p:spPr>
          <a:xfrm>
            <a:off x="1161720" y="3038760"/>
            <a:ext cx="360" cy="1953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5959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Google Shape;129;p19"/>
          <p:cNvSpPr/>
          <p:nvPr/>
        </p:nvSpPr>
        <p:spPr>
          <a:xfrm rot="10800000" flipH="1">
            <a:off x="1153440" y="3016800"/>
            <a:ext cx="3318480" cy="15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5959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Google Shape;130;p19"/>
          <p:cNvSpPr/>
          <p:nvPr/>
        </p:nvSpPr>
        <p:spPr>
          <a:xfrm rot="10800000">
            <a:off x="4461840" y="3016800"/>
            <a:ext cx="4680" cy="1960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5959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Google Shape;131;p19"/>
          <p:cNvSpPr/>
          <p:nvPr/>
        </p:nvSpPr>
        <p:spPr>
          <a:xfrm rot="10800000" flipH="1">
            <a:off x="1159200" y="4968360"/>
            <a:ext cx="3318120" cy="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5959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Google Shape;132;p19"/>
          <p:cNvSpPr/>
          <p:nvPr/>
        </p:nvSpPr>
        <p:spPr>
          <a:xfrm>
            <a:off x="4478040" y="4581360"/>
            <a:ext cx="4202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Google Shape;133;p19"/>
          <p:cNvSpPr/>
          <p:nvPr/>
        </p:nvSpPr>
        <p:spPr>
          <a:xfrm>
            <a:off x="5619960" y="4924800"/>
            <a:ext cx="218952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strike="noStrike" spc="-1">
                <a:solidFill>
                  <a:srgbClr val="000000"/>
                </a:solidFill>
                <a:latin typeface="Arial"/>
                <a:ea typeface="Arial"/>
              </a:rPr>
              <a:t>Adam Carson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138;p20"/>
          <p:cNvSpPr/>
          <p:nvPr/>
        </p:nvSpPr>
        <p:spPr>
          <a:xfrm>
            <a:off x="-977040" y="-1133640"/>
            <a:ext cx="8519760" cy="20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              Woods Creek Study Area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14" name="Google Shape;139;p20"/>
          <p:cNvSpPr/>
          <p:nvPr/>
        </p:nvSpPr>
        <p:spPr>
          <a:xfrm>
            <a:off x="0" y="1070640"/>
            <a:ext cx="9144000" cy="301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Mature mixed Douglas fir forest, ~65y old at establishment in 1985. High LRR incidence </a:t>
            </a:r>
            <a:endParaRPr lang="en-US" sz="1500" b="0" strike="noStrike" spc="-1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Network of 15 stands and 75 plots over 162 hectares</a:t>
            </a:r>
            <a:endParaRPr lang="en-US" sz="1500" b="0" strike="noStrike" spc="-1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Thinning treatments applied to stands </a:t>
            </a:r>
            <a:br/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	ranging from ~6-14 hectares.</a:t>
            </a:r>
            <a:endParaRPr lang="en-US" sz="1500" b="0" strike="noStrike" spc="-1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Circular 1/25 hectare sample plot , </a:t>
            </a:r>
            <a:br/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	11.3 m radius.</a:t>
            </a:r>
            <a:endParaRPr lang="en-US" sz="1500" b="0" strike="noStrike" spc="-1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Measured aprox. every 5-10 years</a:t>
            </a:r>
            <a:endParaRPr lang="en-US" sz="1500" b="0" strike="noStrike" spc="-1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Data recorded was</a:t>
            </a:r>
            <a:r>
              <a:rPr lang="en" sz="1500" b="1" strike="noStrike" spc="-1">
                <a:solidFill>
                  <a:srgbClr val="000000"/>
                </a:solidFill>
                <a:latin typeface="Arial"/>
                <a:ea typeface="Arial"/>
              </a:rPr>
              <a:t> species,</a:t>
            </a: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 diameter at </a:t>
            </a:r>
            <a:br/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breast height (</a:t>
            </a:r>
            <a:r>
              <a:rPr lang="en" sz="1500" b="1" strike="noStrike" spc="-1">
                <a:solidFill>
                  <a:srgbClr val="000000"/>
                </a:solidFill>
                <a:latin typeface="Arial"/>
                <a:ea typeface="Arial"/>
              </a:rPr>
              <a:t>DBH</a:t>
            </a: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), and</a:t>
            </a:r>
            <a:r>
              <a:rPr lang="en" sz="1500" b="1" strike="noStrike" spc="-1">
                <a:solidFill>
                  <a:srgbClr val="000000"/>
                </a:solidFill>
                <a:latin typeface="Arial"/>
                <a:ea typeface="Arial"/>
              </a:rPr>
              <a:t> tree health </a:t>
            </a:r>
            <a:br/>
            <a:r>
              <a:rPr lang="en" sz="1500" b="1" strike="noStrike" spc="-1">
                <a:solidFill>
                  <a:srgbClr val="000000"/>
                </a:solidFill>
                <a:latin typeface="Arial"/>
                <a:ea typeface="Arial"/>
              </a:rPr>
              <a:t>condition.</a:t>
            </a:r>
            <a:r>
              <a:rPr lang="en" sz="15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br/>
            <a:r>
              <a:rPr lang="en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15" name="Google Shape;140;p20"/>
          <p:cNvSpPr/>
          <p:nvPr/>
        </p:nvSpPr>
        <p:spPr>
          <a:xfrm>
            <a:off x="135000" y="4650480"/>
            <a:ext cx="3402720" cy="265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Google Shape;142;p20"/>
          <p:cNvSpPr/>
          <p:nvPr/>
        </p:nvSpPr>
        <p:spPr>
          <a:xfrm>
            <a:off x="4588200" y="4574520"/>
            <a:ext cx="481212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Google Shape;143;p20"/>
          <p:cNvSpPr/>
          <p:nvPr/>
        </p:nvSpPr>
        <p:spPr>
          <a:xfrm rot="10800000" flipH="1">
            <a:off x="705960" y="90432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8" name="Google Shape;144;p20"/>
          <p:cNvSpPr/>
          <p:nvPr/>
        </p:nvSpPr>
        <p:spPr>
          <a:xfrm>
            <a:off x="586080" y="4780800"/>
            <a:ext cx="2745000" cy="1954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9" name="Google Shape;145;p20"/>
          <p:cNvSpPr/>
          <p:nvPr/>
        </p:nvSpPr>
        <p:spPr>
          <a:xfrm>
            <a:off x="4452480" y="4633200"/>
            <a:ext cx="4202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0" name="Google Shape;148;p20"/>
          <p:cNvPicPr/>
          <p:nvPr/>
        </p:nvPicPr>
        <p:blipFill>
          <a:blip r:embed="rId2"/>
          <a:stretch/>
        </p:blipFill>
        <p:spPr>
          <a:xfrm>
            <a:off x="1614240" y="3429000"/>
            <a:ext cx="2138400" cy="1603800"/>
          </a:xfrm>
          <a:prstGeom prst="rect">
            <a:avLst/>
          </a:prstGeom>
          <a:ln w="0">
            <a:noFill/>
          </a:ln>
        </p:spPr>
      </p:pic>
      <p:pic>
        <p:nvPicPr>
          <p:cNvPr id="221" name="Picture 220"/>
          <p:cNvPicPr/>
          <p:nvPr/>
        </p:nvPicPr>
        <p:blipFill>
          <a:blip r:embed="rId3"/>
          <a:stretch/>
        </p:blipFill>
        <p:spPr>
          <a:xfrm>
            <a:off x="4343400" y="1594800"/>
            <a:ext cx="4800600" cy="337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88;p25"/>
          <p:cNvSpPr/>
          <p:nvPr/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Google Shape;189;p25"/>
          <p:cNvSpPr/>
          <p:nvPr/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4" name="Google Shape;190;p25"/>
          <p:cNvPicPr/>
          <p:nvPr/>
        </p:nvPicPr>
        <p:blipFill>
          <a:blip r:embed="rId2"/>
          <a:stretch/>
        </p:blipFill>
        <p:spPr>
          <a:xfrm>
            <a:off x="1244880" y="0"/>
            <a:ext cx="6653520" cy="5142600"/>
          </a:xfrm>
          <a:prstGeom prst="rect">
            <a:avLst/>
          </a:prstGeom>
          <a:ln w="0">
            <a:noFill/>
          </a:ln>
        </p:spPr>
      </p:pic>
      <p:sp>
        <p:nvSpPr>
          <p:cNvPr id="225" name="Google Shape;191;p25"/>
          <p:cNvSpPr/>
          <p:nvPr/>
        </p:nvSpPr>
        <p:spPr>
          <a:xfrm>
            <a:off x="7684200" y="3124080"/>
            <a:ext cx="1338480" cy="14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strike="noStrike" spc="-1">
                <a:solidFill>
                  <a:srgbClr val="000000"/>
                </a:solidFill>
                <a:latin typeface="Arial"/>
                <a:ea typeface="Arial"/>
              </a:rPr>
              <a:t>(Hansen, 1978. Line intercept survey. Bloomberg et al., 1980.)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138;p20_0"/>
          <p:cNvSpPr/>
          <p:nvPr/>
        </p:nvSpPr>
        <p:spPr>
          <a:xfrm>
            <a:off x="567000" y="228600"/>
            <a:ext cx="6399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Apiary Study Area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27" name="Google Shape;139;p20_0"/>
          <p:cNvSpPr/>
          <p:nvPr/>
        </p:nvSpPr>
        <p:spPr>
          <a:xfrm>
            <a:off x="0" y="1070640"/>
            <a:ext cx="8915400" cy="392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spAutoFit/>
          </a:bodyPr>
          <a:lstStyle/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Newly planted Douglas fir following clearcut </a:t>
            </a:r>
            <a:br>
              <a:rPr dirty="0"/>
            </a:b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	of mixed Douglas fir forest </a:t>
            </a:r>
            <a:br>
              <a:rPr dirty="0"/>
            </a:b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	with high LRR incidence </a:t>
            </a:r>
            <a:endParaRPr lang="en-US" sz="1500" b="0" strike="noStrike" spc="-1" dirty="0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Network of 25 stands and 125 plots </a:t>
            </a:r>
            <a:br>
              <a:rPr dirty="0"/>
            </a:b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	over 14 hectares in Columbia County </a:t>
            </a:r>
            <a:br>
              <a:rPr dirty="0"/>
            </a:b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	in far NW Oregon</a:t>
            </a:r>
            <a:endParaRPr lang="en-US" sz="1500" b="0" strike="noStrike" spc="-1" dirty="0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Roation treatments applied to stands </a:t>
            </a:r>
            <a:endParaRPr lang="en-US" sz="1500" b="0" strike="noStrike" spc="-1" dirty="0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Stands blocked by initial LRR incidence</a:t>
            </a:r>
            <a:endParaRPr lang="en-US" sz="1500" b="0" strike="noStrike" spc="-1" dirty="0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Circular 1/50 hectare sample plot , </a:t>
            </a:r>
            <a:br>
              <a:rPr dirty="0"/>
            </a:b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	8 m radius.</a:t>
            </a:r>
            <a:endParaRPr lang="en-US" sz="1500" b="0" strike="noStrike" spc="-1" dirty="0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Measured sporatically, every 8-24 years</a:t>
            </a:r>
            <a:endParaRPr lang="en-US" sz="1500" b="0" strike="noStrike" spc="-1" dirty="0">
              <a:latin typeface="Arial"/>
            </a:endParaRPr>
          </a:p>
          <a:p>
            <a:pPr marL="457200" indent="-3232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Data recorded was</a:t>
            </a:r>
            <a:r>
              <a:rPr lang="en" sz="15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diameter at </a:t>
            </a:r>
            <a:br>
              <a:rPr dirty="0"/>
            </a:b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breast height (</a:t>
            </a:r>
            <a:r>
              <a:rPr lang="en" sz="15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DBH</a:t>
            </a: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), and</a:t>
            </a:r>
            <a:r>
              <a:rPr lang="en" sz="15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tree health </a:t>
            </a:r>
            <a:br>
              <a:rPr dirty="0"/>
            </a:br>
            <a:r>
              <a:rPr lang="en" sz="15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condition.</a:t>
            </a:r>
            <a:r>
              <a:rPr lang="en" sz="1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br>
              <a:rPr dirty="0"/>
            </a:br>
            <a:r>
              <a:rPr lang="en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80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28" name="Google Shape;140;p20_0"/>
          <p:cNvSpPr/>
          <p:nvPr/>
        </p:nvSpPr>
        <p:spPr>
          <a:xfrm>
            <a:off x="135000" y="4650480"/>
            <a:ext cx="3402720" cy="26568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Google Shape;142;p20_0"/>
          <p:cNvSpPr/>
          <p:nvPr/>
        </p:nvSpPr>
        <p:spPr>
          <a:xfrm>
            <a:off x="4588200" y="4574520"/>
            <a:ext cx="481212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0" name="Google Shape;143;p20_0"/>
          <p:cNvSpPr/>
          <p:nvPr/>
        </p:nvSpPr>
        <p:spPr>
          <a:xfrm rot="10800000" flipH="1">
            <a:off x="705960" y="90432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1" name="Google Shape;145;p20_0"/>
          <p:cNvSpPr/>
          <p:nvPr/>
        </p:nvSpPr>
        <p:spPr>
          <a:xfrm>
            <a:off x="4452480" y="4633200"/>
            <a:ext cx="4202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32" name="Picture 231"/>
          <p:cNvPicPr/>
          <p:nvPr/>
        </p:nvPicPr>
        <p:blipFill rotWithShape="1">
          <a:blip r:embed="rId2"/>
          <a:srcRect t="17427" r="40825" b="10344"/>
          <a:stretch/>
        </p:blipFill>
        <p:spPr>
          <a:xfrm>
            <a:off x="5104506" y="1253694"/>
            <a:ext cx="3222076" cy="3560411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 232"/>
          <p:cNvPicPr/>
          <p:nvPr/>
        </p:nvPicPr>
        <p:blipFill>
          <a:blip r:embed="rId2"/>
          <a:stretch/>
        </p:blipFill>
        <p:spPr>
          <a:xfrm>
            <a:off x="12600" y="114120"/>
            <a:ext cx="7183440" cy="4915080"/>
          </a:xfrm>
          <a:prstGeom prst="rect">
            <a:avLst/>
          </a:prstGeom>
          <a:ln w="0">
            <a:noFill/>
          </a:ln>
        </p:spPr>
      </p:pic>
      <p:sp>
        <p:nvSpPr>
          <p:cNvPr id="234" name="Straight Connector 233"/>
          <p:cNvSpPr/>
          <p:nvPr/>
        </p:nvSpPr>
        <p:spPr>
          <a:xfrm flipV="1">
            <a:off x="685800" y="258120"/>
            <a:ext cx="6642000" cy="3399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Straight Connector 234"/>
          <p:cNvSpPr/>
          <p:nvPr/>
        </p:nvSpPr>
        <p:spPr>
          <a:xfrm flipV="1">
            <a:off x="1143000" y="3573000"/>
            <a:ext cx="7841520" cy="99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Rectangle 235"/>
          <p:cNvSpPr/>
          <p:nvPr/>
        </p:nvSpPr>
        <p:spPr>
          <a:xfrm>
            <a:off x="649800" y="3657600"/>
            <a:ext cx="493200" cy="914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37" name="Picture 236"/>
          <p:cNvPicPr/>
          <p:nvPr/>
        </p:nvPicPr>
        <p:blipFill>
          <a:blip r:embed="rId2"/>
          <a:srcRect l="9370" t="72076" r="84260" b="9315"/>
          <a:stretch/>
        </p:blipFill>
        <p:spPr>
          <a:xfrm>
            <a:off x="7327800" y="258120"/>
            <a:ext cx="1656720" cy="3314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37"/>
          <p:cNvPicPr/>
          <p:nvPr/>
        </p:nvPicPr>
        <p:blipFill>
          <a:blip r:embed="rId2"/>
          <a:srcRect l="4000" r="40000"/>
          <a:stretch/>
        </p:blipFill>
        <p:spPr>
          <a:xfrm>
            <a:off x="4800960" y="1514880"/>
            <a:ext cx="3199680" cy="3513960"/>
          </a:xfrm>
          <a:prstGeom prst="rect">
            <a:avLst/>
          </a:prstGeom>
          <a:ln w="0">
            <a:noFill/>
          </a:ln>
        </p:spPr>
      </p:pic>
      <p:sp>
        <p:nvSpPr>
          <p:cNvPr id="239" name="Rectangle 238"/>
          <p:cNvSpPr/>
          <p:nvPr/>
        </p:nvSpPr>
        <p:spPr>
          <a:xfrm>
            <a:off x="228600" y="914400"/>
            <a:ext cx="3657240" cy="87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Diameter at breast height (</a:t>
            </a:r>
            <a:r>
              <a:rPr lang="en" sz="1850" b="1" strike="noStrike" spc="-1">
                <a:solidFill>
                  <a:srgbClr val="000000"/>
                </a:solidFill>
                <a:latin typeface="Arial"/>
                <a:ea typeface="Arial"/>
              </a:rPr>
              <a:t>DBH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(cm or in)</a:t>
            </a:r>
            <a:endParaRPr lang="en-US" sz="185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1-dimesional ~ distance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4114800" y="914400"/>
            <a:ext cx="2971440" cy="87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Tree basal area (</a:t>
            </a:r>
            <a:r>
              <a:rPr lang="en" sz="1850" b="1" strike="noStrike" spc="-1">
                <a:solidFill>
                  <a:srgbClr val="000000"/>
                </a:solidFill>
                <a:latin typeface="Arial"/>
                <a:ea typeface="Arial"/>
              </a:rPr>
              <a:t>BA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(m</a:t>
            </a:r>
            <a:r>
              <a:rPr lang="en" sz="1850" b="0" strike="noStrike" spc="-1" baseline="3300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 or ft</a:t>
            </a:r>
            <a:r>
              <a:rPr lang="en" sz="1850" b="0" strike="noStrike" spc="-1" baseline="3300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lang="en-US" sz="185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2-D ~ area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229320" y="228600"/>
            <a:ext cx="6856920" cy="62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3600" b="0" strike="noStrike" spc="-1">
                <a:solidFill>
                  <a:srgbClr val="000000"/>
                </a:solidFill>
                <a:latin typeface="Arial"/>
              </a:rPr>
              <a:t>Forestry Biometrics 101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242" name="Picture 241"/>
          <p:cNvPicPr/>
          <p:nvPr/>
        </p:nvPicPr>
        <p:blipFill>
          <a:blip r:embed="rId3"/>
          <a:stretch/>
        </p:blipFill>
        <p:spPr>
          <a:xfrm>
            <a:off x="885960" y="1828800"/>
            <a:ext cx="2314080" cy="3085920"/>
          </a:xfrm>
          <a:prstGeom prst="rect">
            <a:avLst/>
          </a:prstGeom>
          <a:ln w="0">
            <a:noFill/>
          </a:ln>
        </p:spPr>
      </p:pic>
      <p:sp>
        <p:nvSpPr>
          <p:cNvPr id="243" name="Google Shape;143;p20_1"/>
          <p:cNvSpPr/>
          <p:nvPr/>
        </p:nvSpPr>
        <p:spPr>
          <a:xfrm rot="10800000" flipH="1">
            <a:off x="705960" y="90432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243"/>
          <p:cNvPicPr/>
          <p:nvPr/>
        </p:nvPicPr>
        <p:blipFill>
          <a:blip r:embed="rId2"/>
          <a:stretch/>
        </p:blipFill>
        <p:spPr>
          <a:xfrm>
            <a:off x="495000" y="612000"/>
            <a:ext cx="8229240" cy="4416840"/>
          </a:xfrm>
          <a:prstGeom prst="rect">
            <a:avLst/>
          </a:prstGeom>
          <a:ln w="0">
            <a:noFill/>
          </a:ln>
        </p:spPr>
      </p:pic>
      <p:sp>
        <p:nvSpPr>
          <p:cNvPr id="245" name="Rectangle 244"/>
          <p:cNvSpPr/>
          <p:nvPr/>
        </p:nvSpPr>
        <p:spPr>
          <a:xfrm>
            <a:off x="228600" y="119880"/>
            <a:ext cx="3428640" cy="87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Stand basal area (</a:t>
            </a:r>
            <a:r>
              <a:rPr lang="en" sz="1850" b="1" strike="noStrike" spc="-1">
                <a:solidFill>
                  <a:srgbClr val="000000"/>
                </a:solidFill>
                <a:latin typeface="Arial"/>
                <a:ea typeface="Arial"/>
              </a:rPr>
              <a:t>BA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(m</a:t>
            </a:r>
            <a:r>
              <a:rPr lang="en" sz="1850" b="0" strike="noStrike" spc="-1" baseline="3300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/hectare or ft</a:t>
            </a:r>
            <a:r>
              <a:rPr lang="en" sz="1850" b="0" strike="noStrike" spc="-1" baseline="3300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/acre)</a:t>
            </a:r>
            <a:endParaRPr lang="en-US" sz="185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2-D ~ density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246" name="Rectangle 245"/>
          <p:cNvSpPr/>
          <p:nvPr/>
        </p:nvSpPr>
        <p:spPr>
          <a:xfrm>
            <a:off x="3429000" y="119880"/>
            <a:ext cx="3428640" cy="61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Stand &gt; plot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246"/>
          <p:cNvSpPr/>
          <p:nvPr/>
        </p:nvSpPr>
        <p:spPr>
          <a:xfrm>
            <a:off x="228600" y="232920"/>
            <a:ext cx="1828440" cy="11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Wood Volume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(m</a:t>
            </a:r>
            <a:r>
              <a:rPr lang="en" sz="1850" b="0" strike="noStrike" spc="-1" baseline="3300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 or ft</a:t>
            </a:r>
            <a:r>
              <a:rPr lang="en" sz="1850" b="0" strike="noStrike" spc="-1" baseline="3300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lang="en-US" sz="185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3-D</a:t>
            </a:r>
            <a:endParaRPr lang="en-US" sz="1850" b="0" strike="noStrike" spc="-1">
              <a:latin typeface="Arial"/>
            </a:endParaRPr>
          </a:p>
        </p:txBody>
      </p:sp>
      <p:pic>
        <p:nvPicPr>
          <p:cNvPr id="248" name="Picture 247"/>
          <p:cNvPicPr/>
          <p:nvPr/>
        </p:nvPicPr>
        <p:blipFill>
          <a:blip r:embed="rId2"/>
          <a:stretch/>
        </p:blipFill>
        <p:spPr>
          <a:xfrm>
            <a:off x="2971800" y="685800"/>
            <a:ext cx="5578560" cy="4087800"/>
          </a:xfrm>
          <a:prstGeom prst="rect">
            <a:avLst/>
          </a:prstGeom>
          <a:ln w="0">
            <a:noFill/>
          </a:ln>
        </p:spPr>
      </p:pic>
      <p:pic>
        <p:nvPicPr>
          <p:cNvPr id="249" name="Picture 248"/>
          <p:cNvPicPr/>
          <p:nvPr/>
        </p:nvPicPr>
        <p:blipFill>
          <a:blip r:embed="rId3"/>
          <a:srcRect r="52533"/>
          <a:stretch/>
        </p:blipFill>
        <p:spPr>
          <a:xfrm>
            <a:off x="228600" y="1371600"/>
            <a:ext cx="2514240" cy="3412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249"/>
          <p:cNvSpPr/>
          <p:nvPr/>
        </p:nvSpPr>
        <p:spPr>
          <a:xfrm>
            <a:off x="156600" y="410400"/>
            <a:ext cx="3428640" cy="87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Increment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(metric/time)</a:t>
            </a:r>
            <a:endParaRPr lang="en-US" sz="185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rate or slope ~ </a:t>
            </a:r>
            <a:r>
              <a:rPr lang="en" sz="1850" b="1" strike="noStrike" spc="-1">
                <a:solidFill>
                  <a:srgbClr val="000000"/>
                </a:solidFill>
                <a:latin typeface="Arial"/>
                <a:ea typeface="Arial"/>
              </a:rPr>
              <a:t>growth</a:t>
            </a:r>
            <a:endParaRPr lang="en-US" sz="1850" b="0" strike="noStrike" spc="-1">
              <a:latin typeface="Arial"/>
            </a:endParaRPr>
          </a:p>
        </p:txBody>
      </p:sp>
      <p:grpSp>
        <p:nvGrpSpPr>
          <p:cNvPr id="251" name="Group 250"/>
          <p:cNvGrpSpPr/>
          <p:nvPr/>
        </p:nvGrpSpPr>
        <p:grpSpPr>
          <a:xfrm>
            <a:off x="45000" y="1600200"/>
            <a:ext cx="5210640" cy="3183480"/>
            <a:chOff x="45000" y="1600200"/>
            <a:chExt cx="5210640" cy="3183480"/>
          </a:xfrm>
        </p:grpSpPr>
        <p:pic>
          <p:nvPicPr>
            <p:cNvPr id="252" name="Picture 251"/>
            <p:cNvPicPr/>
            <p:nvPr/>
          </p:nvPicPr>
          <p:blipFill>
            <a:blip r:embed="rId2"/>
            <a:stretch/>
          </p:blipFill>
          <p:spPr>
            <a:xfrm>
              <a:off x="106200" y="1924560"/>
              <a:ext cx="4970520" cy="2859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3" name="Rectangle 252"/>
            <p:cNvSpPr/>
            <p:nvPr/>
          </p:nvSpPr>
          <p:spPr>
            <a:xfrm>
              <a:off x="45000" y="1600200"/>
              <a:ext cx="13712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850" b="0" strike="noStrike" spc="-1">
                  <a:solidFill>
                    <a:srgbClr val="00A0FC"/>
                  </a:solidFill>
                  <a:latin typeface="Arial"/>
                  <a:ea typeface="Arial"/>
                </a:rPr>
                <a:t>ΔDBH/year </a:t>
              </a:r>
              <a:endParaRPr lang="en-US" sz="1850" b="0" strike="noStrike" spc="-1">
                <a:latin typeface="Arial"/>
              </a:endParaRPr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3884400" y="1600200"/>
              <a:ext cx="13712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85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ΔBA/year</a:t>
              </a:r>
              <a:endParaRPr lang="en-US" sz="1850" b="0" strike="noStrike" spc="-1">
                <a:latin typeface="Arial"/>
              </a:endParaRPr>
            </a:p>
          </p:txBody>
        </p:sp>
      </p:grpSp>
      <p:grpSp>
        <p:nvGrpSpPr>
          <p:cNvPr id="255" name="Group 254"/>
          <p:cNvGrpSpPr/>
          <p:nvPr/>
        </p:nvGrpSpPr>
        <p:grpSpPr>
          <a:xfrm>
            <a:off x="5196600" y="1888560"/>
            <a:ext cx="3428640" cy="2911680"/>
            <a:chOff x="5196600" y="1888560"/>
            <a:chExt cx="3428640" cy="2911680"/>
          </a:xfrm>
        </p:grpSpPr>
        <p:pic>
          <p:nvPicPr>
            <p:cNvPr id="256" name="Picture 255"/>
            <p:cNvPicPr/>
            <p:nvPr/>
          </p:nvPicPr>
          <p:blipFill>
            <a:blip r:embed="rId3"/>
            <a:stretch/>
          </p:blipFill>
          <p:spPr>
            <a:xfrm>
              <a:off x="5196600" y="1924560"/>
              <a:ext cx="3428640" cy="2875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7" name="Straight Connector 256"/>
            <p:cNvSpPr/>
            <p:nvPr/>
          </p:nvSpPr>
          <p:spPr>
            <a:xfrm flipV="1">
              <a:off x="6447600" y="2619000"/>
              <a:ext cx="529200" cy="473400"/>
            </a:xfrm>
            <a:prstGeom prst="line">
              <a:avLst/>
            </a:prstGeom>
            <a:ln w="18360">
              <a:solidFill>
                <a:srgbClr val="FC5C00"/>
              </a:solidFill>
              <a:prstDash val="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8" name="Straight Connector 257"/>
            <p:cNvSpPr/>
            <p:nvPr/>
          </p:nvSpPr>
          <p:spPr>
            <a:xfrm flipV="1">
              <a:off x="6039000" y="3200400"/>
              <a:ext cx="264600" cy="649800"/>
            </a:xfrm>
            <a:prstGeom prst="line">
              <a:avLst/>
            </a:prstGeom>
            <a:ln w="18360">
              <a:solidFill>
                <a:srgbClr val="FC5C00"/>
              </a:solidFill>
              <a:prstDash val="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9" name="Rectangle 258"/>
            <p:cNvSpPr/>
            <p:nvPr/>
          </p:nvSpPr>
          <p:spPr>
            <a:xfrm rot="18980400">
              <a:off x="6362640" y="2523960"/>
              <a:ext cx="685440" cy="23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05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ΔBA</a:t>
              </a:r>
              <a:r>
                <a:rPr lang="en" sz="105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2</a:t>
              </a:r>
              <a:endParaRPr lang="en-US" sz="1050" b="0" strike="noStrike" spc="-1">
                <a:latin typeface="Arial"/>
              </a:endParaRPr>
            </a:p>
          </p:txBody>
        </p:sp>
        <p:sp>
          <p:nvSpPr>
            <p:cNvPr id="260" name="Rectangle 259"/>
            <p:cNvSpPr/>
            <p:nvPr/>
          </p:nvSpPr>
          <p:spPr>
            <a:xfrm rot="17616600">
              <a:off x="5833800" y="3115800"/>
              <a:ext cx="685440" cy="23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05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ΔBA</a:t>
              </a:r>
              <a:r>
                <a:rPr lang="en" sz="105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1</a:t>
              </a:r>
              <a:endParaRPr lang="en-US" sz="1050" b="0" strike="noStrike" spc="-1">
                <a:latin typeface="Arial"/>
              </a:endParaRPr>
            </a:p>
          </p:txBody>
        </p:sp>
        <p:sp>
          <p:nvSpPr>
            <p:cNvPr id="261" name="Straight Connector 260"/>
            <p:cNvSpPr/>
            <p:nvPr/>
          </p:nvSpPr>
          <p:spPr>
            <a:xfrm flipV="1">
              <a:off x="6039000" y="2093400"/>
              <a:ext cx="360" cy="228600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2" name="Straight Connector 261"/>
            <p:cNvSpPr/>
            <p:nvPr/>
          </p:nvSpPr>
          <p:spPr>
            <a:xfrm flipV="1">
              <a:off x="6291000" y="2093400"/>
              <a:ext cx="360" cy="228600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3" name="Straight Connector 262"/>
            <p:cNvSpPr/>
            <p:nvPr/>
          </p:nvSpPr>
          <p:spPr>
            <a:xfrm flipV="1">
              <a:off x="6435000" y="2093400"/>
              <a:ext cx="360" cy="228600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4" name="Straight Connector 263"/>
            <p:cNvSpPr/>
            <p:nvPr/>
          </p:nvSpPr>
          <p:spPr>
            <a:xfrm flipV="1">
              <a:off x="6975000" y="2093400"/>
              <a:ext cx="360" cy="228600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5" name="Rectangle 264"/>
            <p:cNvSpPr/>
            <p:nvPr/>
          </p:nvSpPr>
          <p:spPr>
            <a:xfrm>
              <a:off x="6026400" y="1900800"/>
              <a:ext cx="408240" cy="2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3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t</a:t>
              </a:r>
              <a:r>
                <a:rPr lang="en" sz="13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1</a:t>
              </a:r>
              <a:endParaRPr lang="en-US" sz="1300" b="0" strike="noStrike" spc="-1">
                <a:latin typeface="Arial"/>
              </a:endParaRPr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6566400" y="1888560"/>
              <a:ext cx="408240" cy="2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3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t</a:t>
              </a:r>
              <a:r>
                <a:rPr lang="en" sz="13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2</a:t>
              </a:r>
              <a:endParaRPr lang="en-US" sz="1300" b="0" strike="noStrike" spc="-1">
                <a:latin typeface="Arial"/>
              </a:endParaRPr>
            </a:p>
          </p:txBody>
        </p:sp>
      </p:grpSp>
      <p:sp>
        <p:nvSpPr>
          <p:cNvPr id="267" name="Rectangle 266"/>
          <p:cNvSpPr/>
          <p:nvPr/>
        </p:nvSpPr>
        <p:spPr>
          <a:xfrm>
            <a:off x="3198960" y="166320"/>
            <a:ext cx="5714280" cy="97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Relationships beween different metrics </a:t>
            </a:r>
            <a:endParaRPr lang="en-US" sz="185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(DBH, height, BA, volume, age, increments) </a:t>
            </a:r>
            <a:endParaRPr lang="en-US" sz="185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are context dependent, and active areas of research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traight Connector 37_1"/>
          <p:cNvSpPr/>
          <p:nvPr/>
        </p:nvSpPr>
        <p:spPr>
          <a:xfrm>
            <a:off x="470232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Straight Connector 38_0"/>
          <p:cNvSpPr/>
          <p:nvPr/>
        </p:nvSpPr>
        <p:spPr>
          <a:xfrm>
            <a:off x="387288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Straight Connector 39_0"/>
          <p:cNvSpPr/>
          <p:nvPr/>
        </p:nvSpPr>
        <p:spPr>
          <a:xfrm>
            <a:off x="304344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1" name="Straight Connector 40_0"/>
          <p:cNvSpPr/>
          <p:nvPr/>
        </p:nvSpPr>
        <p:spPr>
          <a:xfrm>
            <a:off x="221400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2" name="Straight Connector 41_0"/>
          <p:cNvSpPr/>
          <p:nvPr/>
        </p:nvSpPr>
        <p:spPr>
          <a:xfrm>
            <a:off x="553140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3" name="Straight Connector 42_0"/>
          <p:cNvSpPr/>
          <p:nvPr/>
        </p:nvSpPr>
        <p:spPr>
          <a:xfrm>
            <a:off x="636084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4" name="Straight Connector 43_0"/>
          <p:cNvSpPr/>
          <p:nvPr/>
        </p:nvSpPr>
        <p:spPr>
          <a:xfrm>
            <a:off x="719028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5" name="Straight Connector 44_0"/>
          <p:cNvSpPr/>
          <p:nvPr/>
        </p:nvSpPr>
        <p:spPr>
          <a:xfrm>
            <a:off x="801972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6" name="Straight Connector 45_0"/>
          <p:cNvSpPr/>
          <p:nvPr/>
        </p:nvSpPr>
        <p:spPr>
          <a:xfrm>
            <a:off x="8849160" y="1017000"/>
            <a:ext cx="360" cy="2073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7" name="Rectangle 46_0"/>
          <p:cNvSpPr/>
          <p:nvPr/>
        </p:nvSpPr>
        <p:spPr>
          <a:xfrm>
            <a:off x="2077200" y="321300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78" name="Rectangle 47_0"/>
          <p:cNvSpPr/>
          <p:nvPr/>
        </p:nvSpPr>
        <p:spPr>
          <a:xfrm>
            <a:off x="2841480" y="321300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79" name="Rectangle 48_0"/>
          <p:cNvSpPr/>
          <p:nvPr/>
        </p:nvSpPr>
        <p:spPr>
          <a:xfrm>
            <a:off x="3670920" y="321300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80" name="Rectangle 49_0"/>
          <p:cNvSpPr/>
          <p:nvPr/>
        </p:nvSpPr>
        <p:spPr>
          <a:xfrm>
            <a:off x="4500360" y="321300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81" name="Rectangle 50_0"/>
          <p:cNvSpPr/>
          <p:nvPr/>
        </p:nvSpPr>
        <p:spPr>
          <a:xfrm>
            <a:off x="5183640" y="3213000"/>
            <a:ext cx="6202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2000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82" name="Rectangle 51_0"/>
          <p:cNvSpPr/>
          <p:nvPr/>
        </p:nvSpPr>
        <p:spPr>
          <a:xfrm>
            <a:off x="6159240" y="321300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‘05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83" name="Rectangle 52_0"/>
          <p:cNvSpPr/>
          <p:nvPr/>
        </p:nvSpPr>
        <p:spPr>
          <a:xfrm>
            <a:off x="6982920" y="3213000"/>
            <a:ext cx="4795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84" name="Rectangle 53_0"/>
          <p:cNvSpPr/>
          <p:nvPr/>
        </p:nvSpPr>
        <p:spPr>
          <a:xfrm>
            <a:off x="7818120" y="321300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85" name="Rectangle 54_0"/>
          <p:cNvSpPr/>
          <p:nvPr/>
        </p:nvSpPr>
        <p:spPr>
          <a:xfrm>
            <a:off x="8647560" y="321300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‘20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86" name="Rectangle 55_0"/>
          <p:cNvSpPr/>
          <p:nvPr/>
        </p:nvSpPr>
        <p:spPr>
          <a:xfrm>
            <a:off x="793440" y="3213000"/>
            <a:ext cx="1066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ca. 1915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87" name="Rectangle 56_0"/>
          <p:cNvSpPr/>
          <p:nvPr/>
        </p:nvSpPr>
        <p:spPr>
          <a:xfrm>
            <a:off x="4462200" y="3438360"/>
            <a:ext cx="7192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Year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8" name="Rectangle 60_0"/>
          <p:cNvSpPr/>
          <p:nvPr/>
        </p:nvSpPr>
        <p:spPr>
          <a:xfrm>
            <a:off x="370440" y="1891440"/>
            <a:ext cx="121896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Light Thin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89" name="Rectangle 61_0"/>
          <p:cNvSpPr/>
          <p:nvPr/>
        </p:nvSpPr>
        <p:spPr>
          <a:xfrm>
            <a:off x="351360" y="2511000"/>
            <a:ext cx="12841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Unthinned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90" name="Straight Connector 62_0"/>
          <p:cNvSpPr/>
          <p:nvPr/>
        </p:nvSpPr>
        <p:spPr>
          <a:xfrm>
            <a:off x="1430280" y="1017360"/>
            <a:ext cx="21240" cy="2765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1" name="Rectangle 63_0"/>
          <p:cNvSpPr/>
          <p:nvPr/>
        </p:nvSpPr>
        <p:spPr>
          <a:xfrm>
            <a:off x="3872880" y="2468520"/>
            <a:ext cx="49741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92" name="Group 68_0"/>
          <p:cNvGrpSpPr/>
          <p:nvPr/>
        </p:nvGrpSpPr>
        <p:grpSpPr>
          <a:xfrm>
            <a:off x="1428480" y="1147680"/>
            <a:ext cx="2444400" cy="2516040"/>
            <a:chOff x="1428480" y="1147680"/>
            <a:chExt cx="2444400" cy="2516040"/>
          </a:xfrm>
        </p:grpSpPr>
        <p:sp>
          <p:nvSpPr>
            <p:cNvPr id="293" name="Rectangle 76_0"/>
            <p:cNvSpPr/>
            <p:nvPr/>
          </p:nvSpPr>
          <p:spPr>
            <a:xfrm>
              <a:off x="3043440" y="1224720"/>
              <a:ext cx="829440" cy="41184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4" name="Rectangle 78_0"/>
            <p:cNvSpPr/>
            <p:nvPr/>
          </p:nvSpPr>
          <p:spPr>
            <a:xfrm>
              <a:off x="1428480" y="1226880"/>
              <a:ext cx="1614600" cy="41220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5" name="Rectangle 76_2"/>
            <p:cNvSpPr/>
            <p:nvPr/>
          </p:nvSpPr>
          <p:spPr>
            <a:xfrm>
              <a:off x="3043440" y="1845360"/>
              <a:ext cx="829440" cy="41220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6" name="Rectangle 78_2"/>
            <p:cNvSpPr/>
            <p:nvPr/>
          </p:nvSpPr>
          <p:spPr>
            <a:xfrm>
              <a:off x="1428480" y="1847520"/>
              <a:ext cx="1614600" cy="41220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7" name="Rectangle 78_3"/>
            <p:cNvSpPr/>
            <p:nvPr/>
          </p:nvSpPr>
          <p:spPr>
            <a:xfrm>
              <a:off x="1428480" y="2468160"/>
              <a:ext cx="2444400" cy="41184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8" name="Straight Connector 297"/>
            <p:cNvSpPr/>
            <p:nvPr/>
          </p:nvSpPr>
          <p:spPr>
            <a:xfrm flipV="1">
              <a:off x="1626120" y="1147680"/>
              <a:ext cx="28116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9" name="Straight Connector 298"/>
            <p:cNvSpPr/>
            <p:nvPr/>
          </p:nvSpPr>
          <p:spPr>
            <a:xfrm flipV="1">
              <a:off x="1759320" y="1147680"/>
              <a:ext cx="28152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0" name="Straight Connector 299"/>
            <p:cNvSpPr/>
            <p:nvPr/>
          </p:nvSpPr>
          <p:spPr>
            <a:xfrm flipV="1">
              <a:off x="1593360" y="1801080"/>
              <a:ext cx="28116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1" name="Straight Connector 300"/>
            <p:cNvSpPr/>
            <p:nvPr/>
          </p:nvSpPr>
          <p:spPr>
            <a:xfrm flipV="1">
              <a:off x="1726560" y="1801080"/>
              <a:ext cx="28152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2" name="Straight Connector 301"/>
            <p:cNvSpPr/>
            <p:nvPr/>
          </p:nvSpPr>
          <p:spPr>
            <a:xfrm flipV="1">
              <a:off x="1593360" y="2421360"/>
              <a:ext cx="28116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3" name="Straight Connector 302"/>
            <p:cNvSpPr/>
            <p:nvPr/>
          </p:nvSpPr>
          <p:spPr>
            <a:xfrm flipV="1">
              <a:off x="1726560" y="2421360"/>
              <a:ext cx="28152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4" name="Straight Connector 303"/>
            <p:cNvSpPr/>
            <p:nvPr/>
          </p:nvSpPr>
          <p:spPr>
            <a:xfrm flipV="1">
              <a:off x="1626120" y="3041640"/>
              <a:ext cx="28116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5" name="Straight Connector 304"/>
            <p:cNvSpPr/>
            <p:nvPr/>
          </p:nvSpPr>
          <p:spPr>
            <a:xfrm flipV="1">
              <a:off x="1759320" y="3041640"/>
              <a:ext cx="281520" cy="622080"/>
            </a:xfrm>
            <a:prstGeom prst="line">
              <a:avLst/>
            </a:prstGeom>
            <a:ln w="1836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306" name="Group 79_0"/>
          <p:cNvGrpSpPr/>
          <p:nvPr/>
        </p:nvGrpSpPr>
        <p:grpSpPr>
          <a:xfrm>
            <a:off x="3872880" y="1224720"/>
            <a:ext cx="5171760" cy="1620360"/>
            <a:chOff x="3872880" y="1224720"/>
            <a:chExt cx="5171760" cy="1620360"/>
          </a:xfrm>
        </p:grpSpPr>
        <p:sp>
          <p:nvSpPr>
            <p:cNvPr id="307" name="Rectangle 80_0"/>
            <p:cNvSpPr/>
            <p:nvPr/>
          </p:nvSpPr>
          <p:spPr>
            <a:xfrm>
              <a:off x="3872880" y="1224720"/>
              <a:ext cx="4980600" cy="412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8" name="Rectangle 81_0"/>
            <p:cNvSpPr/>
            <p:nvPr/>
          </p:nvSpPr>
          <p:spPr>
            <a:xfrm>
              <a:off x="3873240" y="1846440"/>
              <a:ext cx="4980240" cy="412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9" name="Rectangle 86_0"/>
            <p:cNvSpPr/>
            <p:nvPr/>
          </p:nvSpPr>
          <p:spPr>
            <a:xfrm>
              <a:off x="4502880" y="125604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80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0" name="Rectangle 86_2"/>
            <p:cNvSpPr/>
            <p:nvPr/>
          </p:nvSpPr>
          <p:spPr>
            <a:xfrm>
              <a:off x="5319360" y="125604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85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2000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1" name="Rectangle 86_3"/>
            <p:cNvSpPr/>
            <p:nvPr/>
          </p:nvSpPr>
          <p:spPr>
            <a:xfrm>
              <a:off x="6854040" y="125604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94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2009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2" name="Rectangle 86_4"/>
            <p:cNvSpPr/>
            <p:nvPr/>
          </p:nvSpPr>
          <p:spPr>
            <a:xfrm>
              <a:off x="8617680" y="1256040"/>
              <a:ext cx="42696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105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3" name="Rectangle 86_5"/>
            <p:cNvSpPr/>
            <p:nvPr/>
          </p:nvSpPr>
          <p:spPr>
            <a:xfrm>
              <a:off x="4502880" y="187632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80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4" name="Rectangle 86_6"/>
            <p:cNvSpPr/>
            <p:nvPr/>
          </p:nvSpPr>
          <p:spPr>
            <a:xfrm>
              <a:off x="4502880" y="249696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80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5" name="Rectangle 86_7"/>
            <p:cNvSpPr/>
            <p:nvPr/>
          </p:nvSpPr>
          <p:spPr>
            <a:xfrm>
              <a:off x="5319360" y="187632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85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2000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6" name="Rectangle 86_8"/>
            <p:cNvSpPr/>
            <p:nvPr/>
          </p:nvSpPr>
          <p:spPr>
            <a:xfrm>
              <a:off x="5319360" y="249696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85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2000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7" name="Rectangle 86_9"/>
            <p:cNvSpPr/>
            <p:nvPr/>
          </p:nvSpPr>
          <p:spPr>
            <a:xfrm>
              <a:off x="6854040" y="187632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94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2009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8" name="Rectangle 86_10"/>
            <p:cNvSpPr/>
            <p:nvPr/>
          </p:nvSpPr>
          <p:spPr>
            <a:xfrm>
              <a:off x="6854040" y="249696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94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2009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19" name="Rectangle 86_11"/>
            <p:cNvSpPr/>
            <p:nvPr/>
          </p:nvSpPr>
          <p:spPr>
            <a:xfrm>
              <a:off x="8617680" y="1876320"/>
              <a:ext cx="42696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105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20" name="Rectangle 86_12"/>
            <p:cNvSpPr/>
            <p:nvPr/>
          </p:nvSpPr>
          <p:spPr>
            <a:xfrm>
              <a:off x="8617680" y="2496960"/>
              <a:ext cx="42696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105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800" b="0" strike="noStrike" spc="-1">
                <a:latin typeface="Arial"/>
              </a:endParaRPr>
            </a:p>
          </p:txBody>
        </p:sp>
      </p:grpSp>
      <p:sp>
        <p:nvSpPr>
          <p:cNvPr id="321" name="Rectangle 88_0"/>
          <p:cNvSpPr/>
          <p:nvPr/>
        </p:nvSpPr>
        <p:spPr>
          <a:xfrm rot="16180800">
            <a:off x="-493200" y="1779840"/>
            <a:ext cx="1272960" cy="33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322" name="Group 89_2"/>
          <p:cNvGrpSpPr/>
          <p:nvPr/>
        </p:nvGrpSpPr>
        <p:grpSpPr>
          <a:xfrm>
            <a:off x="6821280" y="243360"/>
            <a:ext cx="3137400" cy="348120"/>
            <a:chOff x="6821280" y="243360"/>
            <a:chExt cx="3137400" cy="348120"/>
          </a:xfrm>
        </p:grpSpPr>
        <p:sp>
          <p:nvSpPr>
            <p:cNvPr id="323" name="Rectangle 90_0"/>
            <p:cNvSpPr/>
            <p:nvPr/>
          </p:nvSpPr>
          <p:spPr>
            <a:xfrm>
              <a:off x="6821280" y="243360"/>
              <a:ext cx="1058400" cy="3117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324" name="Group 91_0"/>
            <p:cNvGrpSpPr/>
            <p:nvPr/>
          </p:nvGrpSpPr>
          <p:grpSpPr>
            <a:xfrm>
              <a:off x="7079400" y="243360"/>
              <a:ext cx="2879280" cy="348120"/>
              <a:chOff x="7079400" y="243360"/>
              <a:chExt cx="2879280" cy="348120"/>
            </a:xfrm>
          </p:grpSpPr>
          <p:sp>
            <p:nvSpPr>
              <p:cNvPr id="325" name="Rectangle 92_0"/>
              <p:cNvSpPr/>
              <p:nvPr/>
            </p:nvSpPr>
            <p:spPr>
              <a:xfrm>
                <a:off x="7079400" y="243360"/>
                <a:ext cx="885960" cy="34812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Max tree age</a:t>
                </a:r>
                <a:endParaRPr lang="en-US" sz="9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Year</a:t>
                </a:r>
                <a:endParaRPr lang="en-US" sz="900" b="0" strike="noStrike" spc="-1">
                  <a:latin typeface="Arial"/>
                </a:endParaRPr>
              </a:p>
            </p:txBody>
          </p:sp>
          <p:sp>
            <p:nvSpPr>
              <p:cNvPr id="326" name="Rectangle 93_2"/>
              <p:cNvSpPr/>
              <p:nvPr/>
            </p:nvSpPr>
            <p:spPr>
              <a:xfrm>
                <a:off x="7923240" y="279720"/>
                <a:ext cx="2035440" cy="31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Measurement</a:t>
                </a:r>
                <a:endParaRPr lang="en-US" sz="1400" b="0" strike="noStrike" spc="-1">
                  <a:latin typeface="Arial"/>
                </a:endParaRPr>
              </a:p>
            </p:txBody>
          </p:sp>
        </p:grpSp>
      </p:grpSp>
      <p:grpSp>
        <p:nvGrpSpPr>
          <p:cNvPr id="327" name="Group 89_3"/>
          <p:cNvGrpSpPr/>
          <p:nvPr/>
        </p:nvGrpSpPr>
        <p:grpSpPr>
          <a:xfrm>
            <a:off x="2919240" y="4343400"/>
            <a:ext cx="6224760" cy="685800"/>
            <a:chOff x="2919240" y="4343400"/>
            <a:chExt cx="6224760" cy="685800"/>
          </a:xfrm>
        </p:grpSpPr>
        <p:sp>
          <p:nvSpPr>
            <p:cNvPr id="328" name="Rectangle 93_3"/>
            <p:cNvSpPr/>
            <p:nvPr/>
          </p:nvSpPr>
          <p:spPr>
            <a:xfrm>
              <a:off x="2919240" y="4343400"/>
              <a:ext cx="6224760" cy="68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Large old trees, mixed age and species</a:t>
              </a:r>
              <a:endParaRPr lang="en-US" sz="2600" b="0" strike="noStrike" spc="-1">
                <a:latin typeface="Arial"/>
              </a:endParaRPr>
            </a:p>
          </p:txBody>
        </p:sp>
      </p:grpSp>
      <p:sp>
        <p:nvSpPr>
          <p:cNvPr id="329" name="Rectangle 60_2"/>
          <p:cNvSpPr/>
          <p:nvPr/>
        </p:nvSpPr>
        <p:spPr>
          <a:xfrm>
            <a:off x="305280" y="1271160"/>
            <a:ext cx="121896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Heavy Thin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3166200" y="1910880"/>
            <a:ext cx="566280" cy="31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Thin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31" name="TextBox 330"/>
          <p:cNvSpPr txBox="1"/>
          <p:nvPr/>
        </p:nvSpPr>
        <p:spPr>
          <a:xfrm>
            <a:off x="3166200" y="1280520"/>
            <a:ext cx="566280" cy="31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Thin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2005560" y="1289520"/>
            <a:ext cx="995400" cy="34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Growth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2005560" y="1877400"/>
            <a:ext cx="995400" cy="34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Growth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34" name="TextBox 333"/>
          <p:cNvSpPr txBox="1"/>
          <p:nvPr/>
        </p:nvSpPr>
        <p:spPr>
          <a:xfrm>
            <a:off x="2005560" y="2530440"/>
            <a:ext cx="995400" cy="34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Growth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741240" y="3783240"/>
            <a:ext cx="1332360" cy="77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300" b="0" strike="noStrike" spc="-1">
                <a:solidFill>
                  <a:srgbClr val="000000"/>
                </a:solidFill>
                <a:latin typeface="Arial"/>
                <a:ea typeface="DejaVu Sans"/>
              </a:rPr>
              <a:t>Clearcut and </a:t>
            </a:r>
            <a:br/>
            <a:r>
              <a:rPr lang="en-US" sz="1300" b="0" strike="noStrike" spc="-1">
                <a:solidFill>
                  <a:srgbClr val="000000"/>
                </a:solidFill>
                <a:latin typeface="Arial"/>
                <a:ea typeface="DejaVu Sans"/>
              </a:rPr>
              <a:t>seed DF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336" name="Rectangle 67_0"/>
          <p:cNvSpPr/>
          <p:nvPr/>
        </p:nvSpPr>
        <p:spPr>
          <a:xfrm>
            <a:off x="3654720" y="126036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75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37" name="Rectangle 67_2"/>
          <p:cNvSpPr/>
          <p:nvPr/>
        </p:nvSpPr>
        <p:spPr>
          <a:xfrm>
            <a:off x="3654720" y="188064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75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38" name="Rectangle 67_3"/>
          <p:cNvSpPr/>
          <p:nvPr/>
        </p:nvSpPr>
        <p:spPr>
          <a:xfrm>
            <a:off x="3654720" y="250128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75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1990</a:t>
            </a:r>
            <a:endParaRPr lang="en-US" sz="800" b="0" strike="noStrike" spc="-1">
              <a:latin typeface="Arial"/>
            </a:endParaRPr>
          </a:p>
        </p:txBody>
      </p:sp>
      <p:grpSp>
        <p:nvGrpSpPr>
          <p:cNvPr id="339" name="Group 89_6"/>
          <p:cNvGrpSpPr/>
          <p:nvPr/>
        </p:nvGrpSpPr>
        <p:grpSpPr>
          <a:xfrm>
            <a:off x="1865880" y="277200"/>
            <a:ext cx="3938760" cy="311760"/>
            <a:chOff x="1865880" y="277200"/>
            <a:chExt cx="3938760" cy="311760"/>
          </a:xfrm>
        </p:grpSpPr>
        <p:sp>
          <p:nvSpPr>
            <p:cNvPr id="340" name="Rectangle 93_6"/>
            <p:cNvSpPr/>
            <p:nvPr/>
          </p:nvSpPr>
          <p:spPr>
            <a:xfrm>
              <a:off x="1865880" y="277200"/>
              <a:ext cx="3938760" cy="31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WOODS CREEK</a:t>
              </a:r>
              <a:endParaRPr lang="en-US" sz="26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traight Connector 37_2"/>
          <p:cNvSpPr/>
          <p:nvPr/>
        </p:nvSpPr>
        <p:spPr>
          <a:xfrm>
            <a:off x="470232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Straight Connector 38_1"/>
          <p:cNvSpPr/>
          <p:nvPr/>
        </p:nvSpPr>
        <p:spPr>
          <a:xfrm>
            <a:off x="387288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3" name="Straight Connector 39_1"/>
          <p:cNvSpPr/>
          <p:nvPr/>
        </p:nvSpPr>
        <p:spPr>
          <a:xfrm>
            <a:off x="304344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Straight Connector 40_1"/>
          <p:cNvSpPr/>
          <p:nvPr/>
        </p:nvSpPr>
        <p:spPr>
          <a:xfrm>
            <a:off x="221400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Straight Connector 41_1"/>
          <p:cNvSpPr/>
          <p:nvPr/>
        </p:nvSpPr>
        <p:spPr>
          <a:xfrm>
            <a:off x="553140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6" name="Straight Connector 42_1"/>
          <p:cNvSpPr/>
          <p:nvPr/>
        </p:nvSpPr>
        <p:spPr>
          <a:xfrm>
            <a:off x="636084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7" name="Straight Connector 43_1"/>
          <p:cNvSpPr/>
          <p:nvPr/>
        </p:nvSpPr>
        <p:spPr>
          <a:xfrm>
            <a:off x="719028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Straight Connector 44_1"/>
          <p:cNvSpPr/>
          <p:nvPr/>
        </p:nvSpPr>
        <p:spPr>
          <a:xfrm>
            <a:off x="801972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9" name="Straight Connector 45_1"/>
          <p:cNvSpPr/>
          <p:nvPr/>
        </p:nvSpPr>
        <p:spPr>
          <a:xfrm>
            <a:off x="884916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0" name="Rectangle 46_1"/>
          <p:cNvSpPr/>
          <p:nvPr/>
        </p:nvSpPr>
        <p:spPr>
          <a:xfrm>
            <a:off x="1969200" y="395352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1" name="Rectangle 47_1"/>
          <p:cNvSpPr/>
          <p:nvPr/>
        </p:nvSpPr>
        <p:spPr>
          <a:xfrm>
            <a:off x="2841480" y="395352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‘85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2" name="Rectangle 48_1"/>
          <p:cNvSpPr/>
          <p:nvPr/>
        </p:nvSpPr>
        <p:spPr>
          <a:xfrm>
            <a:off x="3670920" y="395352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3" name="Rectangle 49_1"/>
          <p:cNvSpPr/>
          <p:nvPr/>
        </p:nvSpPr>
        <p:spPr>
          <a:xfrm>
            <a:off x="4500360" y="395352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‘95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4" name="Rectangle 50_1"/>
          <p:cNvSpPr/>
          <p:nvPr/>
        </p:nvSpPr>
        <p:spPr>
          <a:xfrm>
            <a:off x="5219640" y="3953520"/>
            <a:ext cx="6202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2000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5" name="Rectangle 51_1"/>
          <p:cNvSpPr/>
          <p:nvPr/>
        </p:nvSpPr>
        <p:spPr>
          <a:xfrm>
            <a:off x="6159240" y="395352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‘05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6" name="Rectangle 52_1"/>
          <p:cNvSpPr/>
          <p:nvPr/>
        </p:nvSpPr>
        <p:spPr>
          <a:xfrm>
            <a:off x="6982920" y="3953520"/>
            <a:ext cx="4795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57" name="Rectangle 53_1"/>
          <p:cNvSpPr/>
          <p:nvPr/>
        </p:nvSpPr>
        <p:spPr>
          <a:xfrm>
            <a:off x="7818120" y="395352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‘15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8" name="Rectangle 54_1"/>
          <p:cNvSpPr/>
          <p:nvPr/>
        </p:nvSpPr>
        <p:spPr>
          <a:xfrm>
            <a:off x="8647560" y="3953520"/>
            <a:ext cx="4370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‘20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59" name="Rectangle 55_1"/>
          <p:cNvSpPr/>
          <p:nvPr/>
        </p:nvSpPr>
        <p:spPr>
          <a:xfrm>
            <a:off x="1131120" y="3953520"/>
            <a:ext cx="6202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  <a:ea typeface="DejaVu Sans"/>
              </a:rPr>
              <a:t>1975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360" name="Rectangle 56_1"/>
          <p:cNvSpPr/>
          <p:nvPr/>
        </p:nvSpPr>
        <p:spPr>
          <a:xfrm>
            <a:off x="4462200" y="4368240"/>
            <a:ext cx="7192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Year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61" name="Rectangle 57_0"/>
          <p:cNvSpPr/>
          <p:nvPr/>
        </p:nvSpPr>
        <p:spPr>
          <a:xfrm>
            <a:off x="558360" y="861840"/>
            <a:ext cx="11095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25y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62" name="Rectangle 58_0"/>
          <p:cNvSpPr/>
          <p:nvPr/>
        </p:nvSpPr>
        <p:spPr>
          <a:xfrm>
            <a:off x="514440" y="1483920"/>
            <a:ext cx="12517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25y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63" name="Rectangle 59_0"/>
          <p:cNvSpPr/>
          <p:nvPr/>
        </p:nvSpPr>
        <p:spPr>
          <a:xfrm>
            <a:off x="565560" y="2127240"/>
            <a:ext cx="10699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12y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64" name="Rectangle 60_1"/>
          <p:cNvSpPr/>
          <p:nvPr/>
        </p:nvSpPr>
        <p:spPr>
          <a:xfrm>
            <a:off x="514440" y="2740680"/>
            <a:ext cx="121896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12y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65" name="Rectangle 61_1"/>
          <p:cNvSpPr/>
          <p:nvPr/>
        </p:nvSpPr>
        <p:spPr>
          <a:xfrm>
            <a:off x="635400" y="3359880"/>
            <a:ext cx="10000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DF 0y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66" name="Straight Connector 62_1"/>
          <p:cNvSpPr/>
          <p:nvPr/>
        </p:nvSpPr>
        <p:spPr>
          <a:xfrm>
            <a:off x="1430280" y="829440"/>
            <a:ext cx="21240" cy="352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7" name="Rectangle 63_1"/>
          <p:cNvSpPr/>
          <p:nvPr/>
        </p:nvSpPr>
        <p:spPr>
          <a:xfrm>
            <a:off x="1430280" y="3317400"/>
            <a:ext cx="74167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8" name="Rectangle 64_0"/>
          <p:cNvSpPr/>
          <p:nvPr/>
        </p:nvSpPr>
        <p:spPr>
          <a:xfrm>
            <a:off x="8632080" y="33487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69" name="Rectangle 65_0"/>
          <p:cNvSpPr/>
          <p:nvPr/>
        </p:nvSpPr>
        <p:spPr>
          <a:xfrm>
            <a:off x="7125120" y="33487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70" name="Rectangle 67_1"/>
          <p:cNvSpPr/>
          <p:nvPr/>
        </p:nvSpPr>
        <p:spPr>
          <a:xfrm>
            <a:off x="3311280" y="334260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800" b="0" strike="noStrike" spc="-1">
              <a:latin typeface="Arial"/>
            </a:endParaRPr>
          </a:p>
        </p:txBody>
      </p:sp>
      <p:grpSp>
        <p:nvGrpSpPr>
          <p:cNvPr id="371" name="Group 68_1"/>
          <p:cNvGrpSpPr/>
          <p:nvPr/>
        </p:nvGrpSpPr>
        <p:grpSpPr>
          <a:xfrm>
            <a:off x="1428480" y="829440"/>
            <a:ext cx="7616160" cy="2278080"/>
            <a:chOff x="1428480" y="829440"/>
            <a:chExt cx="7616160" cy="2278080"/>
          </a:xfrm>
        </p:grpSpPr>
        <p:sp>
          <p:nvSpPr>
            <p:cNvPr id="372" name="Rectangle 69_0"/>
            <p:cNvSpPr/>
            <p:nvPr/>
          </p:nvSpPr>
          <p:spPr>
            <a:xfrm>
              <a:off x="5531400" y="829440"/>
              <a:ext cx="3304080" cy="412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3" name="Rectangle 70_0"/>
            <p:cNvSpPr/>
            <p:nvPr/>
          </p:nvSpPr>
          <p:spPr>
            <a:xfrm>
              <a:off x="5531760" y="1451160"/>
              <a:ext cx="3303720" cy="412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4" name="Rectangle 71_0"/>
            <p:cNvSpPr/>
            <p:nvPr/>
          </p:nvSpPr>
          <p:spPr>
            <a:xfrm>
              <a:off x="8617320" y="148284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75" name="Rectangle 72_0"/>
            <p:cNvSpPr/>
            <p:nvPr/>
          </p:nvSpPr>
          <p:spPr>
            <a:xfrm>
              <a:off x="8617320" y="860760"/>
              <a:ext cx="427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76" name="Rectangle 73_0"/>
            <p:cNvSpPr/>
            <p:nvPr/>
          </p:nvSpPr>
          <p:spPr>
            <a:xfrm>
              <a:off x="7136640" y="860760"/>
              <a:ext cx="41832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77" name="Rectangle 74_0"/>
            <p:cNvSpPr/>
            <p:nvPr/>
          </p:nvSpPr>
          <p:spPr>
            <a:xfrm>
              <a:off x="7130160" y="1483920"/>
              <a:ext cx="41868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78" name="Rectangle 75_0"/>
            <p:cNvSpPr/>
            <p:nvPr/>
          </p:nvSpPr>
          <p:spPr>
            <a:xfrm>
              <a:off x="1429920" y="829440"/>
              <a:ext cx="4100760" cy="41220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9" name="Rectangle 76_1"/>
            <p:cNvSpPr/>
            <p:nvPr/>
          </p:nvSpPr>
          <p:spPr>
            <a:xfrm>
              <a:off x="1429920" y="2073960"/>
              <a:ext cx="2094120" cy="41184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0" name="Rectangle 77_0"/>
            <p:cNvSpPr/>
            <p:nvPr/>
          </p:nvSpPr>
          <p:spPr>
            <a:xfrm>
              <a:off x="1429920" y="1451880"/>
              <a:ext cx="4100760" cy="41184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1" name="Rectangle 78_1"/>
            <p:cNvSpPr/>
            <p:nvPr/>
          </p:nvSpPr>
          <p:spPr>
            <a:xfrm>
              <a:off x="1428480" y="2695680"/>
              <a:ext cx="2095560" cy="41184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382" name="Group 79_1"/>
          <p:cNvGrpSpPr/>
          <p:nvPr/>
        </p:nvGrpSpPr>
        <p:grpSpPr>
          <a:xfrm>
            <a:off x="3525120" y="2073600"/>
            <a:ext cx="5537520" cy="1033920"/>
            <a:chOff x="3525120" y="2073600"/>
            <a:chExt cx="5537520" cy="1033920"/>
          </a:xfrm>
        </p:grpSpPr>
        <p:sp>
          <p:nvSpPr>
            <p:cNvPr id="383" name="Rectangle 80_1"/>
            <p:cNvSpPr/>
            <p:nvPr/>
          </p:nvSpPr>
          <p:spPr>
            <a:xfrm>
              <a:off x="3525120" y="2073600"/>
              <a:ext cx="5328720" cy="412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4" name="Rectangle 81_1"/>
            <p:cNvSpPr/>
            <p:nvPr/>
          </p:nvSpPr>
          <p:spPr>
            <a:xfrm>
              <a:off x="3525120" y="2695320"/>
              <a:ext cx="5328720" cy="412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5" name="Rectangle 82_0"/>
            <p:cNvSpPr/>
            <p:nvPr/>
          </p:nvSpPr>
          <p:spPr>
            <a:xfrm>
              <a:off x="8635680" y="2728080"/>
              <a:ext cx="42696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33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86" name="Rectangle 83_0"/>
            <p:cNvSpPr/>
            <p:nvPr/>
          </p:nvSpPr>
          <p:spPr>
            <a:xfrm>
              <a:off x="8635680" y="2106360"/>
              <a:ext cx="42696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33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2020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87" name="Rectangle 84_0"/>
            <p:cNvSpPr/>
            <p:nvPr/>
          </p:nvSpPr>
          <p:spPr>
            <a:xfrm>
              <a:off x="7121880" y="2728080"/>
              <a:ext cx="41868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24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88" name="Rectangle 85_0"/>
            <p:cNvSpPr/>
            <p:nvPr/>
          </p:nvSpPr>
          <p:spPr>
            <a:xfrm>
              <a:off x="7127280" y="2104920"/>
              <a:ext cx="41868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24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2011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89" name="Rectangle 86_1"/>
            <p:cNvSpPr/>
            <p:nvPr/>
          </p:nvSpPr>
          <p:spPr>
            <a:xfrm>
              <a:off x="4503240" y="2104920"/>
              <a:ext cx="42696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800" b="0" strike="noStrike" spc="-1">
                <a:latin typeface="Arial"/>
              </a:endParaRPr>
            </a:p>
          </p:txBody>
        </p:sp>
        <p:sp>
          <p:nvSpPr>
            <p:cNvPr id="390" name="Rectangle 87_0"/>
            <p:cNvSpPr/>
            <p:nvPr/>
          </p:nvSpPr>
          <p:spPr>
            <a:xfrm>
              <a:off x="4488480" y="2728080"/>
              <a:ext cx="426960" cy="34812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1995</a:t>
              </a:r>
              <a:endParaRPr lang="en-US" sz="800" b="0" strike="noStrike" spc="-1">
                <a:latin typeface="Arial"/>
              </a:endParaRPr>
            </a:p>
          </p:txBody>
        </p:sp>
      </p:grpSp>
      <p:sp>
        <p:nvSpPr>
          <p:cNvPr id="391" name="Rectangle 88_1"/>
          <p:cNvSpPr/>
          <p:nvPr/>
        </p:nvSpPr>
        <p:spPr>
          <a:xfrm rot="16180800">
            <a:off x="-427680" y="2161080"/>
            <a:ext cx="1272960" cy="33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392" name="Group 89_0"/>
          <p:cNvGrpSpPr/>
          <p:nvPr/>
        </p:nvGrpSpPr>
        <p:grpSpPr>
          <a:xfrm>
            <a:off x="6629400" y="207360"/>
            <a:ext cx="2077200" cy="348120"/>
            <a:chOff x="6629400" y="207360"/>
            <a:chExt cx="2077200" cy="348120"/>
          </a:xfrm>
        </p:grpSpPr>
        <p:sp>
          <p:nvSpPr>
            <p:cNvPr id="393" name="Rectangle 90_1"/>
            <p:cNvSpPr/>
            <p:nvPr/>
          </p:nvSpPr>
          <p:spPr>
            <a:xfrm>
              <a:off x="6815520" y="243720"/>
              <a:ext cx="1891080" cy="3117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394" name="Group 91_1"/>
            <p:cNvGrpSpPr/>
            <p:nvPr/>
          </p:nvGrpSpPr>
          <p:grpSpPr>
            <a:xfrm>
              <a:off x="6629400" y="207360"/>
              <a:ext cx="2055600" cy="348120"/>
              <a:chOff x="6629400" y="207360"/>
              <a:chExt cx="2055600" cy="348120"/>
            </a:xfrm>
          </p:grpSpPr>
          <p:sp>
            <p:nvSpPr>
              <p:cNvPr id="395" name="Rectangle 92_1"/>
              <p:cNvSpPr/>
              <p:nvPr/>
            </p:nvSpPr>
            <p:spPr>
              <a:xfrm>
                <a:off x="6629400" y="207360"/>
                <a:ext cx="632520" cy="34812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DF age</a:t>
                </a:r>
                <a:endParaRPr lang="en-US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Year</a:t>
                </a:r>
                <a:endParaRPr lang="en-US" sz="1000" b="0" strike="noStrike" spc="-1">
                  <a:latin typeface="Arial"/>
                </a:endParaRPr>
              </a:p>
            </p:txBody>
          </p:sp>
          <p:sp>
            <p:nvSpPr>
              <p:cNvPr id="396" name="Rectangle 93_0"/>
              <p:cNvSpPr/>
              <p:nvPr/>
            </p:nvSpPr>
            <p:spPr>
              <a:xfrm>
                <a:off x="7232040" y="243720"/>
                <a:ext cx="1452960" cy="31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Measurement</a:t>
                </a:r>
                <a:endParaRPr lang="en-US" sz="1400" b="0" strike="noStrike" spc="-1">
                  <a:latin typeface="Arial"/>
                </a:endParaRPr>
              </a:p>
            </p:txBody>
          </p:sp>
        </p:grpSp>
      </p:grpSp>
      <p:sp>
        <p:nvSpPr>
          <p:cNvPr id="397" name="TextBox 96_0"/>
          <p:cNvSpPr/>
          <p:nvPr/>
        </p:nvSpPr>
        <p:spPr>
          <a:xfrm>
            <a:off x="3732120" y="565920"/>
            <a:ext cx="2072160" cy="44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8" name="TextBox 97_0"/>
          <p:cNvSpPr/>
          <p:nvPr/>
        </p:nvSpPr>
        <p:spPr>
          <a:xfrm>
            <a:off x="7556400" y="556560"/>
            <a:ext cx="1156320" cy="44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99" name="Group 89_1"/>
          <p:cNvGrpSpPr/>
          <p:nvPr/>
        </p:nvGrpSpPr>
        <p:grpSpPr>
          <a:xfrm>
            <a:off x="1865880" y="243360"/>
            <a:ext cx="1334520" cy="311760"/>
            <a:chOff x="1865880" y="243360"/>
            <a:chExt cx="1334520" cy="311760"/>
          </a:xfrm>
        </p:grpSpPr>
        <p:sp>
          <p:nvSpPr>
            <p:cNvPr id="400" name="Rectangle 93_1"/>
            <p:cNvSpPr/>
            <p:nvPr/>
          </p:nvSpPr>
          <p:spPr>
            <a:xfrm>
              <a:off x="1865880" y="243360"/>
              <a:ext cx="1334520" cy="31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APIARY</a:t>
              </a:r>
              <a:endParaRPr lang="en-US" sz="2400" b="0" strike="noStrike" spc="-1">
                <a:latin typeface="Arial"/>
              </a:endParaRPr>
            </a:p>
          </p:txBody>
        </p:sp>
      </p:grpSp>
      <p:sp>
        <p:nvSpPr>
          <p:cNvPr id="401" name="TextBox 400"/>
          <p:cNvSpPr txBox="1"/>
          <p:nvPr/>
        </p:nvSpPr>
        <p:spPr>
          <a:xfrm>
            <a:off x="741240" y="4354200"/>
            <a:ext cx="1332360" cy="55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LRR survey, clearcut,</a:t>
            </a:r>
            <a:br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plant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02" name="Rectangle 57_2"/>
          <p:cNvSpPr/>
          <p:nvPr/>
        </p:nvSpPr>
        <p:spPr>
          <a:xfrm>
            <a:off x="2536920" y="861840"/>
            <a:ext cx="18482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Hardwood growth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03" name="Rectangle 57_3"/>
          <p:cNvSpPr/>
          <p:nvPr/>
        </p:nvSpPr>
        <p:spPr>
          <a:xfrm>
            <a:off x="2536920" y="1482480"/>
            <a:ext cx="18482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Hardwood growth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04" name="Rectangle 57_4"/>
          <p:cNvSpPr/>
          <p:nvPr/>
        </p:nvSpPr>
        <p:spPr>
          <a:xfrm>
            <a:off x="1720800" y="2102760"/>
            <a:ext cx="18482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Hardwood growth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05" name="Rectangle 57_5"/>
          <p:cNvSpPr/>
          <p:nvPr/>
        </p:nvSpPr>
        <p:spPr>
          <a:xfrm>
            <a:off x="1720800" y="2723040"/>
            <a:ext cx="18482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Hardwood growth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06" name="Straight Connector 62_2"/>
          <p:cNvSpPr/>
          <p:nvPr/>
        </p:nvSpPr>
        <p:spPr>
          <a:xfrm>
            <a:off x="3518640" y="2073600"/>
            <a:ext cx="21240" cy="2280960"/>
          </a:xfrm>
          <a:prstGeom prst="line">
            <a:avLst/>
          </a:prstGeom>
          <a:ln w="0">
            <a:solidFill>
              <a:srgbClr val="3465A4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7" name="Straight Connector 62_3"/>
          <p:cNvSpPr/>
          <p:nvPr/>
        </p:nvSpPr>
        <p:spPr>
          <a:xfrm>
            <a:off x="1430640" y="829800"/>
            <a:ext cx="21240" cy="352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8" name="Straight Connector 62_4"/>
          <p:cNvSpPr/>
          <p:nvPr/>
        </p:nvSpPr>
        <p:spPr>
          <a:xfrm>
            <a:off x="5531760" y="3939840"/>
            <a:ext cx="0" cy="403560"/>
          </a:xfrm>
          <a:prstGeom prst="line">
            <a:avLst/>
          </a:prstGeom>
          <a:ln w="0">
            <a:solidFill>
              <a:srgbClr val="3465A4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9" name="TextBox 408"/>
          <p:cNvSpPr txBox="1"/>
          <p:nvPr/>
        </p:nvSpPr>
        <p:spPr>
          <a:xfrm>
            <a:off x="2865600" y="4354560"/>
            <a:ext cx="1332360" cy="55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12y trts</a:t>
            </a:r>
            <a:br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 clearcut,</a:t>
            </a:r>
            <a:br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plant DF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10" name="TextBox 409"/>
          <p:cNvSpPr txBox="1"/>
          <p:nvPr/>
        </p:nvSpPr>
        <p:spPr>
          <a:xfrm>
            <a:off x="4881960" y="4354920"/>
            <a:ext cx="1332360" cy="55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25y trts</a:t>
            </a:r>
            <a:br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 clearcut,</a:t>
            </a:r>
            <a:br/>
            <a:r>
              <a:rPr lang="en-US" sz="1100" b="0" strike="noStrike" spc="-1">
                <a:solidFill>
                  <a:srgbClr val="000000"/>
                </a:solidFill>
                <a:latin typeface="Arial"/>
                <a:ea typeface="DejaVu Sans"/>
              </a:rPr>
              <a:t>plant DF</a:t>
            </a:r>
            <a:endParaRPr lang="en-US" sz="1100" b="0" strike="noStrike" spc="-1">
              <a:latin typeface="Arial"/>
            </a:endParaRPr>
          </a:p>
        </p:txBody>
      </p:sp>
      <p:grpSp>
        <p:nvGrpSpPr>
          <p:cNvPr id="411" name="Group 89_7"/>
          <p:cNvGrpSpPr/>
          <p:nvPr/>
        </p:nvGrpSpPr>
        <p:grpSpPr>
          <a:xfrm>
            <a:off x="6437880" y="4271400"/>
            <a:ext cx="3163320" cy="914400"/>
            <a:chOff x="6437880" y="4271400"/>
            <a:chExt cx="3163320" cy="914400"/>
          </a:xfrm>
        </p:grpSpPr>
        <p:sp>
          <p:nvSpPr>
            <p:cNvPr id="412" name="Rectangle 93_7"/>
            <p:cNvSpPr/>
            <p:nvPr/>
          </p:nvSpPr>
          <p:spPr>
            <a:xfrm>
              <a:off x="6437880" y="4271400"/>
              <a:ext cx="3163320" cy="91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Small Douglas fir, even* age</a:t>
              </a:r>
              <a:endParaRPr lang="en-US" sz="24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traight Connector 98_1"/>
          <p:cNvSpPr/>
          <p:nvPr/>
        </p:nvSpPr>
        <p:spPr>
          <a:xfrm>
            <a:off x="470232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4" name="Straight Connector 99_0"/>
          <p:cNvSpPr/>
          <p:nvPr/>
        </p:nvSpPr>
        <p:spPr>
          <a:xfrm>
            <a:off x="387288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5" name="Straight Connector 100_0"/>
          <p:cNvSpPr/>
          <p:nvPr/>
        </p:nvSpPr>
        <p:spPr>
          <a:xfrm>
            <a:off x="304344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6" name="Straight Connector 101_0"/>
          <p:cNvSpPr/>
          <p:nvPr/>
        </p:nvSpPr>
        <p:spPr>
          <a:xfrm>
            <a:off x="221400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7" name="Straight Connector 102_0"/>
          <p:cNvSpPr/>
          <p:nvPr/>
        </p:nvSpPr>
        <p:spPr>
          <a:xfrm>
            <a:off x="553140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8" name="Straight Connector 103_0"/>
          <p:cNvSpPr/>
          <p:nvPr/>
        </p:nvSpPr>
        <p:spPr>
          <a:xfrm>
            <a:off x="636084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9" name="Straight Connector 104_0"/>
          <p:cNvSpPr/>
          <p:nvPr/>
        </p:nvSpPr>
        <p:spPr>
          <a:xfrm>
            <a:off x="719028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Straight Connector 105_0"/>
          <p:cNvSpPr/>
          <p:nvPr/>
        </p:nvSpPr>
        <p:spPr>
          <a:xfrm>
            <a:off x="801972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Straight Connector 106_0"/>
          <p:cNvSpPr/>
          <p:nvPr/>
        </p:nvSpPr>
        <p:spPr>
          <a:xfrm>
            <a:off x="884916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Rectangle 107_0"/>
          <p:cNvSpPr/>
          <p:nvPr/>
        </p:nvSpPr>
        <p:spPr>
          <a:xfrm>
            <a:off x="2077200" y="3953520"/>
            <a:ext cx="2761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3" name="Rectangle 108_0"/>
          <p:cNvSpPr/>
          <p:nvPr/>
        </p:nvSpPr>
        <p:spPr>
          <a:xfrm>
            <a:off x="2841480" y="3953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4" name="Rectangle 109_0"/>
          <p:cNvSpPr/>
          <p:nvPr/>
        </p:nvSpPr>
        <p:spPr>
          <a:xfrm>
            <a:off x="3670920" y="3953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5" name="Rectangle 110_0"/>
          <p:cNvSpPr/>
          <p:nvPr/>
        </p:nvSpPr>
        <p:spPr>
          <a:xfrm>
            <a:off x="4500360" y="3953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6" name="Rectangle 111_0"/>
          <p:cNvSpPr/>
          <p:nvPr/>
        </p:nvSpPr>
        <p:spPr>
          <a:xfrm>
            <a:off x="5329800" y="3953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7" name="Rectangle 112_0"/>
          <p:cNvSpPr/>
          <p:nvPr/>
        </p:nvSpPr>
        <p:spPr>
          <a:xfrm>
            <a:off x="6159240" y="3953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8" name="Rectangle 113_0"/>
          <p:cNvSpPr/>
          <p:nvPr/>
        </p:nvSpPr>
        <p:spPr>
          <a:xfrm>
            <a:off x="6982920" y="3953520"/>
            <a:ext cx="41256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9" name="Rectangle 114_0"/>
          <p:cNvSpPr/>
          <p:nvPr/>
        </p:nvSpPr>
        <p:spPr>
          <a:xfrm>
            <a:off x="7818120" y="3953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0" name="Rectangle 115_0"/>
          <p:cNvSpPr/>
          <p:nvPr/>
        </p:nvSpPr>
        <p:spPr>
          <a:xfrm>
            <a:off x="8647560" y="3953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1" name="Rectangle 116_0"/>
          <p:cNvSpPr/>
          <p:nvPr/>
        </p:nvSpPr>
        <p:spPr>
          <a:xfrm>
            <a:off x="1275120" y="3953520"/>
            <a:ext cx="2761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2" name="Rectangle 117_0"/>
          <p:cNvSpPr/>
          <p:nvPr/>
        </p:nvSpPr>
        <p:spPr>
          <a:xfrm>
            <a:off x="3840120" y="4368240"/>
            <a:ext cx="29332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Douglas Fir Stand Age (years)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3" name="Rectangle 118_0"/>
          <p:cNvSpPr/>
          <p:nvPr/>
        </p:nvSpPr>
        <p:spPr>
          <a:xfrm>
            <a:off x="597240" y="8618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4" name="Rectangle 119_0"/>
          <p:cNvSpPr/>
          <p:nvPr/>
        </p:nvSpPr>
        <p:spPr>
          <a:xfrm>
            <a:off x="532080" y="148392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5" name="Rectangle 120_0"/>
          <p:cNvSpPr/>
          <p:nvPr/>
        </p:nvSpPr>
        <p:spPr>
          <a:xfrm>
            <a:off x="597240" y="21272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6" name="Rectangle 121_0"/>
          <p:cNvSpPr/>
          <p:nvPr/>
        </p:nvSpPr>
        <p:spPr>
          <a:xfrm>
            <a:off x="499320" y="274068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7" name="Rectangle 122_0"/>
          <p:cNvSpPr/>
          <p:nvPr/>
        </p:nvSpPr>
        <p:spPr>
          <a:xfrm>
            <a:off x="695520" y="335988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DF 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8" name="Straight Connector 123_0"/>
          <p:cNvSpPr/>
          <p:nvPr/>
        </p:nvSpPr>
        <p:spPr>
          <a:xfrm>
            <a:off x="1430280" y="829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9" name="Rectangle 124_0"/>
          <p:cNvSpPr/>
          <p:nvPr/>
        </p:nvSpPr>
        <p:spPr>
          <a:xfrm>
            <a:off x="1430640" y="829440"/>
            <a:ext cx="331524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0" name="Rectangle 125_0"/>
          <p:cNvSpPr/>
          <p:nvPr/>
        </p:nvSpPr>
        <p:spPr>
          <a:xfrm>
            <a:off x="1430640" y="1451160"/>
            <a:ext cx="331524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1" name="Rectangle 126_0"/>
          <p:cNvSpPr/>
          <p:nvPr/>
        </p:nvSpPr>
        <p:spPr>
          <a:xfrm>
            <a:off x="1430280" y="2073600"/>
            <a:ext cx="54115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2" name="Rectangle 127_0"/>
          <p:cNvSpPr/>
          <p:nvPr/>
        </p:nvSpPr>
        <p:spPr>
          <a:xfrm>
            <a:off x="1430280" y="2695320"/>
            <a:ext cx="54115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3" name="Rectangle 128_0"/>
          <p:cNvSpPr/>
          <p:nvPr/>
        </p:nvSpPr>
        <p:spPr>
          <a:xfrm>
            <a:off x="1430280" y="3317400"/>
            <a:ext cx="74167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4" name="Rectangle 129_0"/>
          <p:cNvSpPr/>
          <p:nvPr/>
        </p:nvSpPr>
        <p:spPr>
          <a:xfrm>
            <a:off x="8632080" y="33487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45" name="Rectangle 130_0"/>
          <p:cNvSpPr/>
          <p:nvPr/>
        </p:nvSpPr>
        <p:spPr>
          <a:xfrm>
            <a:off x="6610680" y="272808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33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46" name="Rectangle 131_0"/>
          <p:cNvSpPr/>
          <p:nvPr/>
        </p:nvSpPr>
        <p:spPr>
          <a:xfrm>
            <a:off x="6610680" y="210636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33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47" name="Rectangle 132_0"/>
          <p:cNvSpPr/>
          <p:nvPr/>
        </p:nvSpPr>
        <p:spPr>
          <a:xfrm>
            <a:off x="4527360" y="148284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48" name="Rectangle 133_0"/>
          <p:cNvSpPr/>
          <p:nvPr/>
        </p:nvSpPr>
        <p:spPr>
          <a:xfrm>
            <a:off x="4527360" y="8611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49" name="Rectangle 134_0"/>
          <p:cNvSpPr/>
          <p:nvPr/>
        </p:nvSpPr>
        <p:spPr>
          <a:xfrm>
            <a:off x="7092360" y="33487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0" name="Rectangle 136_0"/>
          <p:cNvSpPr/>
          <p:nvPr/>
        </p:nvSpPr>
        <p:spPr>
          <a:xfrm>
            <a:off x="2977920" y="334260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1" name="Rectangle 137_0"/>
          <p:cNvSpPr/>
          <p:nvPr/>
        </p:nvSpPr>
        <p:spPr>
          <a:xfrm>
            <a:off x="5227920" y="272808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24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2" name="Rectangle 138_0"/>
          <p:cNvSpPr/>
          <p:nvPr/>
        </p:nvSpPr>
        <p:spPr>
          <a:xfrm>
            <a:off x="5232960" y="21049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24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3" name="Rectangle 139_0"/>
          <p:cNvSpPr/>
          <p:nvPr/>
        </p:nvSpPr>
        <p:spPr>
          <a:xfrm>
            <a:off x="2981160" y="8611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4" name="Rectangle 140_0"/>
          <p:cNvSpPr/>
          <p:nvPr/>
        </p:nvSpPr>
        <p:spPr>
          <a:xfrm>
            <a:off x="2975040" y="14839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5" name="Rectangle 141_0"/>
          <p:cNvSpPr/>
          <p:nvPr/>
        </p:nvSpPr>
        <p:spPr>
          <a:xfrm>
            <a:off x="2608920" y="21049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6" name="Rectangle 142_0"/>
          <p:cNvSpPr/>
          <p:nvPr/>
        </p:nvSpPr>
        <p:spPr>
          <a:xfrm>
            <a:off x="2594160" y="272808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57" name="Rectangle 143_0"/>
          <p:cNvSpPr/>
          <p:nvPr/>
        </p:nvSpPr>
        <p:spPr>
          <a:xfrm rot="16180800">
            <a:off x="-355680" y="2161080"/>
            <a:ext cx="1272960" cy="33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458" name="Group 144_0"/>
          <p:cNvGrpSpPr/>
          <p:nvPr/>
        </p:nvGrpSpPr>
        <p:grpSpPr>
          <a:xfrm>
            <a:off x="6951960" y="271440"/>
            <a:ext cx="1833480" cy="348120"/>
            <a:chOff x="6951960" y="271440"/>
            <a:chExt cx="1833480" cy="348120"/>
          </a:xfrm>
        </p:grpSpPr>
        <p:sp>
          <p:nvSpPr>
            <p:cNvPr id="459" name="Rectangle 145_0"/>
            <p:cNvSpPr/>
            <p:nvPr/>
          </p:nvSpPr>
          <p:spPr>
            <a:xfrm>
              <a:off x="7049880" y="307800"/>
              <a:ext cx="1656720" cy="3117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460" name="Group 146_0"/>
            <p:cNvGrpSpPr/>
            <p:nvPr/>
          </p:nvGrpSpPr>
          <p:grpSpPr>
            <a:xfrm>
              <a:off x="6951960" y="271440"/>
              <a:ext cx="1833480" cy="348120"/>
              <a:chOff x="6951960" y="271440"/>
              <a:chExt cx="1833480" cy="348120"/>
            </a:xfrm>
          </p:grpSpPr>
          <p:sp>
            <p:nvSpPr>
              <p:cNvPr id="461" name="Rectangle 147_0"/>
              <p:cNvSpPr/>
              <p:nvPr/>
            </p:nvSpPr>
            <p:spPr>
              <a:xfrm>
                <a:off x="6951960" y="271440"/>
                <a:ext cx="587520" cy="34812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 DF age</a:t>
                </a:r>
                <a:endParaRPr lang="en-US" sz="8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Year</a:t>
                </a:r>
                <a:endParaRPr lang="en-US" sz="800" b="0" strike="noStrike" spc="-1">
                  <a:latin typeface="Arial"/>
                </a:endParaRPr>
              </a:p>
            </p:txBody>
          </p:sp>
          <p:sp>
            <p:nvSpPr>
              <p:cNvPr id="462" name="Rectangle 148_0"/>
              <p:cNvSpPr/>
              <p:nvPr/>
            </p:nvSpPr>
            <p:spPr>
              <a:xfrm>
                <a:off x="7512480" y="307800"/>
                <a:ext cx="1272960" cy="31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Measurement</a:t>
                </a:r>
                <a:endParaRPr lang="en-US" sz="1400" b="0" strike="noStrike" spc="-1">
                  <a:latin typeface="Arial"/>
                </a:endParaRPr>
              </a:p>
            </p:txBody>
          </p:sp>
        </p:grpSp>
      </p:grpSp>
      <p:grpSp>
        <p:nvGrpSpPr>
          <p:cNvPr id="463" name="Group 89_5"/>
          <p:cNvGrpSpPr/>
          <p:nvPr/>
        </p:nvGrpSpPr>
        <p:grpSpPr>
          <a:xfrm>
            <a:off x="1865880" y="246240"/>
            <a:ext cx="1334520" cy="311760"/>
            <a:chOff x="1865880" y="246240"/>
            <a:chExt cx="1334520" cy="311760"/>
          </a:xfrm>
        </p:grpSpPr>
        <p:sp>
          <p:nvSpPr>
            <p:cNvPr id="464" name="Rectangle 93_5"/>
            <p:cNvSpPr/>
            <p:nvPr/>
          </p:nvSpPr>
          <p:spPr>
            <a:xfrm>
              <a:off x="1865880" y="246240"/>
              <a:ext cx="1334520" cy="31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APIARY</a:t>
              </a:r>
              <a:endParaRPr lang="en-US" sz="24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traight Connector 98_0"/>
          <p:cNvSpPr/>
          <p:nvPr/>
        </p:nvSpPr>
        <p:spPr>
          <a:xfrm>
            <a:off x="470232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6" name="Straight Connector 99_1"/>
          <p:cNvSpPr/>
          <p:nvPr/>
        </p:nvSpPr>
        <p:spPr>
          <a:xfrm>
            <a:off x="387288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7" name="Straight Connector 100_1"/>
          <p:cNvSpPr/>
          <p:nvPr/>
        </p:nvSpPr>
        <p:spPr>
          <a:xfrm>
            <a:off x="304344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8" name="Straight Connector 101_1"/>
          <p:cNvSpPr/>
          <p:nvPr/>
        </p:nvSpPr>
        <p:spPr>
          <a:xfrm>
            <a:off x="221400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9" name="Straight Connector 102_1"/>
          <p:cNvSpPr/>
          <p:nvPr/>
        </p:nvSpPr>
        <p:spPr>
          <a:xfrm>
            <a:off x="553140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0" name="Straight Connector 103_1"/>
          <p:cNvSpPr/>
          <p:nvPr/>
        </p:nvSpPr>
        <p:spPr>
          <a:xfrm>
            <a:off x="636084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Straight Connector 104_1"/>
          <p:cNvSpPr/>
          <p:nvPr/>
        </p:nvSpPr>
        <p:spPr>
          <a:xfrm>
            <a:off x="719028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Straight Connector 105_1"/>
          <p:cNvSpPr/>
          <p:nvPr/>
        </p:nvSpPr>
        <p:spPr>
          <a:xfrm>
            <a:off x="801972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Straight Connector 106_1"/>
          <p:cNvSpPr/>
          <p:nvPr/>
        </p:nvSpPr>
        <p:spPr>
          <a:xfrm>
            <a:off x="884916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4" name="Rectangle 107_1"/>
          <p:cNvSpPr/>
          <p:nvPr/>
        </p:nvSpPr>
        <p:spPr>
          <a:xfrm>
            <a:off x="2077200" y="3989520"/>
            <a:ext cx="2761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5" name="Rectangle 108_1"/>
          <p:cNvSpPr/>
          <p:nvPr/>
        </p:nvSpPr>
        <p:spPr>
          <a:xfrm>
            <a:off x="284148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6" name="Rectangle 109_1"/>
          <p:cNvSpPr/>
          <p:nvPr/>
        </p:nvSpPr>
        <p:spPr>
          <a:xfrm>
            <a:off x="367092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7" name="Rectangle 110_1"/>
          <p:cNvSpPr/>
          <p:nvPr/>
        </p:nvSpPr>
        <p:spPr>
          <a:xfrm>
            <a:off x="450036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8" name="Rectangle 111_1"/>
          <p:cNvSpPr/>
          <p:nvPr/>
        </p:nvSpPr>
        <p:spPr>
          <a:xfrm>
            <a:off x="532980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9" name="Rectangle 112_1"/>
          <p:cNvSpPr/>
          <p:nvPr/>
        </p:nvSpPr>
        <p:spPr>
          <a:xfrm>
            <a:off x="615924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80" name="Rectangle 113_1"/>
          <p:cNvSpPr/>
          <p:nvPr/>
        </p:nvSpPr>
        <p:spPr>
          <a:xfrm>
            <a:off x="6982920" y="3989520"/>
            <a:ext cx="41256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81" name="Rectangle 114_1"/>
          <p:cNvSpPr/>
          <p:nvPr/>
        </p:nvSpPr>
        <p:spPr>
          <a:xfrm>
            <a:off x="781812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82" name="Rectangle 115_1"/>
          <p:cNvSpPr/>
          <p:nvPr/>
        </p:nvSpPr>
        <p:spPr>
          <a:xfrm>
            <a:off x="864756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83" name="Rectangle 116_1"/>
          <p:cNvSpPr/>
          <p:nvPr/>
        </p:nvSpPr>
        <p:spPr>
          <a:xfrm>
            <a:off x="1275120" y="3989520"/>
            <a:ext cx="2761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84" name="Rectangle 117_1"/>
          <p:cNvSpPr/>
          <p:nvPr/>
        </p:nvSpPr>
        <p:spPr>
          <a:xfrm>
            <a:off x="3840120" y="4692240"/>
            <a:ext cx="7318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Age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5" name="Rectangle 118_1"/>
          <p:cNvSpPr/>
          <p:nvPr/>
        </p:nvSpPr>
        <p:spPr>
          <a:xfrm>
            <a:off x="597240" y="8978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6" name="Rectangle 119_1"/>
          <p:cNvSpPr/>
          <p:nvPr/>
        </p:nvSpPr>
        <p:spPr>
          <a:xfrm>
            <a:off x="532080" y="151992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7" name="Rectangle 120_1"/>
          <p:cNvSpPr/>
          <p:nvPr/>
        </p:nvSpPr>
        <p:spPr>
          <a:xfrm>
            <a:off x="597240" y="21632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8" name="Rectangle 121_1"/>
          <p:cNvSpPr/>
          <p:nvPr/>
        </p:nvSpPr>
        <p:spPr>
          <a:xfrm>
            <a:off x="499320" y="277668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9" name="Rectangle 122_1"/>
          <p:cNvSpPr/>
          <p:nvPr/>
        </p:nvSpPr>
        <p:spPr>
          <a:xfrm>
            <a:off x="695520" y="339588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DF 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90" name="Straight Connector 123_1"/>
          <p:cNvSpPr/>
          <p:nvPr/>
        </p:nvSpPr>
        <p:spPr>
          <a:xfrm>
            <a:off x="143028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1" name="Rectangle 124_1"/>
          <p:cNvSpPr/>
          <p:nvPr/>
        </p:nvSpPr>
        <p:spPr>
          <a:xfrm>
            <a:off x="1430640" y="865440"/>
            <a:ext cx="331524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Rectangle 125_1"/>
          <p:cNvSpPr/>
          <p:nvPr/>
        </p:nvSpPr>
        <p:spPr>
          <a:xfrm>
            <a:off x="1430640" y="1487160"/>
            <a:ext cx="331524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Rectangle 126_1"/>
          <p:cNvSpPr/>
          <p:nvPr/>
        </p:nvSpPr>
        <p:spPr>
          <a:xfrm>
            <a:off x="1430280" y="2109600"/>
            <a:ext cx="54115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Rectangle 127_1"/>
          <p:cNvSpPr/>
          <p:nvPr/>
        </p:nvSpPr>
        <p:spPr>
          <a:xfrm>
            <a:off x="1430280" y="2731320"/>
            <a:ext cx="54115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5" name="Rectangle 128_1"/>
          <p:cNvSpPr/>
          <p:nvPr/>
        </p:nvSpPr>
        <p:spPr>
          <a:xfrm>
            <a:off x="1430280" y="3353400"/>
            <a:ext cx="74167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6" name="Rectangle 129_1"/>
          <p:cNvSpPr/>
          <p:nvPr/>
        </p:nvSpPr>
        <p:spPr>
          <a:xfrm>
            <a:off x="8632080" y="33847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97" name="Rectangle 130_1"/>
          <p:cNvSpPr/>
          <p:nvPr/>
        </p:nvSpPr>
        <p:spPr>
          <a:xfrm>
            <a:off x="6610680" y="276408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33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98" name="Rectangle 131_1"/>
          <p:cNvSpPr/>
          <p:nvPr/>
        </p:nvSpPr>
        <p:spPr>
          <a:xfrm>
            <a:off x="6610680" y="214236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33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499" name="Rectangle 132_1"/>
          <p:cNvSpPr/>
          <p:nvPr/>
        </p:nvSpPr>
        <p:spPr>
          <a:xfrm>
            <a:off x="4527360" y="151884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0" name="Rectangle 133_1"/>
          <p:cNvSpPr/>
          <p:nvPr/>
        </p:nvSpPr>
        <p:spPr>
          <a:xfrm>
            <a:off x="4527360" y="8971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1" name="Rectangle 134_1"/>
          <p:cNvSpPr/>
          <p:nvPr/>
        </p:nvSpPr>
        <p:spPr>
          <a:xfrm>
            <a:off x="7092360" y="33847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2" name="Rectangle 136_1"/>
          <p:cNvSpPr/>
          <p:nvPr/>
        </p:nvSpPr>
        <p:spPr>
          <a:xfrm>
            <a:off x="2977920" y="337860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3" name="Rectangle 137_1"/>
          <p:cNvSpPr/>
          <p:nvPr/>
        </p:nvSpPr>
        <p:spPr>
          <a:xfrm>
            <a:off x="5227920" y="276408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24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4" name="Rectangle 138_1"/>
          <p:cNvSpPr/>
          <p:nvPr/>
        </p:nvSpPr>
        <p:spPr>
          <a:xfrm>
            <a:off x="5232960" y="21409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24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5" name="Rectangle 139_1"/>
          <p:cNvSpPr/>
          <p:nvPr/>
        </p:nvSpPr>
        <p:spPr>
          <a:xfrm>
            <a:off x="2981160" y="8971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6" name="Rectangle 140_1"/>
          <p:cNvSpPr/>
          <p:nvPr/>
        </p:nvSpPr>
        <p:spPr>
          <a:xfrm>
            <a:off x="2975040" y="15199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7" name="Rectangle 141_1"/>
          <p:cNvSpPr/>
          <p:nvPr/>
        </p:nvSpPr>
        <p:spPr>
          <a:xfrm>
            <a:off x="2608920" y="21409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8" name="Rectangle 142_1"/>
          <p:cNvSpPr/>
          <p:nvPr/>
        </p:nvSpPr>
        <p:spPr>
          <a:xfrm>
            <a:off x="2594160" y="276408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509" name="Rectangle 143_1"/>
          <p:cNvSpPr/>
          <p:nvPr/>
        </p:nvSpPr>
        <p:spPr>
          <a:xfrm rot="16180800">
            <a:off x="-355680" y="2197080"/>
            <a:ext cx="1272960" cy="33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10" name="Straight Connector 509"/>
          <p:cNvSpPr/>
          <p:nvPr/>
        </p:nvSpPr>
        <p:spPr>
          <a:xfrm>
            <a:off x="3200400" y="3765600"/>
            <a:ext cx="0" cy="57780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1" name="Straight Connector 510"/>
          <p:cNvSpPr/>
          <p:nvPr/>
        </p:nvSpPr>
        <p:spPr>
          <a:xfrm>
            <a:off x="7315200" y="3732840"/>
            <a:ext cx="0" cy="61056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2" name="Straight Connector 511"/>
          <p:cNvSpPr/>
          <p:nvPr/>
        </p:nvSpPr>
        <p:spPr>
          <a:xfrm>
            <a:off x="2743200" y="3200400"/>
            <a:ext cx="457200" cy="114300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Straight Connector 512"/>
          <p:cNvSpPr/>
          <p:nvPr/>
        </p:nvSpPr>
        <p:spPr>
          <a:xfrm>
            <a:off x="6858000" y="3200400"/>
            <a:ext cx="457200" cy="114300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Straight Connector 513"/>
          <p:cNvSpPr/>
          <p:nvPr/>
        </p:nvSpPr>
        <p:spPr>
          <a:xfrm>
            <a:off x="7423200" y="3733200"/>
            <a:ext cx="0" cy="577800"/>
          </a:xfrm>
          <a:prstGeom prst="line">
            <a:avLst/>
          </a:prstGeom>
          <a:ln w="36720">
            <a:solidFill>
              <a:srgbClr val="FF3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Straight Connector 514"/>
          <p:cNvSpPr/>
          <p:nvPr/>
        </p:nvSpPr>
        <p:spPr>
          <a:xfrm>
            <a:off x="8935200" y="3733560"/>
            <a:ext cx="0" cy="577800"/>
          </a:xfrm>
          <a:prstGeom prst="line">
            <a:avLst/>
          </a:prstGeom>
          <a:ln w="36720">
            <a:solidFill>
              <a:srgbClr val="FF3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6" name="Straight Connector 515"/>
          <p:cNvSpPr/>
          <p:nvPr/>
        </p:nvSpPr>
        <p:spPr>
          <a:xfrm>
            <a:off x="3200400" y="685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7" name="Straight Connector 516"/>
          <p:cNvSpPr/>
          <p:nvPr/>
        </p:nvSpPr>
        <p:spPr>
          <a:xfrm>
            <a:off x="4748400" y="685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8" name="Straight Connector 517"/>
          <p:cNvSpPr/>
          <p:nvPr/>
        </p:nvSpPr>
        <p:spPr>
          <a:xfrm>
            <a:off x="4748400" y="685800"/>
            <a:ext cx="738000" cy="13716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9" name="Straight Connector 518"/>
          <p:cNvSpPr/>
          <p:nvPr/>
        </p:nvSpPr>
        <p:spPr>
          <a:xfrm flipH="1">
            <a:off x="2815200" y="685800"/>
            <a:ext cx="385200" cy="13716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0" name="Rectangle 118_2"/>
          <p:cNvSpPr/>
          <p:nvPr/>
        </p:nvSpPr>
        <p:spPr>
          <a:xfrm>
            <a:off x="3573000" y="3740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43C330"/>
                </a:solidFill>
                <a:latin typeface="Arial"/>
                <a:ea typeface="DejaVu Sans"/>
              </a:rPr>
              <a:t>EARLY</a:t>
            </a:r>
            <a:endParaRPr lang="en-US" sz="1600" b="0" strike="noStrike" spc="-1">
              <a:solidFill>
                <a:srgbClr val="43C330"/>
              </a:solidFill>
              <a:latin typeface="Arial"/>
            </a:endParaRPr>
          </a:p>
        </p:txBody>
      </p:sp>
      <p:sp>
        <p:nvSpPr>
          <p:cNvPr id="521" name="TextBox 520"/>
          <p:cNvSpPr txBox="1"/>
          <p:nvPr/>
        </p:nvSpPr>
        <p:spPr>
          <a:xfrm>
            <a:off x="4500000" y="4376160"/>
            <a:ext cx="9864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600" b="0" strike="noStrike" spc="-1">
                <a:solidFill>
                  <a:srgbClr val="FFDB00"/>
                </a:solidFill>
                <a:latin typeface="Arial"/>
                <a:ea typeface="DejaVu Sans"/>
              </a:rPr>
              <a:t>MIDDLE</a:t>
            </a:r>
            <a:endParaRPr lang="en-US" sz="1600" b="0" strike="noStrike" spc="-1">
              <a:solidFill>
                <a:srgbClr val="FFDB00"/>
              </a:solidFill>
              <a:latin typeface="Arial"/>
            </a:endParaRPr>
          </a:p>
        </p:txBody>
      </p:sp>
      <p:sp>
        <p:nvSpPr>
          <p:cNvPr id="522" name="TextBox 521"/>
          <p:cNvSpPr txBox="1"/>
          <p:nvPr/>
        </p:nvSpPr>
        <p:spPr>
          <a:xfrm>
            <a:off x="7929000" y="4343400"/>
            <a:ext cx="9864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600" b="0" strike="noStrike" spc="-1">
                <a:solidFill>
                  <a:srgbClr val="FF3838"/>
                </a:solidFill>
                <a:latin typeface="Arial"/>
                <a:ea typeface="DejaVu Sans"/>
              </a:rPr>
              <a:t>LATE</a:t>
            </a:r>
            <a:endParaRPr lang="en-US" sz="1600" b="0" strike="noStrike" spc="-1">
              <a:solidFill>
                <a:srgbClr val="FF3838"/>
              </a:solidFill>
              <a:latin typeface="Arial"/>
            </a:endParaRPr>
          </a:p>
        </p:txBody>
      </p:sp>
      <p:sp>
        <p:nvSpPr>
          <p:cNvPr id="523" name="Straight Connector 522"/>
          <p:cNvSpPr/>
          <p:nvPr/>
        </p:nvSpPr>
        <p:spPr>
          <a:xfrm>
            <a:off x="3200400" y="1297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4" name="Straight Connector 523"/>
          <p:cNvSpPr/>
          <p:nvPr/>
        </p:nvSpPr>
        <p:spPr>
          <a:xfrm>
            <a:off x="4748400" y="1261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5" name="Straight Connector 524"/>
          <p:cNvSpPr/>
          <p:nvPr/>
        </p:nvSpPr>
        <p:spPr>
          <a:xfrm>
            <a:off x="2840400" y="2521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6" name="Straight Connector 525"/>
          <p:cNvSpPr/>
          <p:nvPr/>
        </p:nvSpPr>
        <p:spPr>
          <a:xfrm>
            <a:off x="5468400" y="2521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Straight Connector 526"/>
          <p:cNvSpPr/>
          <p:nvPr/>
        </p:nvSpPr>
        <p:spPr>
          <a:xfrm>
            <a:off x="2743200" y="2521800"/>
            <a:ext cx="0" cy="20952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8" name="Straight Connector 527"/>
          <p:cNvSpPr/>
          <p:nvPr/>
        </p:nvSpPr>
        <p:spPr>
          <a:xfrm>
            <a:off x="6847200" y="2521800"/>
            <a:ext cx="0" cy="20952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9" name="Straight Connector 528"/>
          <p:cNvSpPr/>
          <p:nvPr/>
        </p:nvSpPr>
        <p:spPr>
          <a:xfrm flipH="1">
            <a:off x="3200400" y="4343400"/>
            <a:ext cx="1143000" cy="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0" name="Straight Connector 529"/>
          <p:cNvSpPr/>
          <p:nvPr/>
        </p:nvSpPr>
        <p:spPr>
          <a:xfrm flipH="1">
            <a:off x="4343400" y="4343400"/>
            <a:ext cx="2971800" cy="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1" name="Straight Connector 530"/>
          <p:cNvSpPr/>
          <p:nvPr/>
        </p:nvSpPr>
        <p:spPr>
          <a:xfrm flipH="1">
            <a:off x="7423200" y="4301280"/>
            <a:ext cx="1512000" cy="10080"/>
          </a:xfrm>
          <a:prstGeom prst="line">
            <a:avLst/>
          </a:prstGeom>
          <a:ln w="36720">
            <a:solidFill>
              <a:srgbClr val="FF3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2" name="Straight Connector 531"/>
          <p:cNvSpPr/>
          <p:nvPr/>
        </p:nvSpPr>
        <p:spPr>
          <a:xfrm>
            <a:off x="3200400" y="685800"/>
            <a:ext cx="1548000" cy="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33" name="Group 89_4"/>
          <p:cNvGrpSpPr/>
          <p:nvPr/>
        </p:nvGrpSpPr>
        <p:grpSpPr>
          <a:xfrm>
            <a:off x="1865880" y="265320"/>
            <a:ext cx="1334520" cy="311760"/>
            <a:chOff x="1865880" y="265320"/>
            <a:chExt cx="1334520" cy="311760"/>
          </a:xfrm>
        </p:grpSpPr>
        <p:sp>
          <p:nvSpPr>
            <p:cNvPr id="534" name="Rectangle 93_4"/>
            <p:cNvSpPr/>
            <p:nvPr/>
          </p:nvSpPr>
          <p:spPr>
            <a:xfrm>
              <a:off x="1865880" y="265320"/>
              <a:ext cx="1334520" cy="31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APIARY</a:t>
              </a:r>
              <a:endParaRPr lang="en-US" sz="2400" b="0" strike="noStrike" spc="-1">
                <a:latin typeface="Arial"/>
              </a:endParaRPr>
            </a:p>
          </p:txBody>
        </p:sp>
      </p:grpSp>
      <p:grpSp>
        <p:nvGrpSpPr>
          <p:cNvPr id="535" name="Group 534"/>
          <p:cNvGrpSpPr/>
          <p:nvPr/>
        </p:nvGrpSpPr>
        <p:grpSpPr>
          <a:xfrm>
            <a:off x="6172200" y="112320"/>
            <a:ext cx="2351880" cy="1997280"/>
            <a:chOff x="6172200" y="112320"/>
            <a:chExt cx="2351880" cy="1997280"/>
          </a:xfrm>
        </p:grpSpPr>
        <p:pic>
          <p:nvPicPr>
            <p:cNvPr id="536" name="Picture 535"/>
            <p:cNvPicPr/>
            <p:nvPr/>
          </p:nvPicPr>
          <p:blipFill>
            <a:blip r:embed="rId2"/>
            <a:stretch/>
          </p:blipFill>
          <p:spPr>
            <a:xfrm>
              <a:off x="6172200" y="137160"/>
              <a:ext cx="2351880" cy="1972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37" name="Straight Connector 536"/>
            <p:cNvSpPr/>
            <p:nvPr/>
          </p:nvSpPr>
          <p:spPr>
            <a:xfrm flipV="1">
              <a:off x="7030440" y="613440"/>
              <a:ext cx="362880" cy="324720"/>
            </a:xfrm>
            <a:prstGeom prst="line">
              <a:avLst/>
            </a:prstGeom>
            <a:ln w="18360">
              <a:solidFill>
                <a:srgbClr val="FC5C00"/>
              </a:solidFill>
              <a:prstDash val="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8" name="Straight Connector 537"/>
            <p:cNvSpPr/>
            <p:nvPr/>
          </p:nvSpPr>
          <p:spPr>
            <a:xfrm flipV="1">
              <a:off x="6750000" y="1012320"/>
              <a:ext cx="181440" cy="445680"/>
            </a:xfrm>
            <a:prstGeom prst="line">
              <a:avLst/>
            </a:prstGeom>
            <a:ln w="18360">
              <a:solidFill>
                <a:srgbClr val="FC5C00"/>
              </a:solidFill>
              <a:prstDash val="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9" name="Rectangle 538"/>
            <p:cNvSpPr/>
            <p:nvPr/>
          </p:nvSpPr>
          <p:spPr>
            <a:xfrm rot="18982200">
              <a:off x="6971760" y="547920"/>
              <a:ext cx="470160" cy="16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9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ΔBA</a:t>
              </a:r>
              <a:r>
                <a:rPr lang="en" sz="9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2</a:t>
              </a:r>
              <a:endParaRPr lang="en-US" sz="900" b="0" strike="noStrike" spc="-1">
                <a:latin typeface="Arial"/>
              </a:endParaRPr>
            </a:p>
          </p:txBody>
        </p:sp>
        <p:sp>
          <p:nvSpPr>
            <p:cNvPr id="540" name="Rectangle 539"/>
            <p:cNvSpPr/>
            <p:nvPr/>
          </p:nvSpPr>
          <p:spPr>
            <a:xfrm rot="17616000">
              <a:off x="6609240" y="954000"/>
              <a:ext cx="470160" cy="16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9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ΔBA</a:t>
              </a:r>
              <a:r>
                <a:rPr lang="en" sz="9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1</a:t>
              </a:r>
              <a:endParaRPr lang="en-US" sz="900" b="0" strike="noStrike" spc="-1">
                <a:latin typeface="Arial"/>
              </a:endParaRPr>
            </a:p>
          </p:txBody>
        </p:sp>
        <p:sp>
          <p:nvSpPr>
            <p:cNvPr id="541" name="Straight Connector 540"/>
            <p:cNvSpPr/>
            <p:nvPr/>
          </p:nvSpPr>
          <p:spPr>
            <a:xfrm flipV="1">
              <a:off x="6750000" y="252720"/>
              <a:ext cx="36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2" name="Straight Connector 541"/>
            <p:cNvSpPr/>
            <p:nvPr/>
          </p:nvSpPr>
          <p:spPr>
            <a:xfrm flipV="1">
              <a:off x="6922800" y="252720"/>
              <a:ext cx="36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3" name="Straight Connector 542"/>
            <p:cNvSpPr/>
            <p:nvPr/>
          </p:nvSpPr>
          <p:spPr>
            <a:xfrm flipV="1">
              <a:off x="7021800" y="252720"/>
              <a:ext cx="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4" name="Straight Connector 543"/>
            <p:cNvSpPr/>
            <p:nvPr/>
          </p:nvSpPr>
          <p:spPr>
            <a:xfrm flipV="1">
              <a:off x="7392240" y="252720"/>
              <a:ext cx="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5" name="Rectangle 544"/>
            <p:cNvSpPr/>
            <p:nvPr/>
          </p:nvSpPr>
          <p:spPr>
            <a:xfrm>
              <a:off x="6741360" y="120600"/>
              <a:ext cx="280080" cy="18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3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t</a:t>
              </a:r>
              <a:r>
                <a:rPr lang="en" sz="13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1</a:t>
              </a:r>
              <a:endParaRPr lang="en-US" sz="1300" b="0" strike="noStrike" spc="-1">
                <a:latin typeface="Arial"/>
              </a:endParaRPr>
            </a:p>
          </p:txBody>
        </p:sp>
        <p:sp>
          <p:nvSpPr>
            <p:cNvPr id="546" name="Rectangle 545"/>
            <p:cNvSpPr/>
            <p:nvPr/>
          </p:nvSpPr>
          <p:spPr>
            <a:xfrm>
              <a:off x="7111800" y="112320"/>
              <a:ext cx="280080" cy="18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3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t</a:t>
              </a:r>
              <a:r>
                <a:rPr lang="en" sz="13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2</a:t>
              </a:r>
              <a:endParaRPr lang="en-US" sz="1300" b="0" strike="noStrike" spc="-1">
                <a:latin typeface="Arial"/>
              </a:endParaRPr>
            </a:p>
          </p:txBody>
        </p:sp>
      </p:grpSp>
      <p:grpSp>
        <p:nvGrpSpPr>
          <p:cNvPr id="547" name="Group 89_8"/>
          <p:cNvGrpSpPr/>
          <p:nvPr/>
        </p:nvGrpSpPr>
        <p:grpSpPr>
          <a:xfrm>
            <a:off x="5511600" y="4559400"/>
            <a:ext cx="3657600" cy="584280"/>
            <a:chOff x="5511600" y="4559400"/>
            <a:chExt cx="3657600" cy="584280"/>
          </a:xfrm>
        </p:grpSpPr>
        <p:sp>
          <p:nvSpPr>
            <p:cNvPr id="548" name="Rectangle 93_8"/>
            <p:cNvSpPr/>
            <p:nvPr/>
          </p:nvSpPr>
          <p:spPr>
            <a:xfrm>
              <a:off x="5511600" y="4559400"/>
              <a:ext cx="3657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Age-matching treatments</a:t>
              </a:r>
              <a:endParaRPr lang="en-US" sz="24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138;p20_1"/>
          <p:cNvSpPr/>
          <p:nvPr/>
        </p:nvSpPr>
        <p:spPr>
          <a:xfrm>
            <a:off x="567000" y="231480"/>
            <a:ext cx="6399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Results : Thinning </a:t>
            </a:r>
            <a:r>
              <a:rPr lang="en" sz="3600" b="0" strike="noStrike" spc="-1">
                <a:solidFill>
                  <a:srgbClr val="000000"/>
                </a:solidFill>
                <a:latin typeface="Nachlieli CLM"/>
                <a:ea typeface="Nachlieli CLM"/>
              </a:rPr>
              <a:t>→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Mortality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50" name="Google Shape;143;p20_2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551" name="Table 550"/>
          <p:cNvGraphicFramePr/>
          <p:nvPr/>
        </p:nvGraphicFramePr>
        <p:xfrm>
          <a:off x="588600" y="1859400"/>
          <a:ext cx="3384360" cy="1737360"/>
        </p:xfrm>
        <a:graphic>
          <a:graphicData uri="http://schemas.openxmlformats.org/drawingml/2006/table">
            <a:tbl>
              <a:tblPr/>
              <a:tblGrid>
                <a:gridCol w="126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28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Treatment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Net Dead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Total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%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Unthinned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92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361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25.4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Light Thin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72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195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36.9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000"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Thin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60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172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>
                          <a:latin typeface="Arial"/>
                        </a:rPr>
                        <a:t>34.8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2" name="TextBox 551"/>
          <p:cNvSpPr txBox="1"/>
          <p:nvPr/>
        </p:nvSpPr>
        <p:spPr>
          <a:xfrm>
            <a:off x="457200" y="1155600"/>
            <a:ext cx="4800600" cy="61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Long term mortality:</a:t>
            </a:r>
            <a:endParaRPr lang="en-US" sz="1850" b="0" strike="noStrike" spc="-1">
              <a:latin typeface="Arial"/>
            </a:endParaRPr>
          </a:p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(LRR Dead 2020 – LRR Dead 1990)/ Total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685800" y="3728880"/>
            <a:ext cx="1591920" cy="61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F</a:t>
            </a:r>
            <a:r>
              <a:rPr lang="en" sz="1850" b="0" strike="noStrike" spc="-1" baseline="-8000">
                <a:solidFill>
                  <a:srgbClr val="000000"/>
                </a:solidFill>
                <a:latin typeface="Arial"/>
                <a:ea typeface="Arial"/>
              </a:rPr>
              <a:t>2,12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=0.484</a:t>
            </a:r>
            <a:endParaRPr lang="en-US" sz="1850" b="0" strike="noStrike" spc="-1">
              <a:latin typeface="Arial"/>
            </a:endParaRPr>
          </a:p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p=0.629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5029200" y="2357280"/>
            <a:ext cx="3429000" cy="140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PLOT over time? </a:t>
            </a:r>
            <a:endParaRPr lang="en-US" sz="1850" b="0" strike="noStrike" spc="-1">
              <a:latin typeface="Arial"/>
            </a:endParaRPr>
          </a:p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stand mean +/- SE?</a:t>
            </a:r>
            <a:endParaRPr lang="en-US" sz="1850" b="0" strike="noStrike" spc="-1">
              <a:latin typeface="Arial"/>
            </a:endParaRPr>
          </a:p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Mortalitiy is sparse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138;p20_5"/>
          <p:cNvSpPr/>
          <p:nvPr/>
        </p:nvSpPr>
        <p:spPr>
          <a:xfrm>
            <a:off x="567000" y="231480"/>
            <a:ext cx="6399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Results : Thinning </a:t>
            </a:r>
            <a:r>
              <a:rPr lang="en" sz="3600" b="0" strike="noStrike" spc="-1">
                <a:solidFill>
                  <a:srgbClr val="000000"/>
                </a:solidFill>
                <a:latin typeface="Nachlieli CLM"/>
                <a:ea typeface="Nachlieli CLM"/>
              </a:rPr>
              <a:t>→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Growth and FVS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56" name="Google Shape;143;p20_6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57" name="Picture 556"/>
          <p:cNvPicPr/>
          <p:nvPr/>
        </p:nvPicPr>
        <p:blipFill>
          <a:blip r:embed="rId2"/>
          <a:srcRect r="21000"/>
          <a:stretch/>
        </p:blipFill>
        <p:spPr>
          <a:xfrm>
            <a:off x="3090240" y="927000"/>
            <a:ext cx="3276360" cy="3809520"/>
          </a:xfrm>
          <a:prstGeom prst="rect">
            <a:avLst/>
          </a:prstGeom>
          <a:ln w="0">
            <a:noFill/>
          </a:ln>
        </p:spPr>
      </p:pic>
      <p:pic>
        <p:nvPicPr>
          <p:cNvPr id="558" name="Picture 557"/>
          <p:cNvPicPr/>
          <p:nvPr/>
        </p:nvPicPr>
        <p:blipFill>
          <a:blip r:embed="rId3"/>
          <a:srcRect r="21997"/>
          <a:stretch/>
        </p:blipFill>
        <p:spPr>
          <a:xfrm>
            <a:off x="6121800" y="927000"/>
            <a:ext cx="3022200" cy="3809520"/>
          </a:xfrm>
          <a:prstGeom prst="rect">
            <a:avLst/>
          </a:prstGeom>
          <a:ln w="0">
            <a:noFill/>
          </a:ln>
        </p:spPr>
      </p:pic>
      <p:pic>
        <p:nvPicPr>
          <p:cNvPr id="559" name="Picture 558"/>
          <p:cNvPicPr/>
          <p:nvPr/>
        </p:nvPicPr>
        <p:blipFill>
          <a:blip r:embed="rId4"/>
          <a:srcRect r="21997"/>
          <a:stretch/>
        </p:blipFill>
        <p:spPr>
          <a:xfrm>
            <a:off x="360" y="917280"/>
            <a:ext cx="3200040" cy="3809520"/>
          </a:xfrm>
          <a:prstGeom prst="rect">
            <a:avLst/>
          </a:prstGeom>
          <a:ln w="0">
            <a:noFill/>
          </a:ln>
        </p:spPr>
      </p:pic>
      <p:sp>
        <p:nvSpPr>
          <p:cNvPr id="560" name="Rectangle 559"/>
          <p:cNvSpPr/>
          <p:nvPr/>
        </p:nvSpPr>
        <p:spPr>
          <a:xfrm>
            <a:off x="336600" y="986400"/>
            <a:ext cx="4572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Rectangle 560"/>
          <p:cNvSpPr/>
          <p:nvPr/>
        </p:nvSpPr>
        <p:spPr>
          <a:xfrm>
            <a:off x="3441600" y="950400"/>
            <a:ext cx="4572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Rectangle 561"/>
          <p:cNvSpPr/>
          <p:nvPr/>
        </p:nvSpPr>
        <p:spPr>
          <a:xfrm>
            <a:off x="6438600" y="986400"/>
            <a:ext cx="4572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TextBox 562"/>
          <p:cNvSpPr txBox="1"/>
          <p:nvPr/>
        </p:nvSpPr>
        <p:spPr>
          <a:xfrm>
            <a:off x="457200" y="1143000"/>
            <a:ext cx="13716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Unthinned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564" name="TextBox 563"/>
          <p:cNvSpPr txBox="1"/>
          <p:nvPr/>
        </p:nvSpPr>
        <p:spPr>
          <a:xfrm>
            <a:off x="3657600" y="1143000"/>
            <a:ext cx="13716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Light thin</a:t>
            </a:r>
            <a:endParaRPr lang="en-US" sz="1850" b="0" strike="noStrike" spc="-1">
              <a:latin typeface="Arial"/>
            </a:endParaRPr>
          </a:p>
        </p:txBody>
      </p:sp>
      <p:sp>
        <p:nvSpPr>
          <p:cNvPr id="565" name="TextBox 564"/>
          <p:cNvSpPr txBox="1"/>
          <p:nvPr/>
        </p:nvSpPr>
        <p:spPr>
          <a:xfrm>
            <a:off x="6593400" y="1143000"/>
            <a:ext cx="13716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Thin</a:t>
            </a:r>
            <a:endParaRPr lang="en-US" sz="1850" b="0" strike="noStrike" spc="-1">
              <a:latin typeface="Arial"/>
            </a:endParaRPr>
          </a:p>
        </p:txBody>
      </p:sp>
      <p:pic>
        <p:nvPicPr>
          <p:cNvPr id="566" name="Picture 565"/>
          <p:cNvPicPr/>
          <p:nvPr/>
        </p:nvPicPr>
        <p:blipFill>
          <a:blip r:embed="rId4"/>
          <a:srcRect l="77994" t="39989" b="42001"/>
          <a:stretch/>
        </p:blipFill>
        <p:spPr>
          <a:xfrm>
            <a:off x="7239240" y="241560"/>
            <a:ext cx="1676160" cy="685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138;p20_2"/>
          <p:cNvSpPr/>
          <p:nvPr/>
        </p:nvSpPr>
        <p:spPr>
          <a:xfrm>
            <a:off x="567000" y="231480"/>
            <a:ext cx="857700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Woods Creek Results : THM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Google Shape;143;p20_3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9" name="TextBox 568"/>
          <p:cNvSpPr txBox="1"/>
          <p:nvPr/>
        </p:nvSpPr>
        <p:spPr>
          <a:xfrm>
            <a:off x="914400" y="1600200"/>
            <a:ext cx="7315200" cy="166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No observed effect of thinning on long-term rate of mortality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As yet unknown effect of thinning on basal area increments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FVS Western Root Disease Model very accurately predicts stand level basal area over the course of the experiment.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138;p20_3"/>
          <p:cNvSpPr/>
          <p:nvPr/>
        </p:nvSpPr>
        <p:spPr>
          <a:xfrm>
            <a:off x="567000" y="231480"/>
            <a:ext cx="857700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9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Woods Creek Results : Clarifications or Edits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1" name="Google Shape;143;p20_4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2" name="TextBox 571"/>
          <p:cNvSpPr txBox="1"/>
          <p:nvPr/>
        </p:nvSpPr>
        <p:spPr>
          <a:xfrm>
            <a:off x="914400" y="1600200"/>
            <a:ext cx="6400800" cy="140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make a BA x time plot with all treatments</a:t>
            </a:r>
            <a:endParaRPr lang="en-US" sz="185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make a mort x time plot with all treatments?</a:t>
            </a:r>
            <a:endParaRPr lang="en-US" sz="185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Calculate BA annual increments?</a:t>
            </a:r>
            <a:endParaRPr lang="en-US" sz="185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Tree size distribution (</a:t>
            </a:r>
            <a:r>
              <a:rPr lang="en-US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see example to right)</a:t>
            </a:r>
            <a:br>
              <a:rPr lang="en-US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</a:br>
            <a:r>
              <a:rPr lang="en-US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 like </a:t>
            </a:r>
            <a:r>
              <a:rPr lang="en-US" sz="1850" b="0" strike="noStrike" spc="-1">
                <a:solidFill>
                  <a:srgbClr val="000000"/>
                </a:solidFill>
                <a:latin typeface="Arial"/>
                <a:ea typeface="Arial"/>
              </a:rPr>
              <a:t>Apiary histograms</a:t>
            </a: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?</a:t>
            </a:r>
            <a:endParaRPr lang="en-US" sz="185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Growth by LRR status (later) </a:t>
            </a:r>
            <a:r>
              <a:rPr lang="en-US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 ROC</a:t>
            </a:r>
            <a:endParaRPr lang="en-US" sz="1850" b="0" strike="noStrike" spc="-1" dirty="0"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63E30-F7DB-425B-B0E3-AFD923F42A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212" t="19765" r="33409" b="23670"/>
          <a:stretch/>
        </p:blipFill>
        <p:spPr>
          <a:xfrm>
            <a:off x="6019800" y="1208453"/>
            <a:ext cx="3124200" cy="32319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138;p20_4"/>
          <p:cNvSpPr/>
          <p:nvPr/>
        </p:nvSpPr>
        <p:spPr>
          <a:xfrm>
            <a:off x="567000" y="231480"/>
            <a:ext cx="6399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Results : Rotation </a:t>
            </a:r>
            <a:r>
              <a:rPr lang="en" sz="3600" b="0" strike="noStrike" spc="-1">
                <a:solidFill>
                  <a:srgbClr val="000000"/>
                </a:solidFill>
                <a:latin typeface="Nachlieli CLM"/>
                <a:ea typeface="Nachlieli CLM"/>
              </a:rPr>
              <a:t>→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Mortality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4" name="Google Shape;143;p20_5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75" name="Picture 574"/>
          <p:cNvPicPr/>
          <p:nvPr/>
        </p:nvPicPr>
        <p:blipFill>
          <a:blip r:embed="rId2"/>
          <a:stretch/>
        </p:blipFill>
        <p:spPr>
          <a:xfrm>
            <a:off x="47880" y="1023480"/>
            <a:ext cx="5285520" cy="4084200"/>
          </a:xfrm>
          <a:prstGeom prst="rect">
            <a:avLst/>
          </a:prstGeom>
          <a:ln w="0">
            <a:noFill/>
          </a:ln>
        </p:spPr>
      </p:pic>
      <p:sp>
        <p:nvSpPr>
          <p:cNvPr id="576" name="TextBox 575"/>
          <p:cNvSpPr txBox="1"/>
          <p:nvPr/>
        </p:nvSpPr>
        <p:spPr>
          <a:xfrm>
            <a:off x="5257800" y="1143000"/>
            <a:ext cx="3657600" cy="365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Mortality increases across the study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Variation within treatments approximately equal to variation between treatments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Rate of mortality appears variable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138;p20_6"/>
          <p:cNvSpPr/>
          <p:nvPr/>
        </p:nvSpPr>
        <p:spPr>
          <a:xfrm>
            <a:off x="567000" y="231480"/>
            <a:ext cx="6399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Results : Rotation </a:t>
            </a:r>
            <a:r>
              <a:rPr lang="en" sz="3600" b="0" strike="noStrike" spc="-1">
                <a:solidFill>
                  <a:srgbClr val="000000"/>
                </a:solidFill>
                <a:latin typeface="Nachlieli CLM"/>
                <a:ea typeface="Nachlieli CLM"/>
              </a:rPr>
              <a:t>→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8" name="Google Shape;143;p20_7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79" name="Picture 578"/>
          <p:cNvPicPr/>
          <p:nvPr/>
        </p:nvPicPr>
        <p:blipFill>
          <a:blip r:embed="rId2"/>
          <a:stretch/>
        </p:blipFill>
        <p:spPr>
          <a:xfrm>
            <a:off x="389880" y="956520"/>
            <a:ext cx="5256720" cy="4061880"/>
          </a:xfrm>
          <a:prstGeom prst="rect">
            <a:avLst/>
          </a:prstGeom>
          <a:ln w="0">
            <a:noFill/>
          </a:ln>
        </p:spPr>
      </p:pic>
      <p:sp>
        <p:nvSpPr>
          <p:cNvPr id="580" name="TextBox 579"/>
          <p:cNvSpPr txBox="1"/>
          <p:nvPr/>
        </p:nvSpPr>
        <p:spPr>
          <a:xfrm>
            <a:off x="5486400" y="1143000"/>
            <a:ext cx="3429000" cy="365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Growth measured as stand basal area increases sharply early in the study and more slowly later on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Variation within treatments approximately equal to variation between treatments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Rate of growth is variable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traight Connector 98_2"/>
          <p:cNvSpPr/>
          <p:nvPr/>
        </p:nvSpPr>
        <p:spPr>
          <a:xfrm>
            <a:off x="470232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2" name="Straight Connector 99_2"/>
          <p:cNvSpPr/>
          <p:nvPr/>
        </p:nvSpPr>
        <p:spPr>
          <a:xfrm>
            <a:off x="387288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3" name="Straight Connector 100_2"/>
          <p:cNvSpPr/>
          <p:nvPr/>
        </p:nvSpPr>
        <p:spPr>
          <a:xfrm>
            <a:off x="304344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4" name="Straight Connector 101_2"/>
          <p:cNvSpPr/>
          <p:nvPr/>
        </p:nvSpPr>
        <p:spPr>
          <a:xfrm>
            <a:off x="221400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5" name="Straight Connector 102_2"/>
          <p:cNvSpPr/>
          <p:nvPr/>
        </p:nvSpPr>
        <p:spPr>
          <a:xfrm>
            <a:off x="553140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6" name="Straight Connector 103_2"/>
          <p:cNvSpPr/>
          <p:nvPr/>
        </p:nvSpPr>
        <p:spPr>
          <a:xfrm>
            <a:off x="636084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7" name="Straight Connector 104_2"/>
          <p:cNvSpPr/>
          <p:nvPr/>
        </p:nvSpPr>
        <p:spPr>
          <a:xfrm>
            <a:off x="719028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8" name="Straight Connector 105_2"/>
          <p:cNvSpPr/>
          <p:nvPr/>
        </p:nvSpPr>
        <p:spPr>
          <a:xfrm>
            <a:off x="801972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9" name="Straight Connector 106_2"/>
          <p:cNvSpPr/>
          <p:nvPr/>
        </p:nvSpPr>
        <p:spPr>
          <a:xfrm>
            <a:off x="884916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Rectangle 107_2"/>
          <p:cNvSpPr/>
          <p:nvPr/>
        </p:nvSpPr>
        <p:spPr>
          <a:xfrm>
            <a:off x="2077200" y="3989520"/>
            <a:ext cx="2761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1" name="Rectangle 108_2"/>
          <p:cNvSpPr/>
          <p:nvPr/>
        </p:nvSpPr>
        <p:spPr>
          <a:xfrm>
            <a:off x="284148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2" name="Rectangle 109_2"/>
          <p:cNvSpPr/>
          <p:nvPr/>
        </p:nvSpPr>
        <p:spPr>
          <a:xfrm>
            <a:off x="367092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3" name="Rectangle 110_2"/>
          <p:cNvSpPr/>
          <p:nvPr/>
        </p:nvSpPr>
        <p:spPr>
          <a:xfrm>
            <a:off x="450036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4" name="Rectangle 111_2"/>
          <p:cNvSpPr/>
          <p:nvPr/>
        </p:nvSpPr>
        <p:spPr>
          <a:xfrm>
            <a:off x="532980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5" name="Rectangle 112_2"/>
          <p:cNvSpPr/>
          <p:nvPr/>
        </p:nvSpPr>
        <p:spPr>
          <a:xfrm>
            <a:off x="615924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6" name="Rectangle 113_2"/>
          <p:cNvSpPr/>
          <p:nvPr/>
        </p:nvSpPr>
        <p:spPr>
          <a:xfrm>
            <a:off x="6982920" y="3989520"/>
            <a:ext cx="41256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7" name="Rectangle 114_2"/>
          <p:cNvSpPr/>
          <p:nvPr/>
        </p:nvSpPr>
        <p:spPr>
          <a:xfrm>
            <a:off x="781812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8" name="Rectangle 115_2"/>
          <p:cNvSpPr/>
          <p:nvPr/>
        </p:nvSpPr>
        <p:spPr>
          <a:xfrm>
            <a:off x="8647560" y="3989520"/>
            <a:ext cx="3913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99" name="Rectangle 116_2"/>
          <p:cNvSpPr/>
          <p:nvPr/>
        </p:nvSpPr>
        <p:spPr>
          <a:xfrm>
            <a:off x="1275120" y="3989520"/>
            <a:ext cx="27612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600" name="Rectangle 117_2"/>
          <p:cNvSpPr/>
          <p:nvPr/>
        </p:nvSpPr>
        <p:spPr>
          <a:xfrm>
            <a:off x="3840120" y="4692240"/>
            <a:ext cx="73188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Age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01" name="Rectangle 118_3"/>
          <p:cNvSpPr/>
          <p:nvPr/>
        </p:nvSpPr>
        <p:spPr>
          <a:xfrm>
            <a:off x="597240" y="8978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02" name="Rectangle 119_2"/>
          <p:cNvSpPr/>
          <p:nvPr/>
        </p:nvSpPr>
        <p:spPr>
          <a:xfrm>
            <a:off x="532080" y="151992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25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03" name="Rectangle 120_2"/>
          <p:cNvSpPr/>
          <p:nvPr/>
        </p:nvSpPr>
        <p:spPr>
          <a:xfrm>
            <a:off x="597240" y="21632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RA 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04" name="Rectangle 121_2"/>
          <p:cNvSpPr/>
          <p:nvPr/>
        </p:nvSpPr>
        <p:spPr>
          <a:xfrm>
            <a:off x="499320" y="277668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CW 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05" name="Rectangle 122_2"/>
          <p:cNvSpPr/>
          <p:nvPr/>
        </p:nvSpPr>
        <p:spPr>
          <a:xfrm>
            <a:off x="695520" y="339588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DF 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06" name="Straight Connector 123_2"/>
          <p:cNvSpPr/>
          <p:nvPr/>
        </p:nvSpPr>
        <p:spPr>
          <a:xfrm>
            <a:off x="1430280" y="865440"/>
            <a:ext cx="360" cy="3110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7" name="Rectangle 124_2"/>
          <p:cNvSpPr/>
          <p:nvPr/>
        </p:nvSpPr>
        <p:spPr>
          <a:xfrm>
            <a:off x="1430640" y="865440"/>
            <a:ext cx="331524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8" name="Rectangle 125_2"/>
          <p:cNvSpPr/>
          <p:nvPr/>
        </p:nvSpPr>
        <p:spPr>
          <a:xfrm>
            <a:off x="1430640" y="1487160"/>
            <a:ext cx="331524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9" name="Rectangle 126_2"/>
          <p:cNvSpPr/>
          <p:nvPr/>
        </p:nvSpPr>
        <p:spPr>
          <a:xfrm>
            <a:off x="1430280" y="2109600"/>
            <a:ext cx="54115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0" name="Rectangle 127_2"/>
          <p:cNvSpPr/>
          <p:nvPr/>
        </p:nvSpPr>
        <p:spPr>
          <a:xfrm>
            <a:off x="1430280" y="2731320"/>
            <a:ext cx="54115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1" name="Rectangle 128_2"/>
          <p:cNvSpPr/>
          <p:nvPr/>
        </p:nvSpPr>
        <p:spPr>
          <a:xfrm>
            <a:off x="1430280" y="3353400"/>
            <a:ext cx="7416720" cy="41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2" name="Rectangle 129_2"/>
          <p:cNvSpPr/>
          <p:nvPr/>
        </p:nvSpPr>
        <p:spPr>
          <a:xfrm>
            <a:off x="8632080" y="33847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13" name="Rectangle 130_2"/>
          <p:cNvSpPr/>
          <p:nvPr/>
        </p:nvSpPr>
        <p:spPr>
          <a:xfrm>
            <a:off x="6610680" y="276408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33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14" name="Rectangle 131_2"/>
          <p:cNvSpPr/>
          <p:nvPr/>
        </p:nvSpPr>
        <p:spPr>
          <a:xfrm>
            <a:off x="6610680" y="214236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33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15" name="Rectangle 132_2"/>
          <p:cNvSpPr/>
          <p:nvPr/>
        </p:nvSpPr>
        <p:spPr>
          <a:xfrm>
            <a:off x="4527360" y="151884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16" name="Rectangle 133_2"/>
          <p:cNvSpPr/>
          <p:nvPr/>
        </p:nvSpPr>
        <p:spPr>
          <a:xfrm>
            <a:off x="4527360" y="8971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2020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17" name="Rectangle 134_2"/>
          <p:cNvSpPr/>
          <p:nvPr/>
        </p:nvSpPr>
        <p:spPr>
          <a:xfrm>
            <a:off x="7092360" y="33847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36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18" name="Rectangle 136_2"/>
          <p:cNvSpPr/>
          <p:nvPr/>
        </p:nvSpPr>
        <p:spPr>
          <a:xfrm>
            <a:off x="2977920" y="337860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1987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19" name="Rectangle 137_2"/>
          <p:cNvSpPr/>
          <p:nvPr/>
        </p:nvSpPr>
        <p:spPr>
          <a:xfrm>
            <a:off x="5227920" y="276408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24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20" name="Rectangle 138_2"/>
          <p:cNvSpPr/>
          <p:nvPr/>
        </p:nvSpPr>
        <p:spPr>
          <a:xfrm>
            <a:off x="5232960" y="21409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24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21" name="Rectangle 139_2"/>
          <p:cNvSpPr/>
          <p:nvPr/>
        </p:nvSpPr>
        <p:spPr>
          <a:xfrm>
            <a:off x="2981160" y="8971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22" name="Rectangle 140_2"/>
          <p:cNvSpPr/>
          <p:nvPr/>
        </p:nvSpPr>
        <p:spPr>
          <a:xfrm>
            <a:off x="2975040" y="1519920"/>
            <a:ext cx="41868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2011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23" name="Rectangle 141_2"/>
          <p:cNvSpPr/>
          <p:nvPr/>
        </p:nvSpPr>
        <p:spPr>
          <a:xfrm>
            <a:off x="2608920" y="214092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24" name="Rectangle 142_2"/>
          <p:cNvSpPr/>
          <p:nvPr/>
        </p:nvSpPr>
        <p:spPr>
          <a:xfrm>
            <a:off x="2594160" y="2764080"/>
            <a:ext cx="426960" cy="34812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lang="en-US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1995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625" name="Rectangle 143_2"/>
          <p:cNvSpPr/>
          <p:nvPr/>
        </p:nvSpPr>
        <p:spPr>
          <a:xfrm rot="16180800">
            <a:off x="-355680" y="2197080"/>
            <a:ext cx="1272960" cy="33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Treatment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626" name="Straight Connector 625"/>
          <p:cNvSpPr/>
          <p:nvPr/>
        </p:nvSpPr>
        <p:spPr>
          <a:xfrm>
            <a:off x="3200400" y="3765600"/>
            <a:ext cx="0" cy="57780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7" name="Straight Connector 626"/>
          <p:cNvSpPr/>
          <p:nvPr/>
        </p:nvSpPr>
        <p:spPr>
          <a:xfrm>
            <a:off x="7315200" y="3732840"/>
            <a:ext cx="0" cy="61056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Straight Connector 627"/>
          <p:cNvSpPr/>
          <p:nvPr/>
        </p:nvSpPr>
        <p:spPr>
          <a:xfrm>
            <a:off x="2743200" y="3200400"/>
            <a:ext cx="457200" cy="114300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9" name="Straight Connector 628"/>
          <p:cNvSpPr/>
          <p:nvPr/>
        </p:nvSpPr>
        <p:spPr>
          <a:xfrm>
            <a:off x="6858000" y="3200400"/>
            <a:ext cx="457200" cy="114300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0" name="Straight Connector 629"/>
          <p:cNvSpPr/>
          <p:nvPr/>
        </p:nvSpPr>
        <p:spPr>
          <a:xfrm>
            <a:off x="7423200" y="3733200"/>
            <a:ext cx="0" cy="577800"/>
          </a:xfrm>
          <a:prstGeom prst="line">
            <a:avLst/>
          </a:prstGeom>
          <a:ln w="36720">
            <a:solidFill>
              <a:srgbClr val="FF3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1" name="Straight Connector 630"/>
          <p:cNvSpPr/>
          <p:nvPr/>
        </p:nvSpPr>
        <p:spPr>
          <a:xfrm>
            <a:off x="8935200" y="3733560"/>
            <a:ext cx="0" cy="577800"/>
          </a:xfrm>
          <a:prstGeom prst="line">
            <a:avLst/>
          </a:prstGeom>
          <a:ln w="36720">
            <a:solidFill>
              <a:srgbClr val="FF3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2" name="Straight Connector 631"/>
          <p:cNvSpPr/>
          <p:nvPr/>
        </p:nvSpPr>
        <p:spPr>
          <a:xfrm>
            <a:off x="3200400" y="685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3" name="Straight Connector 632"/>
          <p:cNvSpPr/>
          <p:nvPr/>
        </p:nvSpPr>
        <p:spPr>
          <a:xfrm>
            <a:off x="4748400" y="685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4" name="Straight Connector 633"/>
          <p:cNvSpPr/>
          <p:nvPr/>
        </p:nvSpPr>
        <p:spPr>
          <a:xfrm>
            <a:off x="4748400" y="685800"/>
            <a:ext cx="738000" cy="13716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5" name="Straight Connector 634"/>
          <p:cNvSpPr/>
          <p:nvPr/>
        </p:nvSpPr>
        <p:spPr>
          <a:xfrm flipH="1">
            <a:off x="2815200" y="685800"/>
            <a:ext cx="385200" cy="13716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6" name="Rectangle 118_4"/>
          <p:cNvSpPr/>
          <p:nvPr/>
        </p:nvSpPr>
        <p:spPr>
          <a:xfrm>
            <a:off x="3573000" y="374040"/>
            <a:ext cx="926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43C330"/>
                </a:solidFill>
                <a:latin typeface="Arial"/>
                <a:ea typeface="DejaVu Sans"/>
              </a:rPr>
              <a:t>EARLY</a:t>
            </a:r>
            <a:endParaRPr lang="en-US" sz="1600" b="0" strike="noStrike" spc="-1">
              <a:solidFill>
                <a:srgbClr val="43C330"/>
              </a:solidFill>
              <a:latin typeface="Arial"/>
            </a:endParaRPr>
          </a:p>
        </p:txBody>
      </p:sp>
      <p:sp>
        <p:nvSpPr>
          <p:cNvPr id="637" name="TextBox 636"/>
          <p:cNvSpPr txBox="1"/>
          <p:nvPr/>
        </p:nvSpPr>
        <p:spPr>
          <a:xfrm>
            <a:off x="4500000" y="4376160"/>
            <a:ext cx="9864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600" b="0" strike="noStrike" spc="-1">
                <a:solidFill>
                  <a:srgbClr val="FFDB00"/>
                </a:solidFill>
                <a:latin typeface="Arial"/>
                <a:ea typeface="DejaVu Sans"/>
              </a:rPr>
              <a:t>MIDDLE</a:t>
            </a:r>
            <a:endParaRPr lang="en-US" sz="1600" b="0" strike="noStrike" spc="-1">
              <a:solidFill>
                <a:srgbClr val="FFDB00"/>
              </a:solidFill>
              <a:latin typeface="Arial"/>
            </a:endParaRPr>
          </a:p>
        </p:txBody>
      </p:sp>
      <p:sp>
        <p:nvSpPr>
          <p:cNvPr id="638" name="TextBox 637"/>
          <p:cNvSpPr txBox="1"/>
          <p:nvPr/>
        </p:nvSpPr>
        <p:spPr>
          <a:xfrm>
            <a:off x="7929000" y="4343400"/>
            <a:ext cx="9864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600" b="0" strike="noStrike" spc="-1">
                <a:solidFill>
                  <a:srgbClr val="FF3838"/>
                </a:solidFill>
                <a:latin typeface="Arial"/>
                <a:ea typeface="DejaVu Sans"/>
              </a:rPr>
              <a:t>LATE</a:t>
            </a:r>
            <a:endParaRPr lang="en-US" sz="1600" b="0" strike="noStrike" spc="-1">
              <a:solidFill>
                <a:srgbClr val="FF3838"/>
              </a:solidFill>
              <a:latin typeface="Arial"/>
            </a:endParaRPr>
          </a:p>
        </p:txBody>
      </p:sp>
      <p:sp>
        <p:nvSpPr>
          <p:cNvPr id="639" name="Straight Connector 638"/>
          <p:cNvSpPr/>
          <p:nvPr/>
        </p:nvSpPr>
        <p:spPr>
          <a:xfrm>
            <a:off x="3200400" y="1297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0" name="Straight Connector 639"/>
          <p:cNvSpPr/>
          <p:nvPr/>
        </p:nvSpPr>
        <p:spPr>
          <a:xfrm>
            <a:off x="4748400" y="1261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1" name="Straight Connector 640"/>
          <p:cNvSpPr/>
          <p:nvPr/>
        </p:nvSpPr>
        <p:spPr>
          <a:xfrm>
            <a:off x="2840400" y="2521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2" name="Straight Connector 641"/>
          <p:cNvSpPr/>
          <p:nvPr/>
        </p:nvSpPr>
        <p:spPr>
          <a:xfrm>
            <a:off x="5468400" y="2521800"/>
            <a:ext cx="0" cy="18000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3" name="Straight Connector 642"/>
          <p:cNvSpPr/>
          <p:nvPr/>
        </p:nvSpPr>
        <p:spPr>
          <a:xfrm>
            <a:off x="2743200" y="2521800"/>
            <a:ext cx="0" cy="20952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4" name="Straight Connector 643"/>
          <p:cNvSpPr/>
          <p:nvPr/>
        </p:nvSpPr>
        <p:spPr>
          <a:xfrm>
            <a:off x="6847200" y="2521800"/>
            <a:ext cx="0" cy="20952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Straight Connector 644"/>
          <p:cNvSpPr/>
          <p:nvPr/>
        </p:nvSpPr>
        <p:spPr>
          <a:xfrm flipH="1">
            <a:off x="3200400" y="4343400"/>
            <a:ext cx="1143000" cy="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Straight Connector 645"/>
          <p:cNvSpPr/>
          <p:nvPr/>
        </p:nvSpPr>
        <p:spPr>
          <a:xfrm flipH="1">
            <a:off x="4343400" y="4343400"/>
            <a:ext cx="2971800" cy="0"/>
          </a:xfrm>
          <a:prstGeom prst="line">
            <a:avLst/>
          </a:prstGeom>
          <a:ln w="36720">
            <a:solidFill>
              <a:srgbClr val="FFDB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Straight Connector 646"/>
          <p:cNvSpPr/>
          <p:nvPr/>
        </p:nvSpPr>
        <p:spPr>
          <a:xfrm flipH="1">
            <a:off x="7423200" y="4301280"/>
            <a:ext cx="1512000" cy="10080"/>
          </a:xfrm>
          <a:prstGeom prst="line">
            <a:avLst/>
          </a:prstGeom>
          <a:ln w="36720">
            <a:solidFill>
              <a:srgbClr val="FF3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8" name="Straight Connector 647"/>
          <p:cNvSpPr/>
          <p:nvPr/>
        </p:nvSpPr>
        <p:spPr>
          <a:xfrm>
            <a:off x="3200400" y="685800"/>
            <a:ext cx="1548000" cy="0"/>
          </a:xfrm>
          <a:prstGeom prst="line">
            <a:avLst/>
          </a:prstGeom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49" name="Group 89_9"/>
          <p:cNvGrpSpPr/>
          <p:nvPr/>
        </p:nvGrpSpPr>
        <p:grpSpPr>
          <a:xfrm>
            <a:off x="1865880" y="265320"/>
            <a:ext cx="1334520" cy="311760"/>
            <a:chOff x="1865880" y="265320"/>
            <a:chExt cx="1334520" cy="311760"/>
          </a:xfrm>
        </p:grpSpPr>
        <p:sp>
          <p:nvSpPr>
            <p:cNvPr id="650" name="Rectangle 93_9"/>
            <p:cNvSpPr/>
            <p:nvPr/>
          </p:nvSpPr>
          <p:spPr>
            <a:xfrm>
              <a:off x="1865880" y="265320"/>
              <a:ext cx="1334520" cy="31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APIARY</a:t>
              </a:r>
              <a:endParaRPr lang="en-US" sz="2400" b="0" strike="noStrike" spc="-1">
                <a:latin typeface="Arial"/>
              </a:endParaRPr>
            </a:p>
          </p:txBody>
        </p:sp>
      </p:grpSp>
      <p:grpSp>
        <p:nvGrpSpPr>
          <p:cNvPr id="651" name="Group 650"/>
          <p:cNvGrpSpPr/>
          <p:nvPr/>
        </p:nvGrpSpPr>
        <p:grpSpPr>
          <a:xfrm>
            <a:off x="6172200" y="112320"/>
            <a:ext cx="2351880" cy="1997280"/>
            <a:chOff x="6172200" y="112320"/>
            <a:chExt cx="2351880" cy="1997280"/>
          </a:xfrm>
        </p:grpSpPr>
        <p:pic>
          <p:nvPicPr>
            <p:cNvPr id="652" name="Picture 651"/>
            <p:cNvPicPr/>
            <p:nvPr/>
          </p:nvPicPr>
          <p:blipFill>
            <a:blip r:embed="rId2"/>
            <a:stretch/>
          </p:blipFill>
          <p:spPr>
            <a:xfrm>
              <a:off x="6172200" y="137160"/>
              <a:ext cx="2351880" cy="1972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53" name="Straight Connector 652"/>
            <p:cNvSpPr/>
            <p:nvPr/>
          </p:nvSpPr>
          <p:spPr>
            <a:xfrm flipV="1">
              <a:off x="7030440" y="613440"/>
              <a:ext cx="362880" cy="324720"/>
            </a:xfrm>
            <a:prstGeom prst="line">
              <a:avLst/>
            </a:prstGeom>
            <a:ln w="18360">
              <a:solidFill>
                <a:srgbClr val="FC5C00"/>
              </a:solidFill>
              <a:prstDash val="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4" name="Straight Connector 653"/>
            <p:cNvSpPr/>
            <p:nvPr/>
          </p:nvSpPr>
          <p:spPr>
            <a:xfrm flipV="1">
              <a:off x="6750000" y="1012320"/>
              <a:ext cx="181440" cy="445680"/>
            </a:xfrm>
            <a:prstGeom prst="line">
              <a:avLst/>
            </a:prstGeom>
            <a:ln w="18360">
              <a:solidFill>
                <a:srgbClr val="FC5C00"/>
              </a:solidFill>
              <a:prstDash val="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5" name="Rectangle 654"/>
            <p:cNvSpPr/>
            <p:nvPr/>
          </p:nvSpPr>
          <p:spPr>
            <a:xfrm rot="18982200">
              <a:off x="6971760" y="547920"/>
              <a:ext cx="470160" cy="16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9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ΔBA</a:t>
              </a:r>
              <a:r>
                <a:rPr lang="en" sz="9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2</a:t>
              </a:r>
              <a:endParaRPr lang="en-US" sz="900" b="0" strike="noStrike" spc="-1">
                <a:latin typeface="Arial"/>
              </a:endParaRPr>
            </a:p>
          </p:txBody>
        </p:sp>
        <p:sp>
          <p:nvSpPr>
            <p:cNvPr id="656" name="Rectangle 655"/>
            <p:cNvSpPr/>
            <p:nvPr/>
          </p:nvSpPr>
          <p:spPr>
            <a:xfrm rot="17616000">
              <a:off x="6609240" y="954000"/>
              <a:ext cx="470160" cy="16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9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ΔBA</a:t>
              </a:r>
              <a:r>
                <a:rPr lang="en" sz="9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1</a:t>
              </a:r>
              <a:endParaRPr lang="en-US" sz="900" b="0" strike="noStrike" spc="-1">
                <a:latin typeface="Arial"/>
              </a:endParaRPr>
            </a:p>
          </p:txBody>
        </p:sp>
        <p:sp>
          <p:nvSpPr>
            <p:cNvPr id="657" name="Straight Connector 656"/>
            <p:cNvSpPr/>
            <p:nvPr/>
          </p:nvSpPr>
          <p:spPr>
            <a:xfrm flipV="1">
              <a:off x="6750000" y="252720"/>
              <a:ext cx="36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8" name="Straight Connector 657"/>
            <p:cNvSpPr/>
            <p:nvPr/>
          </p:nvSpPr>
          <p:spPr>
            <a:xfrm flipV="1">
              <a:off x="6922800" y="252720"/>
              <a:ext cx="36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9" name="Straight Connector 658"/>
            <p:cNvSpPr/>
            <p:nvPr/>
          </p:nvSpPr>
          <p:spPr>
            <a:xfrm flipV="1">
              <a:off x="7021800" y="252720"/>
              <a:ext cx="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0" name="Straight Connector 659"/>
            <p:cNvSpPr/>
            <p:nvPr/>
          </p:nvSpPr>
          <p:spPr>
            <a:xfrm flipV="1">
              <a:off x="7392240" y="252720"/>
              <a:ext cx="0" cy="1568160"/>
            </a:xfrm>
            <a:prstGeom prst="line">
              <a:avLst/>
            </a:prstGeom>
            <a:ln w="0">
              <a:solidFill>
                <a:srgbClr val="80808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1" name="Rectangle 660"/>
            <p:cNvSpPr/>
            <p:nvPr/>
          </p:nvSpPr>
          <p:spPr>
            <a:xfrm>
              <a:off x="6741360" y="120600"/>
              <a:ext cx="280080" cy="18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3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t</a:t>
              </a:r>
              <a:r>
                <a:rPr lang="en" sz="13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1</a:t>
              </a:r>
              <a:endParaRPr lang="en-US" sz="1300" b="0" strike="noStrike" spc="-1">
                <a:latin typeface="Arial"/>
              </a:endParaRPr>
            </a:p>
          </p:txBody>
        </p:sp>
        <p:sp>
          <p:nvSpPr>
            <p:cNvPr id="662" name="Rectangle 661"/>
            <p:cNvSpPr/>
            <p:nvPr/>
          </p:nvSpPr>
          <p:spPr>
            <a:xfrm>
              <a:off x="7111800" y="112320"/>
              <a:ext cx="280080" cy="18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1300" b="0" strike="noStrike" spc="-1">
                  <a:solidFill>
                    <a:srgbClr val="FC5C00"/>
                  </a:solidFill>
                  <a:latin typeface="Arial"/>
                  <a:ea typeface="Arial"/>
                </a:rPr>
                <a:t>t</a:t>
              </a:r>
              <a:r>
                <a:rPr lang="en" sz="1300" b="0" strike="noStrike" spc="-1" baseline="-8000">
                  <a:solidFill>
                    <a:srgbClr val="FC5C00"/>
                  </a:solidFill>
                  <a:latin typeface="Arial"/>
                  <a:ea typeface="Arial"/>
                </a:rPr>
                <a:t>2</a:t>
              </a:r>
              <a:endParaRPr lang="en-US" sz="1300" b="0" strike="noStrike" spc="-1">
                <a:latin typeface="Arial"/>
              </a:endParaRPr>
            </a:p>
          </p:txBody>
        </p:sp>
      </p:grpSp>
      <p:grpSp>
        <p:nvGrpSpPr>
          <p:cNvPr id="663" name="Group 89_10"/>
          <p:cNvGrpSpPr/>
          <p:nvPr/>
        </p:nvGrpSpPr>
        <p:grpSpPr>
          <a:xfrm>
            <a:off x="5511600" y="4559400"/>
            <a:ext cx="3657600" cy="584280"/>
            <a:chOff x="5511600" y="4559400"/>
            <a:chExt cx="3657600" cy="584280"/>
          </a:xfrm>
        </p:grpSpPr>
        <p:sp>
          <p:nvSpPr>
            <p:cNvPr id="664" name="Rectangle 93_10"/>
            <p:cNvSpPr/>
            <p:nvPr/>
          </p:nvSpPr>
          <p:spPr>
            <a:xfrm>
              <a:off x="5511600" y="4559400"/>
              <a:ext cx="3657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Age-matching treatments</a:t>
              </a:r>
              <a:endParaRPr lang="en-US" sz="24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138;p20_8"/>
          <p:cNvSpPr/>
          <p:nvPr/>
        </p:nvSpPr>
        <p:spPr>
          <a:xfrm>
            <a:off x="567000" y="231480"/>
            <a:ext cx="6399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Results : Rotation </a:t>
            </a:r>
            <a:r>
              <a:rPr lang="en" sz="3600" b="0" strike="noStrike" spc="-1">
                <a:solidFill>
                  <a:srgbClr val="000000"/>
                </a:solidFill>
                <a:latin typeface="Nachlieli CLM"/>
                <a:ea typeface="Nachlieli CLM"/>
              </a:rPr>
              <a:t>→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Increments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66" name="Google Shape;143;p20_9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67" name="Picture 666"/>
          <p:cNvPicPr/>
          <p:nvPr/>
        </p:nvPicPr>
        <p:blipFill>
          <a:blip r:embed="rId2"/>
          <a:stretch/>
        </p:blipFill>
        <p:spPr>
          <a:xfrm>
            <a:off x="228600" y="1028520"/>
            <a:ext cx="4800600" cy="4000680"/>
          </a:xfrm>
          <a:prstGeom prst="rect">
            <a:avLst/>
          </a:prstGeom>
          <a:ln w="0">
            <a:noFill/>
          </a:ln>
        </p:spPr>
      </p:pic>
      <p:sp>
        <p:nvSpPr>
          <p:cNvPr id="668" name="TextBox 667"/>
          <p:cNvSpPr txBox="1"/>
          <p:nvPr/>
        </p:nvSpPr>
        <p:spPr>
          <a:xfrm>
            <a:off x="5486760" y="1143000"/>
            <a:ext cx="3429000" cy="365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BA growth increment within timeframes does not significantly vary between treatments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High LRR severity blocks appear to have reduced growth and increased mortality after early phase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Growth declines or even becomes negative in later stages, especially in severe blocks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138;p20_9"/>
          <p:cNvSpPr/>
          <p:nvPr/>
        </p:nvSpPr>
        <p:spPr>
          <a:xfrm>
            <a:off x="567000" y="231480"/>
            <a:ext cx="834840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Results : Rotation </a:t>
            </a:r>
            <a:r>
              <a:rPr lang="en" sz="3600" b="0" strike="noStrike" spc="-1">
                <a:solidFill>
                  <a:srgbClr val="000000"/>
                </a:solidFill>
                <a:latin typeface="Nachlieli CLM"/>
                <a:ea typeface="Nachlieli CLM"/>
              </a:rPr>
              <a:t>→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Increments by cause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70" name="Google Shape;143;p20_10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71" name="Picture 670"/>
          <p:cNvPicPr/>
          <p:nvPr/>
        </p:nvPicPr>
        <p:blipFill>
          <a:blip r:embed="rId2"/>
          <a:stretch/>
        </p:blipFill>
        <p:spPr>
          <a:xfrm>
            <a:off x="457200" y="1029960"/>
            <a:ext cx="4785840" cy="3988440"/>
          </a:xfrm>
          <a:prstGeom prst="rect">
            <a:avLst/>
          </a:prstGeom>
          <a:ln w="0">
            <a:noFill/>
          </a:ln>
        </p:spPr>
      </p:pic>
      <p:sp>
        <p:nvSpPr>
          <p:cNvPr id="672" name="TextBox 671"/>
          <p:cNvSpPr txBox="1"/>
          <p:nvPr/>
        </p:nvSpPr>
        <p:spPr>
          <a:xfrm>
            <a:off x="5487120" y="1143000"/>
            <a:ext cx="3429000" cy="365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Suppression by hardwood regeneration may offset LRR mortality reduction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Initial LRR severity inffluences LRR mortality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138;p20_7"/>
          <p:cNvSpPr/>
          <p:nvPr/>
        </p:nvSpPr>
        <p:spPr>
          <a:xfrm>
            <a:off x="531000" y="-92520"/>
            <a:ext cx="639972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Results : LRR </a:t>
            </a:r>
            <a:r>
              <a:rPr lang="en" sz="3600" b="0" strike="noStrike" spc="-1">
                <a:solidFill>
                  <a:srgbClr val="000000"/>
                </a:solidFill>
                <a:latin typeface="Nachlieli CLM"/>
                <a:ea typeface="Nachlieli CLM"/>
              </a:rPr>
              <a:t>→</a:t>
            </a: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 DBH increment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74" name="Google Shape;143;p20_8"/>
          <p:cNvSpPr/>
          <p:nvPr/>
        </p:nvSpPr>
        <p:spPr>
          <a:xfrm rot="10800000" flipH="1">
            <a:off x="669960" y="583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5" name="TextBox 674"/>
          <p:cNvSpPr txBox="1"/>
          <p:nvPr/>
        </p:nvSpPr>
        <p:spPr>
          <a:xfrm>
            <a:off x="658080" y="662040"/>
            <a:ext cx="8028720" cy="48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Trees binned “ever SUPP”, “ever LRR”, or “not”. Only living DBH used</a:t>
            </a:r>
            <a:endParaRPr lang="en-US" sz="1850" b="0" strike="noStrike" spc="-1">
              <a:latin typeface="Arial"/>
            </a:endParaRPr>
          </a:p>
        </p:txBody>
      </p:sp>
      <p:pic>
        <p:nvPicPr>
          <p:cNvPr id="676" name="Picture 675"/>
          <p:cNvPicPr/>
          <p:nvPr/>
        </p:nvPicPr>
        <p:blipFill>
          <a:blip r:embed="rId2"/>
          <a:srcRect l="74068" t="24437" b="22226"/>
          <a:stretch/>
        </p:blipFill>
        <p:spPr>
          <a:xfrm>
            <a:off x="6877080" y="1143000"/>
            <a:ext cx="2266560" cy="3886200"/>
          </a:xfrm>
          <a:prstGeom prst="rect">
            <a:avLst/>
          </a:prstGeom>
          <a:ln w="0">
            <a:noFill/>
          </a:ln>
        </p:spPr>
      </p:pic>
      <p:pic>
        <p:nvPicPr>
          <p:cNvPr id="677" name="Picture 676"/>
          <p:cNvPicPr/>
          <p:nvPr/>
        </p:nvPicPr>
        <p:blipFill>
          <a:blip r:embed="rId2"/>
          <a:srcRect t="51100" r="22219"/>
          <a:stretch/>
        </p:blipFill>
        <p:spPr>
          <a:xfrm>
            <a:off x="36360" y="1238400"/>
            <a:ext cx="6982200" cy="3657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138;p20_10"/>
          <p:cNvSpPr/>
          <p:nvPr/>
        </p:nvSpPr>
        <p:spPr>
          <a:xfrm>
            <a:off x="567000" y="231480"/>
            <a:ext cx="857700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8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Apiary Results : THM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79" name="Google Shape;143;p20_11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0" name="TextBox 679"/>
          <p:cNvSpPr txBox="1"/>
          <p:nvPr/>
        </p:nvSpPr>
        <p:spPr>
          <a:xfrm>
            <a:off x="914400" y="1600200"/>
            <a:ext cx="7315200" cy="166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Suppression by hardwood regeneration may offset LRR mortality reduction, resprout management important</a:t>
            </a:r>
            <a:br/>
            <a:r>
              <a:rPr lang="en" sz="185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85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>
                <a:solidFill>
                  <a:srgbClr val="000000"/>
                </a:solidFill>
                <a:latin typeface="Arial"/>
                <a:ea typeface="Arial"/>
              </a:rPr>
              <a:t>LRR may have sublethal effects on growth</a:t>
            </a:r>
            <a:endParaRPr lang="en-US" sz="18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138;p20_11"/>
          <p:cNvSpPr/>
          <p:nvPr/>
        </p:nvSpPr>
        <p:spPr>
          <a:xfrm>
            <a:off x="567000" y="231480"/>
            <a:ext cx="8577000" cy="68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rmAutofit fontScale="99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0" strike="noStrike" spc="-1">
                <a:solidFill>
                  <a:srgbClr val="000000"/>
                </a:solidFill>
                <a:latin typeface="Oswald"/>
                <a:ea typeface="Oswald"/>
              </a:rPr>
              <a:t>Apiary Results : Clarifications or Edits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82" name="Google Shape;143;p20_12"/>
          <p:cNvSpPr/>
          <p:nvPr/>
        </p:nvSpPr>
        <p:spPr>
          <a:xfrm rot="10800000" flipH="1">
            <a:off x="705960" y="907200"/>
            <a:ext cx="5388840" cy="10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3" name="TextBox 682"/>
          <p:cNvSpPr txBox="1"/>
          <p:nvPr/>
        </p:nvSpPr>
        <p:spPr>
          <a:xfrm>
            <a:off x="914400" y="1600200"/>
            <a:ext cx="6400800" cy="113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185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ROC ever LRR vs not</a:t>
            </a:r>
            <a:endParaRPr lang="en-US" sz="185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Tree size distribution?</a:t>
            </a:r>
            <a:endParaRPr lang="en-US" sz="185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" sz="18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FVS of continuous DF treatment</a:t>
            </a:r>
            <a:endParaRPr lang="en-US" sz="185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1380</Words>
  <Application>Microsoft Office PowerPoint</Application>
  <PresentationFormat>On-screen Show (16:9)</PresentationFormat>
  <Paragraphs>408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DejaVu Sans</vt:lpstr>
      <vt:lpstr>Nachlieli CLM</vt:lpstr>
      <vt:lpstr>Oswald</vt:lpstr>
      <vt:lpstr>Symbol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showalt_d</cp:lastModifiedBy>
  <cp:revision>32</cp:revision>
  <dcterms:modified xsi:type="dcterms:W3CDTF">2022-08-29T18:01:33Z</dcterms:modified>
  <dc:language>en-US</dc:language>
</cp:coreProperties>
</file>