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8.jpeg" ContentType="image/jpe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51435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456840" y="204840"/>
            <a:ext cx="8228880" cy="39812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456840" y="2761560"/>
            <a:ext cx="822888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4673520" y="120312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45684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4673520" y="2761560"/>
            <a:ext cx="401544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63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23928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021720" y="120312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684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23928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021720" y="2761560"/>
            <a:ext cx="2649600" cy="14227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29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6840" y="204840"/>
            <a:ext cx="8228880" cy="85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3630" spc="-1" strike="noStrike">
                <a:latin typeface="Arial"/>
              </a:rPr>
              <a:t>Click to edit the title text format</a:t>
            </a:r>
            <a:endParaRPr b="0" lang="en-US" sz="363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456840" y="1203120"/>
            <a:ext cx="822888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28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900" spc="-1" strike="noStrike">
                <a:latin typeface="Arial"/>
              </a:rPr>
              <a:t>Click to edit the outline text format</a:t>
            </a:r>
            <a:endParaRPr b="0" lang="en-US" sz="2900" spc="-1" strike="noStrike">
              <a:latin typeface="Arial"/>
            </a:endParaRPr>
          </a:p>
          <a:p>
            <a:pPr lvl="1" marL="864000" indent="-324000">
              <a:spcBef>
                <a:spcPts val="102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40" spc="-1" strike="noStrike">
                <a:latin typeface="Arial"/>
              </a:rPr>
              <a:t>Second Outline Level</a:t>
            </a:r>
            <a:endParaRPr b="0" lang="en-US" sz="2540" spc="-1" strike="noStrike">
              <a:latin typeface="Arial"/>
            </a:endParaRPr>
          </a:p>
          <a:p>
            <a:pPr lvl="2" marL="1296000" indent="-288000">
              <a:spcBef>
                <a:spcPts val="7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80" spc="-1" strike="noStrike">
                <a:latin typeface="Arial"/>
              </a:rPr>
              <a:t>Third Outline Level</a:t>
            </a:r>
            <a:endParaRPr b="0" lang="en-US" sz="2180" spc="-1" strike="noStrike">
              <a:latin typeface="Arial"/>
            </a:endParaRPr>
          </a:p>
          <a:p>
            <a:pPr lvl="3" marL="1728000" indent="-216000">
              <a:spcBef>
                <a:spcPts val="51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10" spc="-1" strike="noStrike">
                <a:latin typeface="Arial"/>
              </a:rPr>
              <a:t>Fourth Outline Level</a:t>
            </a:r>
            <a:endParaRPr b="0" lang="en-US" sz="1810" spc="-1" strike="noStrike">
              <a:latin typeface="Arial"/>
            </a:endParaRPr>
          </a:p>
          <a:p>
            <a:pPr lvl="4" marL="2160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Fifth Outline Level</a:t>
            </a:r>
            <a:endParaRPr b="0" lang="en-US" sz="1810" spc="-1" strike="noStrike">
              <a:latin typeface="Arial"/>
            </a:endParaRPr>
          </a:p>
          <a:p>
            <a:pPr lvl="5" marL="2592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Sixth Outline Level</a:t>
            </a:r>
            <a:endParaRPr b="0" lang="en-US" sz="1810" spc="-1" strike="noStrike">
              <a:latin typeface="Arial"/>
            </a:endParaRPr>
          </a:p>
          <a:p>
            <a:pPr lvl="6" marL="3024000" indent="-216000">
              <a:spcBef>
                <a:spcPts val="25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10" spc="-1" strike="noStrike">
                <a:latin typeface="Arial"/>
              </a:rPr>
              <a:t>Seventh Outline Level</a:t>
            </a:r>
            <a:endParaRPr b="0" lang="en-US" sz="181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jpe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0" y="360"/>
            <a:ext cx="4633200" cy="5143320"/>
          </a:xfrm>
          <a:prstGeom prst="rect">
            <a:avLst/>
          </a:prstGeom>
          <a:ln w="0">
            <a:noFill/>
          </a:ln>
        </p:spPr>
      </p:pic>
      <p:sp>
        <p:nvSpPr>
          <p:cNvPr id="153" name="Google Shape;54;p13"/>
          <p:cNvSpPr/>
          <p:nvPr/>
        </p:nvSpPr>
        <p:spPr>
          <a:xfrm>
            <a:off x="4633200" y="12600"/>
            <a:ext cx="4572000" cy="34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Thinning, hardwood rotation, and 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laminated root rot in Douglas fir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4" name="Google Shape;55;p13"/>
          <p:cNvSpPr/>
          <p:nvPr/>
        </p:nvSpPr>
        <p:spPr>
          <a:xfrm>
            <a:off x="4885200" y="3742200"/>
            <a:ext cx="411480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1000"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en" sz="2000" spc="-1" strike="noStrike">
                <a:solidFill>
                  <a:srgbClr val="222222"/>
                </a:solidFill>
                <a:highlight>
                  <a:srgbClr val="f8f8f8"/>
                </a:highlight>
                <a:latin typeface="Oswald"/>
                <a:ea typeface="Oswald"/>
              </a:rPr>
              <a:t>David Showalter, Shawn McMurtrey, Anna Leon, John Browning, Michael McWilliams, Blakey Lockman, Everett Hansen,  Jared LeBoldus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64;p14"/>
          <p:cNvSpPr/>
          <p:nvPr/>
        </p:nvSpPr>
        <p:spPr>
          <a:xfrm>
            <a:off x="-4680" y="224280"/>
            <a:ext cx="5490720" cy="68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17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Laminated Root Rot (LRR)</a:t>
            </a: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56" name="Google Shape;65;p14" descr=""/>
          <p:cNvPicPr/>
          <p:nvPr/>
        </p:nvPicPr>
        <p:blipFill>
          <a:blip r:embed="rId1"/>
          <a:stretch/>
        </p:blipFill>
        <p:spPr>
          <a:xfrm>
            <a:off x="4703760" y="2838240"/>
            <a:ext cx="4259160" cy="2052000"/>
          </a:xfrm>
          <a:prstGeom prst="rect">
            <a:avLst/>
          </a:prstGeom>
          <a:ln w="0">
            <a:noFill/>
          </a:ln>
        </p:spPr>
      </p:pic>
      <p:sp>
        <p:nvSpPr>
          <p:cNvPr id="157" name="Google Shape;66;p14"/>
          <p:cNvSpPr/>
          <p:nvPr/>
        </p:nvSpPr>
        <p:spPr>
          <a:xfrm>
            <a:off x="353160" y="1101960"/>
            <a:ext cx="8672760" cy="18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i="1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Coniferiporia sulphurascens </a:t>
            </a: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(Basidiomycota:Agaricomycetes)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Several coniferous hosts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Both saprophytic and parasitic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Spread through root to root contact between trees and/or stumps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Disease of the site, for 50 years (Hansen, 1976)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1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Root rot pockets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Google Shape;67;p14"/>
          <p:cNvSpPr/>
          <p:nvPr/>
        </p:nvSpPr>
        <p:spPr>
          <a:xfrm>
            <a:off x="4734000" y="473004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68;p14"/>
          <p:cNvSpPr/>
          <p:nvPr/>
        </p:nvSpPr>
        <p:spPr>
          <a:xfrm>
            <a:off x="5226120" y="4668120"/>
            <a:ext cx="284364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24292e"/>
                </a:solidFill>
                <a:highlight>
                  <a:srgbClr val="ffffff"/>
                </a:highlight>
                <a:latin typeface="Arial"/>
                <a:ea typeface="Arial"/>
              </a:rPr>
              <a:t>Sturrock &amp; Garbutt, 1994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60" name="Google Shape;69;p14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1" name="Google Shape;70;p14" descr=""/>
          <p:cNvPicPr/>
          <p:nvPr/>
        </p:nvPicPr>
        <p:blipFill>
          <a:blip r:embed="rId2"/>
          <a:stretch/>
        </p:blipFill>
        <p:spPr>
          <a:xfrm>
            <a:off x="6829200" y="51480"/>
            <a:ext cx="1823040" cy="2361960"/>
          </a:xfrm>
          <a:prstGeom prst="rect">
            <a:avLst/>
          </a:prstGeom>
          <a:ln w="0">
            <a:noFill/>
          </a:ln>
        </p:spPr>
      </p:pic>
      <p:sp>
        <p:nvSpPr>
          <p:cNvPr id="162" name="Google Shape;71;p14"/>
          <p:cNvSpPr/>
          <p:nvPr/>
        </p:nvSpPr>
        <p:spPr>
          <a:xfrm>
            <a:off x="6752160" y="2311920"/>
            <a:ext cx="197748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1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100" spc="-1" strike="noStrike">
              <a:latin typeface="Arial"/>
            </a:endParaRPr>
          </a:p>
        </p:txBody>
      </p:sp>
      <p:pic>
        <p:nvPicPr>
          <p:cNvPr id="163" name="Google Shape;72;p14" descr=""/>
          <p:cNvPicPr/>
          <p:nvPr/>
        </p:nvPicPr>
        <p:blipFill>
          <a:blip r:embed="rId3"/>
          <a:stretch/>
        </p:blipFill>
        <p:spPr>
          <a:xfrm>
            <a:off x="734400" y="2666160"/>
            <a:ext cx="3968640" cy="2171880"/>
          </a:xfrm>
          <a:prstGeom prst="rect">
            <a:avLst/>
          </a:prstGeom>
          <a:ln w="0">
            <a:noFill/>
          </a:ln>
        </p:spPr>
      </p:pic>
      <p:sp>
        <p:nvSpPr>
          <p:cNvPr id="164" name="Google Shape;73;p14"/>
          <p:cNvSpPr/>
          <p:nvPr/>
        </p:nvSpPr>
        <p:spPr>
          <a:xfrm>
            <a:off x="778680" y="4730040"/>
            <a:ext cx="36478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50" spc="-1" strike="noStrike">
                <a:solidFill>
                  <a:srgbClr val="002145"/>
                </a:solidFill>
                <a:highlight>
                  <a:srgbClr val="ffffff"/>
                </a:highlight>
                <a:latin typeface="Arial"/>
                <a:ea typeface="Arial"/>
              </a:rPr>
              <a:t>Dr. Richard Hamelin &amp; Dr. Allan Carroll</a:t>
            </a:r>
            <a:endParaRPr b="0" lang="en-US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78;p15"/>
          <p:cNvSpPr/>
          <p:nvPr/>
        </p:nvSpPr>
        <p:spPr>
          <a:xfrm>
            <a:off x="-16574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Signs and Symptoms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66" name="Google Shape;79;p15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Google Shape;80;p15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Google Shape;81;p15" descr=""/>
          <p:cNvPicPr/>
          <p:nvPr/>
        </p:nvPicPr>
        <p:blipFill>
          <a:blip r:embed="rId1"/>
          <a:stretch/>
        </p:blipFill>
        <p:spPr>
          <a:xfrm>
            <a:off x="160560" y="1244880"/>
            <a:ext cx="3047760" cy="3198240"/>
          </a:xfrm>
          <a:prstGeom prst="rect">
            <a:avLst/>
          </a:prstGeom>
          <a:ln w="0">
            <a:noFill/>
          </a:ln>
        </p:spPr>
      </p:pic>
      <p:pic>
        <p:nvPicPr>
          <p:cNvPr id="169" name="Google Shape;82;p15" descr=""/>
          <p:cNvPicPr/>
          <p:nvPr/>
        </p:nvPicPr>
        <p:blipFill>
          <a:blip r:embed="rId2"/>
          <a:stretch/>
        </p:blipFill>
        <p:spPr>
          <a:xfrm>
            <a:off x="3460320" y="2957760"/>
            <a:ext cx="2831760" cy="1917000"/>
          </a:xfrm>
          <a:prstGeom prst="rect">
            <a:avLst/>
          </a:prstGeom>
          <a:ln w="0">
            <a:noFill/>
          </a:ln>
        </p:spPr>
      </p:pic>
      <p:sp>
        <p:nvSpPr>
          <p:cNvPr id="170" name="Google Shape;83;p15"/>
          <p:cNvSpPr/>
          <p:nvPr/>
        </p:nvSpPr>
        <p:spPr>
          <a:xfrm>
            <a:off x="3368520" y="4789080"/>
            <a:ext cx="35506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David Shaw, pnwhandbooks.org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1" name="Google Shape;84;p15" descr=""/>
          <p:cNvPicPr/>
          <p:nvPr/>
        </p:nvPicPr>
        <p:blipFill>
          <a:blip r:embed="rId3"/>
          <a:stretch/>
        </p:blipFill>
        <p:spPr>
          <a:xfrm>
            <a:off x="6544080" y="2746800"/>
            <a:ext cx="2530440" cy="2127960"/>
          </a:xfrm>
          <a:prstGeom prst="rect">
            <a:avLst/>
          </a:prstGeom>
          <a:ln w="0">
            <a:noFill/>
          </a:ln>
        </p:spPr>
      </p:pic>
      <p:sp>
        <p:nvSpPr>
          <p:cNvPr id="172" name="Google Shape;85;p15"/>
          <p:cNvSpPr/>
          <p:nvPr/>
        </p:nvSpPr>
        <p:spPr>
          <a:xfrm>
            <a:off x="469080" y="4444200"/>
            <a:ext cx="27396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Near Waldo Lake, OR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Google Shape;86;p15"/>
          <p:cNvSpPr/>
          <p:nvPr/>
        </p:nvSpPr>
        <p:spPr>
          <a:xfrm>
            <a:off x="6166800" y="2217600"/>
            <a:ext cx="19774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Kevin Zobrist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174" name="Google Shape;87;p15" descr=""/>
          <p:cNvPicPr/>
          <p:nvPr/>
        </p:nvPicPr>
        <p:blipFill>
          <a:blip r:embed="rId4"/>
          <a:stretch/>
        </p:blipFill>
        <p:spPr>
          <a:xfrm>
            <a:off x="6243120" y="173880"/>
            <a:ext cx="2831760" cy="2127960"/>
          </a:xfrm>
          <a:prstGeom prst="rect">
            <a:avLst/>
          </a:prstGeom>
          <a:ln w="0">
            <a:noFill/>
          </a:ln>
        </p:spPr>
      </p:pic>
      <p:pic>
        <p:nvPicPr>
          <p:cNvPr id="175" name="Google Shape;88;p15" descr=""/>
          <p:cNvPicPr/>
          <p:nvPr/>
        </p:nvPicPr>
        <p:blipFill>
          <a:blip r:embed="rId5"/>
          <a:stretch/>
        </p:blipFill>
        <p:spPr>
          <a:xfrm>
            <a:off x="3759480" y="1034640"/>
            <a:ext cx="2057040" cy="180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78;p15_0"/>
          <p:cNvSpPr/>
          <p:nvPr/>
        </p:nvSpPr>
        <p:spPr>
          <a:xfrm>
            <a:off x="516600" y="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Impacts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7" name="Google Shape;79;p15_0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80;p15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"/>
          <p:cNvSpPr txBox="1"/>
          <p:nvPr/>
        </p:nvSpPr>
        <p:spPr>
          <a:xfrm>
            <a:off x="346680" y="11430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Most damaging root rot of </a:t>
            </a:r>
            <a:r>
              <a:rPr b="0" i="1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Pseudotsuga menziesii </a:t>
            </a: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 PNW.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Infected sites result in a 40% - 70% reduction in wood volume 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Oregon timber industry, $12 billion annually, over 58,000 jobs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2971800"/>
            <a:ext cx="90259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Buffer cutting, thinning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Inoculum removal (stumping)</a:t>
            </a:r>
            <a:endParaRPr b="0" lang="en-US" sz="185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185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</a:rPr>
              <a:t>Rotating less suceptible host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81" name="Google Shape;78;p15_1"/>
          <p:cNvSpPr/>
          <p:nvPr/>
        </p:nvSpPr>
        <p:spPr>
          <a:xfrm>
            <a:off x="516600" y="2016000"/>
            <a:ext cx="571500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Management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rcRect l="0" t="0" r="0" b="10773"/>
          <a:stretch/>
        </p:blipFill>
        <p:spPr>
          <a:xfrm>
            <a:off x="4177080" y="1956960"/>
            <a:ext cx="2319120" cy="2843280"/>
          </a:xfrm>
          <a:prstGeom prst="rect">
            <a:avLst/>
          </a:prstGeom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6430320" y="2057400"/>
            <a:ext cx="1818720" cy="2743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53;p21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Thinning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5" name="Google Shape;154;p21"/>
          <p:cNvSpPr/>
          <p:nvPr/>
        </p:nvSpPr>
        <p:spPr>
          <a:xfrm>
            <a:off x="160560" y="4759200"/>
            <a:ext cx="3143160" cy="24516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Google Shape;155;p21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56;p21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57;p21"/>
          <p:cNvSpPr/>
          <p:nvPr/>
        </p:nvSpPr>
        <p:spPr>
          <a:xfrm>
            <a:off x="705960" y="913320"/>
            <a:ext cx="5564160" cy="1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Benefits the local economy and wildlife.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Help prevent fire spreading to crowns of larger trees.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health and reduces some disease threats.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Improve vegetation diversity of the forest floor.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Increase tree growth and vigor of remaining trees.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9" name="Google Shape;158;p21"/>
          <p:cNvSpPr/>
          <p:nvPr/>
        </p:nvSpPr>
        <p:spPr>
          <a:xfrm>
            <a:off x="1479240" y="264600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Google Shape;159;p21"/>
          <p:cNvSpPr/>
          <p:nvPr/>
        </p:nvSpPr>
        <p:spPr>
          <a:xfrm>
            <a:off x="3444480" y="2715480"/>
            <a:ext cx="359280" cy="179604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91" name="Google Shape;160;p21" descr=""/>
          <p:cNvPicPr/>
          <p:nvPr/>
        </p:nvPicPr>
        <p:blipFill>
          <a:blip r:embed="rId1"/>
          <a:stretch/>
        </p:blipFill>
        <p:spPr>
          <a:xfrm>
            <a:off x="551520" y="2715480"/>
            <a:ext cx="2573280" cy="1945800"/>
          </a:xfrm>
          <a:prstGeom prst="rect">
            <a:avLst/>
          </a:prstGeom>
          <a:ln w="0">
            <a:noFill/>
          </a:ln>
        </p:spPr>
      </p:pic>
      <p:pic>
        <p:nvPicPr>
          <p:cNvPr id="192" name="Google Shape;161;p21" descr=""/>
          <p:cNvPicPr/>
          <p:nvPr/>
        </p:nvPicPr>
        <p:blipFill>
          <a:blip r:embed="rId2"/>
          <a:stretch/>
        </p:blipFill>
        <p:spPr>
          <a:xfrm>
            <a:off x="3355920" y="2715480"/>
            <a:ext cx="2602800" cy="1945800"/>
          </a:xfrm>
          <a:prstGeom prst="rect">
            <a:avLst/>
          </a:prstGeom>
          <a:ln w="0">
            <a:noFill/>
          </a:ln>
        </p:spPr>
      </p:pic>
      <p:pic>
        <p:nvPicPr>
          <p:cNvPr id="193" name="Google Shape;162;p21" descr=""/>
          <p:cNvPicPr/>
          <p:nvPr/>
        </p:nvPicPr>
        <p:blipFill>
          <a:blip r:embed="rId3"/>
          <a:stretch/>
        </p:blipFill>
        <p:spPr>
          <a:xfrm>
            <a:off x="6125040" y="2715480"/>
            <a:ext cx="2599200" cy="1945800"/>
          </a:xfrm>
          <a:prstGeom prst="rect">
            <a:avLst/>
          </a:prstGeom>
          <a:ln w="0">
            <a:noFill/>
          </a:ln>
        </p:spPr>
      </p:pic>
      <p:sp>
        <p:nvSpPr>
          <p:cNvPr id="194" name="Google Shape;163;p21"/>
          <p:cNvSpPr/>
          <p:nvPr/>
        </p:nvSpPr>
        <p:spPr>
          <a:xfrm>
            <a:off x="551520" y="4720680"/>
            <a:ext cx="41713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Source and illustrations: US Forest Service, 2020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12;p18"/>
          <p:cNvSpPr/>
          <p:nvPr/>
        </p:nvSpPr>
        <p:spPr>
          <a:xfrm>
            <a:off x="228600" y="228600"/>
            <a:ext cx="6633720" cy="689760"/>
          </a:xfrm>
          <a:prstGeom prst="rect">
            <a:avLst/>
          </a:prstGeom>
          <a:noFill/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 fontScale="91000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Arial"/>
                <a:ea typeface="Arial"/>
              </a:rPr>
              <a:t>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Research Questions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6" name="Google Shape;113;p18_0"/>
          <p:cNvSpPr/>
          <p:nvPr/>
        </p:nvSpPr>
        <p:spPr>
          <a:xfrm>
            <a:off x="363960" y="1048680"/>
            <a:ext cx="8672760" cy="34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15000"/>
              </a:lnSpc>
            </a:pP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thinning treatments in mature stands with high incidence of laminated root rot increase 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growth and/or reduce mortality?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Do rotations of non-host hardwood species in areas with high LRR incidence increase growth and reduce mortality in subsequent Douglas fir plantings?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en-US" sz="1850" spc="-1" strike="noStrike">
              <a:latin typeface="Arial"/>
            </a:endParaRPr>
          </a:p>
          <a:p>
            <a:pPr marL="457200" indent="-3452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How well do the Forest Vegetation Similator and its Western Root Disease Model variant predict long term growth in these stands?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197" name="Google Shape;114;p18_0"/>
          <p:cNvSpPr/>
          <p:nvPr/>
        </p:nvSpPr>
        <p:spPr>
          <a:xfrm flipH="1" rot="10800000">
            <a:off x="588240" y="91980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19;p19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Siuslaw National Forest 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9" name="Google Shape;120;p19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Google Shape;121;p19"/>
          <p:cNvSpPr/>
          <p:nvPr/>
        </p:nvSpPr>
        <p:spPr>
          <a:xfrm>
            <a:off x="705960" y="1073520"/>
            <a:ext cx="5623920" cy="26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Unique ecosystem for surveying of LRR.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was clear cut between 1910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and 1920.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Area burned after reharvest, reestablished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from seed (Tkacz &amp; Hansen, 1982).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  <a:p>
            <a:pPr marL="457200" indent="-329400">
              <a:lnSpc>
                <a:spcPct val="75000"/>
              </a:lnSpc>
              <a:buClr>
                <a:srgbClr val="000000"/>
              </a:buClr>
              <a:buFont typeface="Arial"/>
              <a:buChar char="-"/>
              <a:tabLst>
                <a:tab algn="l" pos="0"/>
              </a:tabLst>
            </a:pPr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Study area is ~400 acres. </a:t>
            </a:r>
            <a:br/>
            <a:r>
              <a:rPr b="0" lang="en" sz="16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600" spc="-1" strike="noStrike">
              <a:latin typeface="Arial"/>
            </a:endParaRPr>
          </a:p>
          <a:p>
            <a:pPr marL="457200">
              <a:lnSpc>
                <a:spcPct val="75000"/>
              </a:lnSpc>
              <a:tabLst>
                <a:tab algn="l" pos="0"/>
              </a:tabLst>
            </a:pPr>
            <a:br/>
            <a:endParaRPr b="0" lang="en-US" sz="16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latin typeface="Arial"/>
            </a:endParaRPr>
          </a:p>
        </p:txBody>
      </p:sp>
      <p:pic>
        <p:nvPicPr>
          <p:cNvPr id="201" name="Google Shape;122;p19" descr=""/>
          <p:cNvPicPr/>
          <p:nvPr/>
        </p:nvPicPr>
        <p:blipFill>
          <a:blip r:embed="rId1"/>
          <a:stretch/>
        </p:blipFill>
        <p:spPr>
          <a:xfrm>
            <a:off x="5689800" y="1073520"/>
            <a:ext cx="2937960" cy="391896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123;p19"/>
          <p:cNvSpPr/>
          <p:nvPr/>
        </p:nvSpPr>
        <p:spPr>
          <a:xfrm>
            <a:off x="160560" y="459864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Google Shape;124;p19"/>
          <p:cNvSpPr/>
          <p:nvPr/>
        </p:nvSpPr>
        <p:spPr>
          <a:xfrm>
            <a:off x="611640" y="47286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04" name="Google Shape;125;p19" descr=""/>
          <p:cNvPicPr/>
          <p:nvPr/>
        </p:nvPicPr>
        <p:blipFill>
          <a:blip r:embed="rId2"/>
          <a:stretch/>
        </p:blipFill>
        <p:spPr>
          <a:xfrm>
            <a:off x="1173600" y="3025440"/>
            <a:ext cx="3289680" cy="1941840"/>
          </a:xfrm>
          <a:prstGeom prst="rect">
            <a:avLst/>
          </a:prstGeom>
          <a:ln w="0">
            <a:noFill/>
          </a:ln>
        </p:spPr>
      </p:pic>
      <p:sp>
        <p:nvSpPr>
          <p:cNvPr id="205" name="Google Shape;126;p19"/>
          <p:cNvSpPr/>
          <p:nvPr/>
        </p:nvSpPr>
        <p:spPr>
          <a:xfrm>
            <a:off x="1461240" y="3509640"/>
            <a:ext cx="104544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Study site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6" name="Google Shape;127;p19"/>
          <p:cNvSpPr/>
          <p:nvPr/>
        </p:nvSpPr>
        <p:spPr>
          <a:xfrm flipH="1" rot="10800000">
            <a:off x="2228040" y="3440520"/>
            <a:ext cx="223560" cy="1591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128;p19"/>
          <p:cNvSpPr/>
          <p:nvPr/>
        </p:nvSpPr>
        <p:spPr>
          <a:xfrm>
            <a:off x="1161720" y="3038760"/>
            <a:ext cx="360" cy="1953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129;p19"/>
          <p:cNvSpPr/>
          <p:nvPr/>
        </p:nvSpPr>
        <p:spPr>
          <a:xfrm flipH="1" rot="10800000">
            <a:off x="1153440" y="3016800"/>
            <a:ext cx="3318480" cy="15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130;p19"/>
          <p:cNvSpPr/>
          <p:nvPr/>
        </p:nvSpPr>
        <p:spPr>
          <a:xfrm rot="10800000">
            <a:off x="4461840" y="3016800"/>
            <a:ext cx="4680" cy="1960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131;p19"/>
          <p:cNvSpPr/>
          <p:nvPr/>
        </p:nvSpPr>
        <p:spPr>
          <a:xfrm flipH="1" rot="10800000">
            <a:off x="1159200" y="4968360"/>
            <a:ext cx="3318120" cy="57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132;p19"/>
          <p:cNvSpPr/>
          <p:nvPr/>
        </p:nvSpPr>
        <p:spPr>
          <a:xfrm>
            <a:off x="4478040" y="458136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133;p19"/>
          <p:cNvSpPr/>
          <p:nvPr/>
        </p:nvSpPr>
        <p:spPr>
          <a:xfrm>
            <a:off x="5619960" y="4924800"/>
            <a:ext cx="218952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900" spc="-1" strike="noStrike">
                <a:solidFill>
                  <a:srgbClr val="000000"/>
                </a:solidFill>
                <a:latin typeface="Arial"/>
                <a:ea typeface="Arial"/>
              </a:rPr>
              <a:t>Adam Carson</a:t>
            </a:r>
            <a:endParaRPr b="0" lang="en-US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138;p20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Woods Creek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4" name="Google Shape;139;p20"/>
          <p:cNvSpPr/>
          <p:nvPr/>
        </p:nvSpPr>
        <p:spPr>
          <a:xfrm>
            <a:off x="0" y="1070640"/>
            <a:ext cx="9144000" cy="27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Relatively mature mixed Douglas fir forest, ~65y old at establishment in 1985.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15 stands and 75 plots over 162 hectares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Thinning treatments applied to stands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ranging from ~15-35 acres.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1/25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11.3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aprox. every 5-10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species,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15" name="Google Shape;140;p2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216" name="Google Shape;141;p20" descr=""/>
          <p:cNvPicPr/>
          <p:nvPr/>
        </p:nvPicPr>
        <p:blipFill>
          <a:blip r:embed="rId1"/>
          <a:srcRect l="1635" t="9629" r="31729" b="14860"/>
          <a:stretch/>
        </p:blipFill>
        <p:spPr>
          <a:xfrm>
            <a:off x="5029200" y="1600200"/>
            <a:ext cx="3885840" cy="3403440"/>
          </a:xfrm>
          <a:prstGeom prst="rect">
            <a:avLst/>
          </a:prstGeom>
          <a:ln w="0">
            <a:noFill/>
          </a:ln>
        </p:spPr>
      </p:pic>
      <p:sp>
        <p:nvSpPr>
          <p:cNvPr id="217" name="Google Shape;142;p2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Google Shape;143;p2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Google Shape;144;p20"/>
          <p:cNvSpPr/>
          <p:nvPr/>
        </p:nvSpPr>
        <p:spPr>
          <a:xfrm>
            <a:off x="586080" y="47808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Google Shape;145;p2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Google Shape;146;p20"/>
          <p:cNvSpPr/>
          <p:nvPr/>
        </p:nvSpPr>
        <p:spPr>
          <a:xfrm flipH="1" rot="10800000">
            <a:off x="5961600" y="1788120"/>
            <a:ext cx="256320" cy="7837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Google Shape;147;p20"/>
          <p:cNvSpPr/>
          <p:nvPr/>
        </p:nvSpPr>
        <p:spPr>
          <a:xfrm>
            <a:off x="5529600" y="1523160"/>
            <a:ext cx="18716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000" spc="-1" strike="noStrike">
                <a:solidFill>
                  <a:srgbClr val="000000"/>
                </a:solidFill>
                <a:latin typeface="Arial"/>
                <a:ea typeface="Arial"/>
              </a:rPr>
              <a:t>Woods Creek Trailhead</a:t>
            </a:r>
            <a:endParaRPr b="0" lang="en-US" sz="1000" spc="-1" strike="noStrike">
              <a:latin typeface="Arial"/>
            </a:endParaRPr>
          </a:p>
        </p:txBody>
      </p:sp>
      <p:pic>
        <p:nvPicPr>
          <p:cNvPr id="223" name="Google Shape;148;p20" descr=""/>
          <p:cNvPicPr/>
          <p:nvPr/>
        </p:nvPicPr>
        <p:blipFill>
          <a:blip r:embed="rId2"/>
          <a:stretch/>
        </p:blipFill>
        <p:spPr>
          <a:xfrm>
            <a:off x="2190240" y="3049920"/>
            <a:ext cx="2643840" cy="1982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188;p25"/>
          <p:cNvSpPr/>
          <p:nvPr/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Google Shape;189;p25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6" name="Google Shape;190;p25" descr=""/>
          <p:cNvPicPr/>
          <p:nvPr/>
        </p:nvPicPr>
        <p:blipFill>
          <a:blip r:embed="rId1"/>
          <a:stretch/>
        </p:blipFill>
        <p:spPr>
          <a:xfrm>
            <a:off x="1244880" y="0"/>
            <a:ext cx="6653520" cy="5142600"/>
          </a:xfrm>
          <a:prstGeom prst="rect">
            <a:avLst/>
          </a:prstGeom>
          <a:ln w="0">
            <a:noFill/>
          </a:ln>
        </p:spPr>
      </p:pic>
      <p:sp>
        <p:nvSpPr>
          <p:cNvPr id="227" name="Google Shape;191;p25"/>
          <p:cNvSpPr/>
          <p:nvPr/>
        </p:nvSpPr>
        <p:spPr>
          <a:xfrm>
            <a:off x="7684200" y="3124080"/>
            <a:ext cx="13384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(Hansen, 1978. Line intercept survey. Bloomberg et al., 1980.)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138;p20_0"/>
          <p:cNvSpPr/>
          <p:nvPr/>
        </p:nvSpPr>
        <p:spPr>
          <a:xfrm>
            <a:off x="-977040" y="-1133640"/>
            <a:ext cx="8519760" cy="20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               </a:t>
            </a:r>
            <a:r>
              <a:rPr b="0" lang="en" sz="3600" spc="-1" strike="noStrike">
                <a:solidFill>
                  <a:srgbClr val="000000"/>
                </a:solidFill>
                <a:latin typeface="Oswald"/>
                <a:ea typeface="Oswald"/>
              </a:rPr>
              <a:t>Apiary Study Area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29" name="Google Shape;139;p20_0"/>
          <p:cNvSpPr/>
          <p:nvPr/>
        </p:nvSpPr>
        <p:spPr>
          <a:xfrm>
            <a:off x="0" y="1070640"/>
            <a:ext cx="8915400" cy="25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spAutoFit/>
          </a:bodyPr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Newly planted Douglas fir following clearcut of mixed Douglas fir forest with high LRR incidence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Network of 25 stands and 125 plots over 14 hectares in Columbia County in far NW Oregon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Roation treatments applied to stands 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Circular 1/50 hectare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sample plot , 8 m radius.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Measured sporatically, every 8-24 years</a:t>
            </a:r>
            <a:endParaRPr b="0" lang="en-US" sz="1500" spc="-1" strike="noStrike">
              <a:latin typeface="Arial"/>
            </a:endParaRPr>
          </a:p>
          <a:p>
            <a:pPr marL="457200" indent="-323280">
              <a:lnSpc>
                <a:spcPct val="100000"/>
              </a:lnSpc>
              <a:buClr>
                <a:srgbClr val="000000"/>
              </a:buClr>
              <a:buFont typeface="Arial"/>
              <a:buChar char="-"/>
            </a:pP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Data recorded was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diameter at </a:t>
            </a:r>
            <a:br/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breast height (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), and</a:t>
            </a: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tree health </a:t>
            </a:r>
            <a:br/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condition.</a:t>
            </a:r>
            <a:r>
              <a:rPr b="0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br/>
            <a:r>
              <a:rPr b="0" lang="en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  <p:sp>
        <p:nvSpPr>
          <p:cNvPr id="230" name="Google Shape;140;p20_0"/>
          <p:cNvSpPr/>
          <p:nvPr/>
        </p:nvSpPr>
        <p:spPr>
          <a:xfrm>
            <a:off x="135000" y="4650480"/>
            <a:ext cx="3402720" cy="2656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Google Shape;142;p20_0"/>
          <p:cNvSpPr/>
          <p:nvPr/>
        </p:nvSpPr>
        <p:spPr>
          <a:xfrm>
            <a:off x="4588200" y="4574520"/>
            <a:ext cx="481212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Google Shape;143;p20_0"/>
          <p:cNvSpPr/>
          <p:nvPr/>
        </p:nvSpPr>
        <p:spPr>
          <a:xfrm flipH="1" rot="10800000">
            <a:off x="705960" y="904320"/>
            <a:ext cx="5388840" cy="1008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Google Shape;144;p20_0"/>
          <p:cNvSpPr/>
          <p:nvPr/>
        </p:nvSpPr>
        <p:spPr>
          <a:xfrm>
            <a:off x="586080" y="4780800"/>
            <a:ext cx="2745000" cy="195480"/>
          </a:xfrm>
          <a:prstGeom prst="rect">
            <a:avLst/>
          </a:prstGeom>
          <a:solidFill>
            <a:schemeClr val="lt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Google Shape;145;p20_0"/>
          <p:cNvSpPr/>
          <p:nvPr/>
        </p:nvSpPr>
        <p:spPr>
          <a:xfrm>
            <a:off x="4452480" y="4633200"/>
            <a:ext cx="420228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5" name="" descr=""/>
          <p:cNvPicPr/>
          <p:nvPr/>
        </p:nvPicPr>
        <p:blipFill>
          <a:blip r:embed="rId1"/>
          <a:srcRect l="0" t="756" r="1495" b="336"/>
          <a:stretch/>
        </p:blipFill>
        <p:spPr>
          <a:xfrm>
            <a:off x="5486400" y="1791360"/>
            <a:ext cx="3565800" cy="324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" descr=""/>
          <p:cNvPicPr/>
          <p:nvPr/>
        </p:nvPicPr>
        <p:blipFill>
          <a:blip r:embed="rId1"/>
          <a:stretch/>
        </p:blipFill>
        <p:spPr>
          <a:xfrm>
            <a:off x="12600" y="114120"/>
            <a:ext cx="7183440" cy="4915080"/>
          </a:xfrm>
          <a:prstGeom prst="rect">
            <a:avLst/>
          </a:prstGeom>
          <a:ln w="0">
            <a:noFill/>
          </a:ln>
        </p:spPr>
      </p:pic>
      <p:pic>
        <p:nvPicPr>
          <p:cNvPr id="237" name="" descr=""/>
          <p:cNvPicPr/>
          <p:nvPr/>
        </p:nvPicPr>
        <p:blipFill>
          <a:blip r:embed="rId2"/>
          <a:srcRect l="8788" t="72073" r="84463" b="8200"/>
          <a:stretch/>
        </p:blipFill>
        <p:spPr>
          <a:xfrm>
            <a:off x="7196040" y="114120"/>
            <a:ext cx="1828440" cy="3657240"/>
          </a:xfrm>
          <a:prstGeom prst="rect">
            <a:avLst/>
          </a:prstGeom>
          <a:ln w="0">
            <a:noFill/>
          </a:ln>
        </p:spPr>
      </p:pic>
      <p:sp>
        <p:nvSpPr>
          <p:cNvPr id="238" name=""/>
          <p:cNvSpPr/>
          <p:nvPr/>
        </p:nvSpPr>
        <p:spPr>
          <a:xfrm flipV="1">
            <a:off x="685800" y="114120"/>
            <a:ext cx="6858000" cy="3543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"/>
          <p:cNvSpPr/>
          <p:nvPr/>
        </p:nvSpPr>
        <p:spPr>
          <a:xfrm flipV="1">
            <a:off x="1143000" y="3771360"/>
            <a:ext cx="7881480" cy="1029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40" name=""/>
          <p:cNvSpPr/>
          <p:nvPr/>
        </p:nvSpPr>
        <p:spPr>
          <a:xfrm>
            <a:off x="649800" y="3657600"/>
            <a:ext cx="493200" cy="1143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" descr=""/>
          <p:cNvPicPr/>
          <p:nvPr/>
        </p:nvPicPr>
        <p:blipFill>
          <a:blip r:embed="rId1"/>
          <a:srcRect l="4000" t="0" r="40000" b="0"/>
          <a:stretch/>
        </p:blipFill>
        <p:spPr>
          <a:xfrm>
            <a:off x="4800960" y="1514880"/>
            <a:ext cx="3199680" cy="3513960"/>
          </a:xfrm>
          <a:prstGeom prst="rect">
            <a:avLst/>
          </a:prstGeom>
          <a:ln w="0">
            <a:noFill/>
          </a:ln>
        </p:spPr>
      </p:pic>
      <p:sp>
        <p:nvSpPr>
          <p:cNvPr id="242" name=""/>
          <p:cNvSpPr/>
          <p:nvPr/>
        </p:nvSpPr>
        <p:spPr>
          <a:xfrm>
            <a:off x="228600" y="914400"/>
            <a:ext cx="36572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Diameter at breast height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DBH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(cm or in)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1-dimesional ~ distance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4114800" y="914400"/>
            <a:ext cx="29714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Tree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area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229320" y="228600"/>
            <a:ext cx="6856920" cy="6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3600" spc="-1" strike="noStrike">
                <a:solidFill>
                  <a:srgbClr val="000000"/>
                </a:solidFill>
                <a:latin typeface="Arial"/>
              </a:rPr>
              <a:t>Forestry Biometrics 101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245" name="" descr=""/>
          <p:cNvPicPr/>
          <p:nvPr/>
        </p:nvPicPr>
        <p:blipFill>
          <a:blip r:embed="rId2"/>
          <a:stretch/>
        </p:blipFill>
        <p:spPr>
          <a:xfrm>
            <a:off x="885960" y="1828800"/>
            <a:ext cx="2314080" cy="308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" descr=""/>
          <p:cNvPicPr/>
          <p:nvPr/>
        </p:nvPicPr>
        <p:blipFill>
          <a:blip r:embed="rId1"/>
          <a:stretch/>
        </p:blipFill>
        <p:spPr>
          <a:xfrm>
            <a:off x="495000" y="612000"/>
            <a:ext cx="8229240" cy="4416840"/>
          </a:xfrm>
          <a:prstGeom prst="rect">
            <a:avLst/>
          </a:prstGeom>
          <a:ln w="0">
            <a:noFill/>
          </a:ln>
        </p:spPr>
      </p:pic>
      <p:sp>
        <p:nvSpPr>
          <p:cNvPr id="247" name=""/>
          <p:cNvSpPr/>
          <p:nvPr/>
        </p:nvSpPr>
        <p:spPr>
          <a:xfrm>
            <a:off x="228600" y="11988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basal area (</a:t>
            </a:r>
            <a:r>
              <a:rPr b="1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BA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/hectare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2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/acre)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2-D ~ density</a:t>
            </a:r>
            <a:endParaRPr b="0" lang="en-US" sz="1850" spc="-1" strike="noStrike"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3429000" y="119880"/>
            <a:ext cx="3428640" cy="61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Stand &gt; plot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>
            <a:off x="228600" y="232920"/>
            <a:ext cx="1828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Wood Volume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 or ft</a:t>
            </a:r>
            <a:r>
              <a:rPr b="0" lang="en" sz="1850" spc="-1" strike="noStrike" baseline="33000">
                <a:solidFill>
                  <a:srgbClr val="000000"/>
                </a:solidFill>
                <a:latin typeface="Arial"/>
                <a:ea typeface="Arial"/>
              </a:rPr>
              <a:t>3</a:t>
            </a: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3-D</a:t>
            </a:r>
            <a:endParaRPr b="0" lang="en-US" sz="1850" spc="-1" strike="noStrike">
              <a:latin typeface="Arial"/>
            </a:endParaRPr>
          </a:p>
        </p:txBody>
      </p:sp>
      <p:pic>
        <p:nvPicPr>
          <p:cNvPr id="250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5578560" cy="4087800"/>
          </a:xfrm>
          <a:prstGeom prst="rect">
            <a:avLst/>
          </a:prstGeom>
          <a:ln w="0">
            <a:noFill/>
          </a:ln>
        </p:spPr>
      </p:pic>
      <p:pic>
        <p:nvPicPr>
          <p:cNvPr id="251" name="" descr=""/>
          <p:cNvPicPr/>
          <p:nvPr/>
        </p:nvPicPr>
        <p:blipFill>
          <a:blip r:embed="rId2"/>
          <a:srcRect l="0" t="0" r="52533" b="0"/>
          <a:stretch/>
        </p:blipFill>
        <p:spPr>
          <a:xfrm>
            <a:off x="228600" y="1371600"/>
            <a:ext cx="2514240" cy="341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"/>
          <p:cNvSpPr/>
          <p:nvPr/>
        </p:nvSpPr>
        <p:spPr>
          <a:xfrm>
            <a:off x="156600" y="410400"/>
            <a:ext cx="3428640" cy="8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Increment</a:t>
            </a:r>
            <a:br/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(metric/time)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rate or slope ~ growth</a:t>
            </a:r>
            <a:endParaRPr b="0" lang="en-US" sz="1850" spc="-1" strike="noStrike">
              <a:latin typeface="Arial"/>
            </a:endParaRPr>
          </a:p>
        </p:txBody>
      </p:sp>
      <p:grpSp>
        <p:nvGrpSpPr>
          <p:cNvPr id="253" name=""/>
          <p:cNvGrpSpPr/>
          <p:nvPr/>
        </p:nvGrpSpPr>
        <p:grpSpPr>
          <a:xfrm>
            <a:off x="45000" y="1600200"/>
            <a:ext cx="5210640" cy="3183480"/>
            <a:chOff x="45000" y="1600200"/>
            <a:chExt cx="5210640" cy="3183480"/>
          </a:xfrm>
        </p:grpSpPr>
        <p:pic>
          <p:nvPicPr>
            <p:cNvPr id="254" name="" descr=""/>
            <p:cNvPicPr/>
            <p:nvPr/>
          </p:nvPicPr>
          <p:blipFill>
            <a:blip r:embed="rId1"/>
            <a:stretch/>
          </p:blipFill>
          <p:spPr>
            <a:xfrm>
              <a:off x="106200" y="1924560"/>
              <a:ext cx="4970520" cy="28591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5" name=""/>
            <p:cNvSpPr/>
            <p:nvPr/>
          </p:nvSpPr>
          <p:spPr>
            <a:xfrm>
              <a:off x="450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00a0fc"/>
                  </a:solidFill>
                  <a:latin typeface="Arial"/>
                  <a:ea typeface="Arial"/>
                </a:rPr>
                <a:t>ΔDBH/year </a:t>
              </a:r>
              <a:endParaRPr b="0" lang="en-US" sz="1850" spc="-1" strike="noStrike">
                <a:latin typeface="Arial"/>
              </a:endParaRPr>
            </a:p>
          </p:txBody>
        </p:sp>
        <p:sp>
          <p:nvSpPr>
            <p:cNvPr id="256" name=""/>
            <p:cNvSpPr/>
            <p:nvPr/>
          </p:nvSpPr>
          <p:spPr>
            <a:xfrm>
              <a:off x="3884400" y="1600200"/>
              <a:ext cx="1371240" cy="45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8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ΔBA/year</a:t>
              </a:r>
              <a:endParaRPr b="0" lang="en-US" sz="1850" spc="-1" strike="noStrike">
                <a:latin typeface="Arial"/>
              </a:endParaRPr>
            </a:p>
          </p:txBody>
        </p:sp>
      </p:grpSp>
      <p:grpSp>
        <p:nvGrpSpPr>
          <p:cNvPr id="257" name=""/>
          <p:cNvGrpSpPr/>
          <p:nvPr/>
        </p:nvGrpSpPr>
        <p:grpSpPr>
          <a:xfrm>
            <a:off x="5196600" y="1888560"/>
            <a:ext cx="3428640" cy="2911680"/>
            <a:chOff x="5196600" y="1888560"/>
            <a:chExt cx="3428640" cy="2911680"/>
          </a:xfrm>
        </p:grpSpPr>
        <p:pic>
          <p:nvPicPr>
            <p:cNvPr id="258" name="" descr=""/>
            <p:cNvPicPr/>
            <p:nvPr/>
          </p:nvPicPr>
          <p:blipFill>
            <a:blip r:embed="rId2"/>
            <a:stretch/>
          </p:blipFill>
          <p:spPr>
            <a:xfrm>
              <a:off x="5196600" y="1924560"/>
              <a:ext cx="3428640" cy="2875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59" name=""/>
            <p:cNvSpPr/>
            <p:nvPr/>
          </p:nvSpPr>
          <p:spPr>
            <a:xfrm flipV="1">
              <a:off x="6447600" y="2619000"/>
              <a:ext cx="529200" cy="4734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0" name=""/>
            <p:cNvSpPr/>
            <p:nvPr/>
          </p:nvSpPr>
          <p:spPr>
            <a:xfrm flipV="1">
              <a:off x="6039000" y="3200400"/>
              <a:ext cx="264600" cy="64980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1" name=""/>
            <p:cNvSpPr/>
            <p:nvPr/>
          </p:nvSpPr>
          <p:spPr>
            <a:xfrm rot="18980400">
              <a:off x="6362640" y="252396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2" name=""/>
            <p:cNvSpPr/>
            <p:nvPr/>
          </p:nvSpPr>
          <p:spPr>
            <a:xfrm rot="17616600">
              <a:off x="5833800" y="3115800"/>
              <a:ext cx="685440" cy="23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05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105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050" spc="-1" strike="noStrike">
                <a:latin typeface="Arial"/>
              </a:endParaRPr>
            </a:p>
          </p:txBody>
        </p:sp>
        <p:sp>
          <p:nvSpPr>
            <p:cNvPr id="263" name=""/>
            <p:cNvSpPr/>
            <p:nvPr/>
          </p:nvSpPr>
          <p:spPr>
            <a:xfrm flipV="1">
              <a:off x="6039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4" name=""/>
            <p:cNvSpPr/>
            <p:nvPr/>
          </p:nvSpPr>
          <p:spPr>
            <a:xfrm flipV="1">
              <a:off x="6291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5" name=""/>
            <p:cNvSpPr/>
            <p:nvPr/>
          </p:nvSpPr>
          <p:spPr>
            <a:xfrm flipV="1">
              <a:off x="643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6" name=""/>
            <p:cNvSpPr/>
            <p:nvPr/>
          </p:nvSpPr>
          <p:spPr>
            <a:xfrm flipV="1">
              <a:off x="6975000" y="2093400"/>
              <a:ext cx="360" cy="228600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7" name=""/>
            <p:cNvSpPr/>
            <p:nvPr/>
          </p:nvSpPr>
          <p:spPr>
            <a:xfrm>
              <a:off x="6026400" y="190080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268" name=""/>
            <p:cNvSpPr/>
            <p:nvPr/>
          </p:nvSpPr>
          <p:spPr>
            <a:xfrm>
              <a:off x="6566400" y="1888560"/>
              <a:ext cx="408240" cy="274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  <p:sp>
        <p:nvSpPr>
          <p:cNvPr id="269" name=""/>
          <p:cNvSpPr/>
          <p:nvPr/>
        </p:nvSpPr>
        <p:spPr>
          <a:xfrm>
            <a:off x="3198960" y="166320"/>
            <a:ext cx="571428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Relationships beween different metrics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(DBH, height, BA, volume, age, increments) </a:t>
            </a:r>
            <a:endParaRPr b="0" lang="en-US" sz="185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" sz="1850" spc="-1" strike="noStrike">
                <a:solidFill>
                  <a:srgbClr val="000000"/>
                </a:solidFill>
                <a:latin typeface="Arial"/>
                <a:ea typeface="Arial"/>
              </a:rPr>
              <a:t>are context dependent, and active areas of research</a:t>
            </a:r>
            <a:endParaRPr b="0" lang="en-US" sz="1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traight Connector 37_1"/>
          <p:cNvSpPr/>
          <p:nvPr/>
        </p:nvSpPr>
        <p:spPr>
          <a:xfrm>
            <a:off x="47023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Straight Connector 38_0"/>
          <p:cNvSpPr/>
          <p:nvPr/>
        </p:nvSpPr>
        <p:spPr>
          <a:xfrm>
            <a:off x="38728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traight Connector 39_0"/>
          <p:cNvSpPr/>
          <p:nvPr/>
        </p:nvSpPr>
        <p:spPr>
          <a:xfrm>
            <a:off x="30434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traight Connector 40_0"/>
          <p:cNvSpPr/>
          <p:nvPr/>
        </p:nvSpPr>
        <p:spPr>
          <a:xfrm>
            <a:off x="22140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Straight Connector 41_0"/>
          <p:cNvSpPr/>
          <p:nvPr/>
        </p:nvSpPr>
        <p:spPr>
          <a:xfrm>
            <a:off x="553140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Straight Connector 42_0"/>
          <p:cNvSpPr/>
          <p:nvPr/>
        </p:nvSpPr>
        <p:spPr>
          <a:xfrm>
            <a:off x="636084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Straight Connector 43_0"/>
          <p:cNvSpPr/>
          <p:nvPr/>
        </p:nvSpPr>
        <p:spPr>
          <a:xfrm>
            <a:off x="719028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traight Connector 44_0"/>
          <p:cNvSpPr/>
          <p:nvPr/>
        </p:nvSpPr>
        <p:spPr>
          <a:xfrm>
            <a:off x="801972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Straight Connector 45_0"/>
          <p:cNvSpPr/>
          <p:nvPr/>
        </p:nvSpPr>
        <p:spPr>
          <a:xfrm>
            <a:off x="8849160" y="1017000"/>
            <a:ext cx="360" cy="2073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Rectangle 46_0"/>
          <p:cNvSpPr/>
          <p:nvPr/>
        </p:nvSpPr>
        <p:spPr>
          <a:xfrm>
            <a:off x="207720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0" name="Rectangle 47_0"/>
          <p:cNvSpPr/>
          <p:nvPr/>
        </p:nvSpPr>
        <p:spPr>
          <a:xfrm>
            <a:off x="284148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1" name="Rectangle 48_0"/>
          <p:cNvSpPr/>
          <p:nvPr/>
        </p:nvSpPr>
        <p:spPr>
          <a:xfrm>
            <a:off x="36709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2" name="Rectangle 49_0"/>
          <p:cNvSpPr/>
          <p:nvPr/>
        </p:nvSpPr>
        <p:spPr>
          <a:xfrm>
            <a:off x="45003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3" name="Rectangle 50_0"/>
          <p:cNvSpPr/>
          <p:nvPr/>
        </p:nvSpPr>
        <p:spPr>
          <a:xfrm>
            <a:off x="5183640" y="321300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4" name="Rectangle 51_0"/>
          <p:cNvSpPr/>
          <p:nvPr/>
        </p:nvSpPr>
        <p:spPr>
          <a:xfrm>
            <a:off x="615924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5" name="Rectangle 52_0"/>
          <p:cNvSpPr/>
          <p:nvPr/>
        </p:nvSpPr>
        <p:spPr>
          <a:xfrm>
            <a:off x="6982920" y="321300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6" name="Rectangle 53_0"/>
          <p:cNvSpPr/>
          <p:nvPr/>
        </p:nvSpPr>
        <p:spPr>
          <a:xfrm>
            <a:off x="781812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7" name="Rectangle 54_0"/>
          <p:cNvSpPr/>
          <p:nvPr/>
        </p:nvSpPr>
        <p:spPr>
          <a:xfrm>
            <a:off x="8647560" y="321300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288" name="Rectangle 55_0"/>
          <p:cNvSpPr/>
          <p:nvPr/>
        </p:nvSpPr>
        <p:spPr>
          <a:xfrm>
            <a:off x="793440" y="3213000"/>
            <a:ext cx="1066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ca. 1915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9" name="Rectangle 56_0"/>
          <p:cNvSpPr/>
          <p:nvPr/>
        </p:nvSpPr>
        <p:spPr>
          <a:xfrm>
            <a:off x="4462200" y="343836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90" name="Rectangle 60_0"/>
          <p:cNvSpPr/>
          <p:nvPr/>
        </p:nvSpPr>
        <p:spPr>
          <a:xfrm>
            <a:off x="370440" y="189144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Light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1" name="Rectangle 61_0"/>
          <p:cNvSpPr/>
          <p:nvPr/>
        </p:nvSpPr>
        <p:spPr>
          <a:xfrm>
            <a:off x="351360" y="2511000"/>
            <a:ext cx="1284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Unthinned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2" name="Straight Connector 62_0"/>
          <p:cNvSpPr/>
          <p:nvPr/>
        </p:nvSpPr>
        <p:spPr>
          <a:xfrm>
            <a:off x="1430280" y="1017360"/>
            <a:ext cx="21240" cy="2765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Rectangle 63_0"/>
          <p:cNvSpPr/>
          <p:nvPr/>
        </p:nvSpPr>
        <p:spPr>
          <a:xfrm>
            <a:off x="3872880" y="2468520"/>
            <a:ext cx="49741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4" name="Group 68_0"/>
          <p:cNvGrpSpPr/>
          <p:nvPr/>
        </p:nvGrpSpPr>
        <p:grpSpPr>
          <a:xfrm>
            <a:off x="1428480" y="1147680"/>
            <a:ext cx="2444400" cy="2516040"/>
            <a:chOff x="1428480" y="1147680"/>
            <a:chExt cx="2444400" cy="2516040"/>
          </a:xfrm>
        </p:grpSpPr>
        <p:sp>
          <p:nvSpPr>
            <p:cNvPr id="295" name="Rectangle 76_0"/>
            <p:cNvSpPr/>
            <p:nvPr/>
          </p:nvSpPr>
          <p:spPr>
            <a:xfrm>
              <a:off x="3043440" y="1224720"/>
              <a:ext cx="82944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Rectangle 78_0"/>
            <p:cNvSpPr/>
            <p:nvPr/>
          </p:nvSpPr>
          <p:spPr>
            <a:xfrm>
              <a:off x="1428480" y="122688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7" name="Rectangle 76_2"/>
            <p:cNvSpPr/>
            <p:nvPr/>
          </p:nvSpPr>
          <p:spPr>
            <a:xfrm>
              <a:off x="3043440" y="1845360"/>
              <a:ext cx="82944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Rectangle 78_2"/>
            <p:cNvSpPr/>
            <p:nvPr/>
          </p:nvSpPr>
          <p:spPr>
            <a:xfrm>
              <a:off x="1428480" y="1847520"/>
              <a:ext cx="1614600" cy="41220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9" name="Rectangle 78_3"/>
            <p:cNvSpPr/>
            <p:nvPr/>
          </p:nvSpPr>
          <p:spPr>
            <a:xfrm>
              <a:off x="1428480" y="2468160"/>
              <a:ext cx="2444400" cy="411840"/>
            </a:xfrm>
            <a:prstGeom prst="rect">
              <a:avLst/>
            </a:prstGeom>
            <a:solidFill>
              <a:srgbClr val="3faf46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0" name=""/>
            <p:cNvSpPr/>
            <p:nvPr/>
          </p:nvSpPr>
          <p:spPr>
            <a:xfrm flipV="1">
              <a:off x="1626120" y="11476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1" name=""/>
            <p:cNvSpPr/>
            <p:nvPr/>
          </p:nvSpPr>
          <p:spPr>
            <a:xfrm flipV="1">
              <a:off x="1759320" y="11476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2" name=""/>
            <p:cNvSpPr/>
            <p:nvPr/>
          </p:nvSpPr>
          <p:spPr>
            <a:xfrm flipV="1">
              <a:off x="1593360" y="180108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"/>
            <p:cNvSpPr/>
            <p:nvPr/>
          </p:nvSpPr>
          <p:spPr>
            <a:xfrm flipV="1">
              <a:off x="1726560" y="180108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"/>
            <p:cNvSpPr/>
            <p:nvPr/>
          </p:nvSpPr>
          <p:spPr>
            <a:xfrm flipV="1">
              <a:off x="1593360" y="242136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5" name=""/>
            <p:cNvSpPr/>
            <p:nvPr/>
          </p:nvSpPr>
          <p:spPr>
            <a:xfrm flipV="1">
              <a:off x="1726560" y="242136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6" name=""/>
            <p:cNvSpPr/>
            <p:nvPr/>
          </p:nvSpPr>
          <p:spPr>
            <a:xfrm flipV="1">
              <a:off x="1626120" y="3041640"/>
              <a:ext cx="28116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7" name=""/>
            <p:cNvSpPr/>
            <p:nvPr/>
          </p:nvSpPr>
          <p:spPr>
            <a:xfrm flipV="1">
              <a:off x="1759320" y="3041640"/>
              <a:ext cx="281520" cy="622080"/>
            </a:xfrm>
            <a:prstGeom prst="line">
              <a:avLst/>
            </a:prstGeom>
            <a:ln w="1836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08" name="Group 79_0"/>
          <p:cNvGrpSpPr/>
          <p:nvPr/>
        </p:nvGrpSpPr>
        <p:grpSpPr>
          <a:xfrm>
            <a:off x="3872880" y="1224720"/>
            <a:ext cx="5171760" cy="1620360"/>
            <a:chOff x="3872880" y="1224720"/>
            <a:chExt cx="5171760" cy="1620360"/>
          </a:xfrm>
        </p:grpSpPr>
        <p:sp>
          <p:nvSpPr>
            <p:cNvPr id="309" name="Rectangle 80_0"/>
            <p:cNvSpPr/>
            <p:nvPr/>
          </p:nvSpPr>
          <p:spPr>
            <a:xfrm>
              <a:off x="3872880" y="1224720"/>
              <a:ext cx="498060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0" name="Rectangle 81_0"/>
            <p:cNvSpPr/>
            <p:nvPr/>
          </p:nvSpPr>
          <p:spPr>
            <a:xfrm>
              <a:off x="3873240" y="1846440"/>
              <a:ext cx="498024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Rectangle 86_0"/>
            <p:cNvSpPr/>
            <p:nvPr/>
          </p:nvSpPr>
          <p:spPr>
            <a:xfrm>
              <a:off x="450288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2" name="Rectangle 86_2"/>
            <p:cNvSpPr/>
            <p:nvPr/>
          </p:nvSpPr>
          <p:spPr>
            <a:xfrm>
              <a:off x="531936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3" name="Rectangle 86_3"/>
            <p:cNvSpPr/>
            <p:nvPr/>
          </p:nvSpPr>
          <p:spPr>
            <a:xfrm>
              <a:off x="6854040" y="12560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4" name="Rectangle 86_4"/>
            <p:cNvSpPr/>
            <p:nvPr/>
          </p:nvSpPr>
          <p:spPr>
            <a:xfrm>
              <a:off x="8617680" y="125604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5" name="Rectangle 86_5"/>
            <p:cNvSpPr/>
            <p:nvPr/>
          </p:nvSpPr>
          <p:spPr>
            <a:xfrm>
              <a:off x="450288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6" name="Rectangle 86_6"/>
            <p:cNvSpPr/>
            <p:nvPr/>
          </p:nvSpPr>
          <p:spPr>
            <a:xfrm>
              <a:off x="450288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7" name="Rectangle 86_7"/>
            <p:cNvSpPr/>
            <p:nvPr/>
          </p:nvSpPr>
          <p:spPr>
            <a:xfrm>
              <a:off x="531936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8" name="Rectangle 86_8"/>
            <p:cNvSpPr/>
            <p:nvPr/>
          </p:nvSpPr>
          <p:spPr>
            <a:xfrm>
              <a:off x="531936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19" name="Rectangle 86_9"/>
            <p:cNvSpPr/>
            <p:nvPr/>
          </p:nvSpPr>
          <p:spPr>
            <a:xfrm>
              <a:off x="6854040" y="187632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0" name="Rectangle 86_10"/>
            <p:cNvSpPr/>
            <p:nvPr/>
          </p:nvSpPr>
          <p:spPr>
            <a:xfrm>
              <a:off x="6854040" y="24969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94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2009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1" name="Rectangle 86_11"/>
            <p:cNvSpPr/>
            <p:nvPr/>
          </p:nvSpPr>
          <p:spPr>
            <a:xfrm>
              <a:off x="8617680" y="18763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22" name="Rectangle 86_12"/>
            <p:cNvSpPr/>
            <p:nvPr/>
          </p:nvSpPr>
          <p:spPr>
            <a:xfrm>
              <a:off x="8617680" y="24969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105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23" name="Rectangle 88_0"/>
          <p:cNvSpPr/>
          <p:nvPr/>
        </p:nvSpPr>
        <p:spPr>
          <a:xfrm rot="16180800">
            <a:off x="-493200" y="177984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24" name="Group 89_2"/>
          <p:cNvGrpSpPr/>
          <p:nvPr/>
        </p:nvGrpSpPr>
        <p:grpSpPr>
          <a:xfrm>
            <a:off x="6821280" y="243360"/>
            <a:ext cx="3137400" cy="348120"/>
            <a:chOff x="6821280" y="243360"/>
            <a:chExt cx="3137400" cy="348120"/>
          </a:xfrm>
        </p:grpSpPr>
        <p:sp>
          <p:nvSpPr>
            <p:cNvPr id="325" name="Rectangle 90_0"/>
            <p:cNvSpPr/>
            <p:nvPr/>
          </p:nvSpPr>
          <p:spPr>
            <a:xfrm>
              <a:off x="6821280" y="243360"/>
              <a:ext cx="105840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6" name="Group 91_0"/>
            <p:cNvGrpSpPr/>
            <p:nvPr/>
          </p:nvGrpSpPr>
          <p:grpSpPr>
            <a:xfrm>
              <a:off x="7079400" y="243360"/>
              <a:ext cx="2879280" cy="348120"/>
              <a:chOff x="7079400" y="243360"/>
              <a:chExt cx="2879280" cy="348120"/>
            </a:xfrm>
          </p:grpSpPr>
          <p:sp>
            <p:nvSpPr>
              <p:cNvPr id="327" name="Rectangle 92_0"/>
              <p:cNvSpPr/>
              <p:nvPr/>
            </p:nvSpPr>
            <p:spPr>
              <a:xfrm>
                <a:off x="7079400" y="243360"/>
                <a:ext cx="88596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Max tree age</a:t>
                </a:r>
                <a:endParaRPr b="0" lang="en-US" sz="9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9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900" spc="-1" strike="noStrike">
                  <a:latin typeface="Arial"/>
                </a:endParaRPr>
              </a:p>
            </p:txBody>
          </p:sp>
          <p:sp>
            <p:nvSpPr>
              <p:cNvPr id="328" name="Rectangle 93_2"/>
              <p:cNvSpPr/>
              <p:nvPr/>
            </p:nvSpPr>
            <p:spPr>
              <a:xfrm>
                <a:off x="7923240" y="279720"/>
                <a:ext cx="203544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329" name="Group 89_3"/>
          <p:cNvGrpSpPr/>
          <p:nvPr/>
        </p:nvGrpSpPr>
        <p:grpSpPr>
          <a:xfrm>
            <a:off x="1865880" y="243360"/>
            <a:ext cx="3938760" cy="311760"/>
            <a:chOff x="1865880" y="243360"/>
            <a:chExt cx="3938760" cy="311760"/>
          </a:xfrm>
        </p:grpSpPr>
        <p:sp>
          <p:nvSpPr>
            <p:cNvPr id="330" name="Rectangle 93_3"/>
            <p:cNvSpPr/>
            <p:nvPr/>
          </p:nvSpPr>
          <p:spPr>
            <a:xfrm>
              <a:off x="1865880" y="243360"/>
              <a:ext cx="393876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6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WOODS CREEK</a:t>
              </a:r>
              <a:endParaRPr b="0" lang="en-US" sz="2600" spc="-1" strike="noStrike">
                <a:latin typeface="Arial"/>
              </a:endParaRPr>
            </a:p>
          </p:txBody>
        </p:sp>
      </p:grpSp>
      <p:sp>
        <p:nvSpPr>
          <p:cNvPr id="331" name="Rectangle 60_2"/>
          <p:cNvSpPr/>
          <p:nvPr/>
        </p:nvSpPr>
        <p:spPr>
          <a:xfrm>
            <a:off x="305280" y="127116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Heavy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166200" y="191088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166200" y="1280520"/>
            <a:ext cx="566280" cy="31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Thin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005560" y="128952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005560" y="187740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005560" y="2530440"/>
            <a:ext cx="995400" cy="349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741240" y="3783240"/>
            <a:ext cx="1332360" cy="77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Clearcut and </a:t>
            </a:r>
            <a:br/>
            <a:r>
              <a:rPr b="0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seed DF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38" name="Rectangle 67_0"/>
          <p:cNvSpPr/>
          <p:nvPr/>
        </p:nvSpPr>
        <p:spPr>
          <a:xfrm>
            <a:off x="3654720" y="1260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39" name="Rectangle 67_2"/>
          <p:cNvSpPr/>
          <p:nvPr/>
        </p:nvSpPr>
        <p:spPr>
          <a:xfrm>
            <a:off x="3654720" y="18806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40" name="Rectangle 67_3"/>
          <p:cNvSpPr/>
          <p:nvPr/>
        </p:nvSpPr>
        <p:spPr>
          <a:xfrm>
            <a:off x="3654720" y="25012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75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1990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traight Connector 37_2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traight Connector 38_1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traight Connector 39_1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traight Connector 40_1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traight Connector 41_1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traight Connector 42_1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Straight Connector 43_1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traight Connector 44_1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Straight Connector 45_1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50" name="Rectangle 46_1"/>
          <p:cNvSpPr/>
          <p:nvPr/>
        </p:nvSpPr>
        <p:spPr>
          <a:xfrm>
            <a:off x="196920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1" name="Rectangle 47_1"/>
          <p:cNvSpPr/>
          <p:nvPr/>
        </p:nvSpPr>
        <p:spPr>
          <a:xfrm>
            <a:off x="284148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85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2" name="Rectangle 48_1"/>
          <p:cNvSpPr/>
          <p:nvPr/>
        </p:nvSpPr>
        <p:spPr>
          <a:xfrm>
            <a:off x="36709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3" name="Rectangle 49_1"/>
          <p:cNvSpPr/>
          <p:nvPr/>
        </p:nvSpPr>
        <p:spPr>
          <a:xfrm>
            <a:off x="45003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95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4" name="Rectangle 50_1"/>
          <p:cNvSpPr/>
          <p:nvPr/>
        </p:nvSpPr>
        <p:spPr>
          <a:xfrm>
            <a:off x="521964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2000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5" name="Rectangle 51_1"/>
          <p:cNvSpPr/>
          <p:nvPr/>
        </p:nvSpPr>
        <p:spPr>
          <a:xfrm>
            <a:off x="615924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05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6" name="Rectangle 52_1"/>
          <p:cNvSpPr/>
          <p:nvPr/>
        </p:nvSpPr>
        <p:spPr>
          <a:xfrm>
            <a:off x="6982920" y="3953520"/>
            <a:ext cx="47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57" name="Rectangle 53_1"/>
          <p:cNvSpPr/>
          <p:nvPr/>
        </p:nvSpPr>
        <p:spPr>
          <a:xfrm>
            <a:off x="781812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8" name="Rectangle 54_1"/>
          <p:cNvSpPr/>
          <p:nvPr/>
        </p:nvSpPr>
        <p:spPr>
          <a:xfrm>
            <a:off x="8647560" y="3953520"/>
            <a:ext cx="4370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59" name="Rectangle 55_1"/>
          <p:cNvSpPr/>
          <p:nvPr/>
        </p:nvSpPr>
        <p:spPr>
          <a:xfrm>
            <a:off x="1131120" y="3953520"/>
            <a:ext cx="620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1975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60" name="Rectangle 56_1"/>
          <p:cNvSpPr/>
          <p:nvPr/>
        </p:nvSpPr>
        <p:spPr>
          <a:xfrm>
            <a:off x="4462200" y="4368240"/>
            <a:ext cx="719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Year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61" name="Rectangle 57_0"/>
          <p:cNvSpPr/>
          <p:nvPr/>
        </p:nvSpPr>
        <p:spPr>
          <a:xfrm>
            <a:off x="558360" y="861840"/>
            <a:ext cx="11095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2" name="Rectangle 58_0"/>
          <p:cNvSpPr/>
          <p:nvPr/>
        </p:nvSpPr>
        <p:spPr>
          <a:xfrm>
            <a:off x="514440" y="1483920"/>
            <a:ext cx="12517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3" name="Rectangle 59_0"/>
          <p:cNvSpPr/>
          <p:nvPr/>
        </p:nvSpPr>
        <p:spPr>
          <a:xfrm>
            <a:off x="565560" y="2127240"/>
            <a:ext cx="10699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4" name="Rectangle 60_1"/>
          <p:cNvSpPr/>
          <p:nvPr/>
        </p:nvSpPr>
        <p:spPr>
          <a:xfrm>
            <a:off x="514440" y="2740680"/>
            <a:ext cx="12189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5" name="Rectangle 61_1"/>
          <p:cNvSpPr/>
          <p:nvPr/>
        </p:nvSpPr>
        <p:spPr>
          <a:xfrm>
            <a:off x="635400" y="3359880"/>
            <a:ext cx="10000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66" name="Straight Connector 62_1"/>
          <p:cNvSpPr/>
          <p:nvPr/>
        </p:nvSpPr>
        <p:spPr>
          <a:xfrm>
            <a:off x="1430280" y="82944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Rectangle 63_1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Rectangle 64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69" name="Rectangle 65_0"/>
          <p:cNvSpPr/>
          <p:nvPr/>
        </p:nvSpPr>
        <p:spPr>
          <a:xfrm>
            <a:off x="712512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370" name="Rectangle 67_1"/>
          <p:cNvSpPr/>
          <p:nvPr/>
        </p:nvSpPr>
        <p:spPr>
          <a:xfrm>
            <a:off x="331128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grpSp>
        <p:nvGrpSpPr>
          <p:cNvPr id="371" name="Group 68_1"/>
          <p:cNvGrpSpPr/>
          <p:nvPr/>
        </p:nvGrpSpPr>
        <p:grpSpPr>
          <a:xfrm>
            <a:off x="1428480" y="829440"/>
            <a:ext cx="7616160" cy="2278080"/>
            <a:chOff x="1428480" y="829440"/>
            <a:chExt cx="7616160" cy="2278080"/>
          </a:xfrm>
        </p:grpSpPr>
        <p:sp>
          <p:nvSpPr>
            <p:cNvPr id="372" name="Rectangle 69_0"/>
            <p:cNvSpPr/>
            <p:nvPr/>
          </p:nvSpPr>
          <p:spPr>
            <a:xfrm>
              <a:off x="5531400" y="829440"/>
              <a:ext cx="330408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3" name="Rectangle 70_0"/>
            <p:cNvSpPr/>
            <p:nvPr/>
          </p:nvSpPr>
          <p:spPr>
            <a:xfrm>
              <a:off x="5531760" y="1451160"/>
              <a:ext cx="3303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4" name="Rectangle 71_0"/>
            <p:cNvSpPr/>
            <p:nvPr/>
          </p:nvSpPr>
          <p:spPr>
            <a:xfrm>
              <a:off x="8617320" y="148284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5" name="Rectangle 72_0"/>
            <p:cNvSpPr/>
            <p:nvPr/>
          </p:nvSpPr>
          <p:spPr>
            <a:xfrm>
              <a:off x="8617320" y="860760"/>
              <a:ext cx="427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6" name="Rectangle 73_0"/>
            <p:cNvSpPr/>
            <p:nvPr/>
          </p:nvSpPr>
          <p:spPr>
            <a:xfrm>
              <a:off x="7136640" y="860760"/>
              <a:ext cx="41832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7" name="Rectangle 74_0"/>
            <p:cNvSpPr/>
            <p:nvPr/>
          </p:nvSpPr>
          <p:spPr>
            <a:xfrm>
              <a:off x="7130160" y="1483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11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78" name="Rectangle 75_0"/>
            <p:cNvSpPr/>
            <p:nvPr/>
          </p:nvSpPr>
          <p:spPr>
            <a:xfrm>
              <a:off x="1429920" y="829440"/>
              <a:ext cx="4100760" cy="41220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79" name="Rectangle 76_1"/>
            <p:cNvSpPr/>
            <p:nvPr/>
          </p:nvSpPr>
          <p:spPr>
            <a:xfrm>
              <a:off x="1429920" y="2073960"/>
              <a:ext cx="209412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c9211e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0" name="Rectangle 77_0"/>
            <p:cNvSpPr/>
            <p:nvPr/>
          </p:nvSpPr>
          <p:spPr>
            <a:xfrm>
              <a:off x="1429920" y="1451880"/>
              <a:ext cx="41007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1" name="Rectangle 78_1"/>
            <p:cNvSpPr/>
            <p:nvPr/>
          </p:nvSpPr>
          <p:spPr>
            <a:xfrm>
              <a:off x="1428480" y="2695680"/>
              <a:ext cx="2095560" cy="411840"/>
            </a:xfrm>
            <a:prstGeom prst="rect">
              <a:avLst/>
            </a:prstGeom>
            <a:solidFill>
              <a:srgbClr val="ff3838"/>
            </a:solidFill>
            <a:ln w="0">
              <a:solidFill>
                <a:srgbClr val="127622"/>
              </a:solidFill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82" name="Group 79_1"/>
          <p:cNvGrpSpPr/>
          <p:nvPr/>
        </p:nvGrpSpPr>
        <p:grpSpPr>
          <a:xfrm>
            <a:off x="3525120" y="2073600"/>
            <a:ext cx="5537520" cy="1033920"/>
            <a:chOff x="3525120" y="2073600"/>
            <a:chExt cx="5537520" cy="1033920"/>
          </a:xfrm>
        </p:grpSpPr>
        <p:sp>
          <p:nvSpPr>
            <p:cNvPr id="383" name="Rectangle 80_1"/>
            <p:cNvSpPr/>
            <p:nvPr/>
          </p:nvSpPr>
          <p:spPr>
            <a:xfrm>
              <a:off x="3525120" y="207360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4" name="Rectangle 81_1"/>
            <p:cNvSpPr/>
            <p:nvPr/>
          </p:nvSpPr>
          <p:spPr>
            <a:xfrm>
              <a:off x="3525120" y="2695320"/>
              <a:ext cx="5328720" cy="41220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85" name="Rectangle 82_0"/>
            <p:cNvSpPr/>
            <p:nvPr/>
          </p:nvSpPr>
          <p:spPr>
            <a:xfrm>
              <a:off x="86356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6" name="Rectangle 83_0"/>
            <p:cNvSpPr/>
            <p:nvPr/>
          </p:nvSpPr>
          <p:spPr>
            <a:xfrm>
              <a:off x="8635680" y="210636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33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2020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7" name="Rectangle 84_0"/>
            <p:cNvSpPr/>
            <p:nvPr/>
          </p:nvSpPr>
          <p:spPr>
            <a:xfrm>
              <a:off x="7121880" y="272808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8" name="Rectangle 85_0"/>
            <p:cNvSpPr/>
            <p:nvPr/>
          </p:nvSpPr>
          <p:spPr>
            <a:xfrm>
              <a:off x="7127280" y="2104920"/>
              <a:ext cx="41868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24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2011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89" name="Rectangle 86_1"/>
            <p:cNvSpPr/>
            <p:nvPr/>
          </p:nvSpPr>
          <p:spPr>
            <a:xfrm>
              <a:off x="4503240" y="210492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  <p:sp>
          <p:nvSpPr>
            <p:cNvPr id="390" name="Rectangle 87_0"/>
            <p:cNvSpPr/>
            <p:nvPr/>
          </p:nvSpPr>
          <p:spPr>
            <a:xfrm>
              <a:off x="4488480" y="2728080"/>
              <a:ext cx="426960" cy="348120"/>
            </a:xfrm>
            <a:prstGeom prst="rect">
              <a:avLst/>
            </a:prstGeom>
            <a:solidFill>
              <a:srgbClr val="ffffff">
                <a:alpha val="53000"/>
              </a:srgbClr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8</a:t>
              </a:r>
              <a:endParaRPr b="0" lang="en-US" sz="8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</a:pPr>
              <a:r>
                <a:rPr b="0" lang="en-US" sz="8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1995</a:t>
              </a:r>
              <a:endParaRPr b="0" lang="en-US" sz="800" spc="-1" strike="noStrike">
                <a:latin typeface="Arial"/>
              </a:endParaRPr>
            </a:p>
          </p:txBody>
        </p:sp>
      </p:grpSp>
      <p:sp>
        <p:nvSpPr>
          <p:cNvPr id="391" name="Rectangle 88_1"/>
          <p:cNvSpPr/>
          <p:nvPr/>
        </p:nvSpPr>
        <p:spPr>
          <a:xfrm rot="16180800">
            <a:off x="-427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392" name="Group 89_0"/>
          <p:cNvGrpSpPr/>
          <p:nvPr/>
        </p:nvGrpSpPr>
        <p:grpSpPr>
          <a:xfrm>
            <a:off x="6629400" y="207360"/>
            <a:ext cx="2077200" cy="348120"/>
            <a:chOff x="6629400" y="207360"/>
            <a:chExt cx="2077200" cy="348120"/>
          </a:xfrm>
        </p:grpSpPr>
        <p:sp>
          <p:nvSpPr>
            <p:cNvPr id="393" name="Rectangle 90_1"/>
            <p:cNvSpPr/>
            <p:nvPr/>
          </p:nvSpPr>
          <p:spPr>
            <a:xfrm>
              <a:off x="6815520" y="243720"/>
              <a:ext cx="189108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94" name="Group 91_1"/>
            <p:cNvGrpSpPr/>
            <p:nvPr/>
          </p:nvGrpSpPr>
          <p:grpSpPr>
            <a:xfrm>
              <a:off x="6629400" y="207360"/>
              <a:ext cx="2055600" cy="348120"/>
              <a:chOff x="6629400" y="207360"/>
              <a:chExt cx="2055600" cy="348120"/>
            </a:xfrm>
          </p:grpSpPr>
          <p:sp>
            <p:nvSpPr>
              <p:cNvPr id="395" name="Rectangle 92_1"/>
              <p:cNvSpPr/>
              <p:nvPr/>
            </p:nvSpPr>
            <p:spPr>
              <a:xfrm>
                <a:off x="6629400" y="207360"/>
                <a:ext cx="632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10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10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1000" spc="-1" strike="noStrike">
                  <a:latin typeface="Arial"/>
                </a:endParaRPr>
              </a:p>
            </p:txBody>
          </p:sp>
          <p:sp>
            <p:nvSpPr>
              <p:cNvPr id="396" name="Rectangle 93_0"/>
              <p:cNvSpPr/>
              <p:nvPr/>
            </p:nvSpPr>
            <p:spPr>
              <a:xfrm>
                <a:off x="7232040" y="243720"/>
                <a:ext cx="145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sp>
        <p:nvSpPr>
          <p:cNvPr id="397" name="TextBox 96_0"/>
          <p:cNvSpPr/>
          <p:nvPr/>
        </p:nvSpPr>
        <p:spPr>
          <a:xfrm>
            <a:off x="3732120" y="565920"/>
            <a:ext cx="207216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TextBox 97_0"/>
          <p:cNvSpPr/>
          <p:nvPr/>
        </p:nvSpPr>
        <p:spPr>
          <a:xfrm>
            <a:off x="7556400" y="556560"/>
            <a:ext cx="1156320" cy="44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399" name="Group 89_1"/>
          <p:cNvGrpSpPr/>
          <p:nvPr/>
        </p:nvGrpSpPr>
        <p:grpSpPr>
          <a:xfrm>
            <a:off x="1865880" y="243360"/>
            <a:ext cx="1334520" cy="311760"/>
            <a:chOff x="1865880" y="243360"/>
            <a:chExt cx="1334520" cy="311760"/>
          </a:xfrm>
        </p:grpSpPr>
        <p:sp>
          <p:nvSpPr>
            <p:cNvPr id="400" name="Rectangle 93_1"/>
            <p:cNvSpPr/>
            <p:nvPr/>
          </p:nvSpPr>
          <p:spPr>
            <a:xfrm>
              <a:off x="1865880" y="24336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sp>
        <p:nvSpPr>
          <p:cNvPr id="401" name=""/>
          <p:cNvSpPr txBox="1"/>
          <p:nvPr/>
        </p:nvSpPr>
        <p:spPr>
          <a:xfrm>
            <a:off x="741240" y="435420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LRR survey,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02" name="Rectangle 57_2"/>
          <p:cNvSpPr/>
          <p:nvPr/>
        </p:nvSpPr>
        <p:spPr>
          <a:xfrm>
            <a:off x="2536920" y="8618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Rectangle 57_3"/>
          <p:cNvSpPr/>
          <p:nvPr/>
        </p:nvSpPr>
        <p:spPr>
          <a:xfrm>
            <a:off x="2536920" y="148248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4" name="Rectangle 57_4"/>
          <p:cNvSpPr/>
          <p:nvPr/>
        </p:nvSpPr>
        <p:spPr>
          <a:xfrm>
            <a:off x="1720800" y="210276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5" name="Rectangle 57_5"/>
          <p:cNvSpPr/>
          <p:nvPr/>
        </p:nvSpPr>
        <p:spPr>
          <a:xfrm>
            <a:off x="1720800" y="2723040"/>
            <a:ext cx="18482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Hardwood growth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6" name="Straight Connector 62_2"/>
          <p:cNvSpPr/>
          <p:nvPr/>
        </p:nvSpPr>
        <p:spPr>
          <a:xfrm>
            <a:off x="3518640" y="2073600"/>
            <a:ext cx="21240" cy="22809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Straight Connector 62_3"/>
          <p:cNvSpPr/>
          <p:nvPr/>
        </p:nvSpPr>
        <p:spPr>
          <a:xfrm>
            <a:off x="1430640" y="829800"/>
            <a:ext cx="21240" cy="352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08" name="Straight Connector 62_4"/>
          <p:cNvSpPr/>
          <p:nvPr/>
        </p:nvSpPr>
        <p:spPr>
          <a:xfrm>
            <a:off x="5531760" y="3939840"/>
            <a:ext cx="0" cy="403560"/>
          </a:xfrm>
          <a:prstGeom prst="line">
            <a:avLst/>
          </a:prstGeom>
          <a:ln w="0">
            <a:solidFill>
              <a:srgbClr val="3465a4"/>
            </a:solidFill>
            <a:prstDash val="sysDash"/>
          </a:ln>
        </p:spPr>
        <p:style>
          <a:lnRef idx="0"/>
          <a:fillRef idx="0"/>
          <a:effectRef idx="0"/>
          <a:fontRef idx="minor"/>
        </p:style>
      </p:sp>
      <p:sp>
        <p:nvSpPr>
          <p:cNvPr id="409" name=""/>
          <p:cNvSpPr txBox="1"/>
          <p:nvPr/>
        </p:nvSpPr>
        <p:spPr>
          <a:xfrm>
            <a:off x="2865600" y="435456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12y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4881960" y="4354920"/>
            <a:ext cx="1332360" cy="55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pPr algn="ctr"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25y trts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 clearcut,</a:t>
            </a:r>
            <a:br/>
            <a:r>
              <a:rPr b="0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plant DF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traight Connector 98_1"/>
          <p:cNvSpPr/>
          <p:nvPr/>
        </p:nvSpPr>
        <p:spPr>
          <a:xfrm>
            <a:off x="47023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Straight Connector 99_0"/>
          <p:cNvSpPr/>
          <p:nvPr/>
        </p:nvSpPr>
        <p:spPr>
          <a:xfrm>
            <a:off x="38728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3" name="Straight Connector 100_0"/>
          <p:cNvSpPr/>
          <p:nvPr/>
        </p:nvSpPr>
        <p:spPr>
          <a:xfrm>
            <a:off x="30434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Straight Connector 101_0"/>
          <p:cNvSpPr/>
          <p:nvPr/>
        </p:nvSpPr>
        <p:spPr>
          <a:xfrm>
            <a:off x="22140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Straight Connector 102_0"/>
          <p:cNvSpPr/>
          <p:nvPr/>
        </p:nvSpPr>
        <p:spPr>
          <a:xfrm>
            <a:off x="553140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6" name="Straight Connector 103_0"/>
          <p:cNvSpPr/>
          <p:nvPr/>
        </p:nvSpPr>
        <p:spPr>
          <a:xfrm>
            <a:off x="636084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Straight Connector 104_0"/>
          <p:cNvSpPr/>
          <p:nvPr/>
        </p:nvSpPr>
        <p:spPr>
          <a:xfrm>
            <a:off x="719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Straight Connector 105_0"/>
          <p:cNvSpPr/>
          <p:nvPr/>
        </p:nvSpPr>
        <p:spPr>
          <a:xfrm>
            <a:off x="801972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traight Connector 106_0"/>
          <p:cNvSpPr/>
          <p:nvPr/>
        </p:nvSpPr>
        <p:spPr>
          <a:xfrm>
            <a:off x="884916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Rectangle 107_0"/>
          <p:cNvSpPr/>
          <p:nvPr/>
        </p:nvSpPr>
        <p:spPr>
          <a:xfrm>
            <a:off x="207720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1" name="Rectangle 108_0"/>
          <p:cNvSpPr/>
          <p:nvPr/>
        </p:nvSpPr>
        <p:spPr>
          <a:xfrm>
            <a:off x="284148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2" name="Rectangle 109_0"/>
          <p:cNvSpPr/>
          <p:nvPr/>
        </p:nvSpPr>
        <p:spPr>
          <a:xfrm>
            <a:off x="36709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3" name="Rectangle 110_0"/>
          <p:cNvSpPr/>
          <p:nvPr/>
        </p:nvSpPr>
        <p:spPr>
          <a:xfrm>
            <a:off x="45003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4" name="Rectangle 111_0"/>
          <p:cNvSpPr/>
          <p:nvPr/>
        </p:nvSpPr>
        <p:spPr>
          <a:xfrm>
            <a:off x="532980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5" name="Rectangle 112_0"/>
          <p:cNvSpPr/>
          <p:nvPr/>
        </p:nvSpPr>
        <p:spPr>
          <a:xfrm>
            <a:off x="615924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6" name="Rectangle 113_0"/>
          <p:cNvSpPr/>
          <p:nvPr/>
        </p:nvSpPr>
        <p:spPr>
          <a:xfrm>
            <a:off x="6982920" y="3953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7" name="Rectangle 114_0"/>
          <p:cNvSpPr/>
          <p:nvPr/>
        </p:nvSpPr>
        <p:spPr>
          <a:xfrm>
            <a:off x="781812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8" name="Rectangle 115_0"/>
          <p:cNvSpPr/>
          <p:nvPr/>
        </p:nvSpPr>
        <p:spPr>
          <a:xfrm>
            <a:off x="8647560" y="3953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9" name="Rectangle 116_0"/>
          <p:cNvSpPr/>
          <p:nvPr/>
        </p:nvSpPr>
        <p:spPr>
          <a:xfrm>
            <a:off x="1275120" y="3953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0" name="Rectangle 117_0"/>
          <p:cNvSpPr/>
          <p:nvPr/>
        </p:nvSpPr>
        <p:spPr>
          <a:xfrm>
            <a:off x="3840120" y="4368240"/>
            <a:ext cx="29332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Douglas Fir Stand Age (years)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1" name="Rectangle 118_0"/>
          <p:cNvSpPr/>
          <p:nvPr/>
        </p:nvSpPr>
        <p:spPr>
          <a:xfrm>
            <a:off x="597240" y="861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2" name="Rectangle 119_0"/>
          <p:cNvSpPr/>
          <p:nvPr/>
        </p:nvSpPr>
        <p:spPr>
          <a:xfrm>
            <a:off x="532080" y="1483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3" name="Rectangle 120_0"/>
          <p:cNvSpPr/>
          <p:nvPr/>
        </p:nvSpPr>
        <p:spPr>
          <a:xfrm>
            <a:off x="597240" y="2127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4" name="Rectangle 121_0"/>
          <p:cNvSpPr/>
          <p:nvPr/>
        </p:nvSpPr>
        <p:spPr>
          <a:xfrm>
            <a:off x="499320" y="2740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5" name="Rectangle 122_0"/>
          <p:cNvSpPr/>
          <p:nvPr/>
        </p:nvSpPr>
        <p:spPr>
          <a:xfrm>
            <a:off x="695520" y="3359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6" name="Straight Connector 123_0"/>
          <p:cNvSpPr/>
          <p:nvPr/>
        </p:nvSpPr>
        <p:spPr>
          <a:xfrm>
            <a:off x="1430280" y="829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Rectangle 124_0"/>
          <p:cNvSpPr/>
          <p:nvPr/>
        </p:nvSpPr>
        <p:spPr>
          <a:xfrm>
            <a:off x="1430640" y="829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Rectangle 125_0"/>
          <p:cNvSpPr/>
          <p:nvPr/>
        </p:nvSpPr>
        <p:spPr>
          <a:xfrm>
            <a:off x="1430640" y="1451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Rectangle 126_0"/>
          <p:cNvSpPr/>
          <p:nvPr/>
        </p:nvSpPr>
        <p:spPr>
          <a:xfrm>
            <a:off x="1430280" y="2073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0" name="Rectangle 127_0"/>
          <p:cNvSpPr/>
          <p:nvPr/>
        </p:nvSpPr>
        <p:spPr>
          <a:xfrm>
            <a:off x="1430280" y="2695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Rectangle 128_0"/>
          <p:cNvSpPr/>
          <p:nvPr/>
        </p:nvSpPr>
        <p:spPr>
          <a:xfrm>
            <a:off x="1430280" y="3317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42" name="Rectangle 129_0"/>
          <p:cNvSpPr/>
          <p:nvPr/>
        </p:nvSpPr>
        <p:spPr>
          <a:xfrm>
            <a:off x="8632080" y="3348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3" name="Rectangle 130_0"/>
          <p:cNvSpPr/>
          <p:nvPr/>
        </p:nvSpPr>
        <p:spPr>
          <a:xfrm>
            <a:off x="661068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4" name="Rectangle 131_0"/>
          <p:cNvSpPr/>
          <p:nvPr/>
        </p:nvSpPr>
        <p:spPr>
          <a:xfrm>
            <a:off x="6610680" y="2106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5" name="Rectangle 132_0"/>
          <p:cNvSpPr/>
          <p:nvPr/>
        </p:nvSpPr>
        <p:spPr>
          <a:xfrm>
            <a:off x="4527360" y="1482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6" name="Rectangle 133_0"/>
          <p:cNvSpPr/>
          <p:nvPr/>
        </p:nvSpPr>
        <p:spPr>
          <a:xfrm>
            <a:off x="4527360" y="861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7" name="Rectangle 134_0"/>
          <p:cNvSpPr/>
          <p:nvPr/>
        </p:nvSpPr>
        <p:spPr>
          <a:xfrm>
            <a:off x="7092360" y="3348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8" name="Rectangle 136_0"/>
          <p:cNvSpPr/>
          <p:nvPr/>
        </p:nvSpPr>
        <p:spPr>
          <a:xfrm>
            <a:off x="2977920" y="3342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49" name="Rectangle 137_0"/>
          <p:cNvSpPr/>
          <p:nvPr/>
        </p:nvSpPr>
        <p:spPr>
          <a:xfrm>
            <a:off x="5227920" y="2728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0" name="Rectangle 138_0"/>
          <p:cNvSpPr/>
          <p:nvPr/>
        </p:nvSpPr>
        <p:spPr>
          <a:xfrm>
            <a:off x="5232960" y="2104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1" name="Rectangle 139_0"/>
          <p:cNvSpPr/>
          <p:nvPr/>
        </p:nvSpPr>
        <p:spPr>
          <a:xfrm>
            <a:off x="2981160" y="861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2" name="Rectangle 140_0"/>
          <p:cNvSpPr/>
          <p:nvPr/>
        </p:nvSpPr>
        <p:spPr>
          <a:xfrm>
            <a:off x="2975040" y="1483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3" name="Rectangle 141_0"/>
          <p:cNvSpPr/>
          <p:nvPr/>
        </p:nvSpPr>
        <p:spPr>
          <a:xfrm>
            <a:off x="2608920" y="2104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4" name="Rectangle 142_0"/>
          <p:cNvSpPr/>
          <p:nvPr/>
        </p:nvSpPr>
        <p:spPr>
          <a:xfrm>
            <a:off x="2594160" y="2728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55" name="Rectangle 143_0"/>
          <p:cNvSpPr/>
          <p:nvPr/>
        </p:nvSpPr>
        <p:spPr>
          <a:xfrm rot="16180800">
            <a:off x="-355680" y="2161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456" name="Group 144_0"/>
          <p:cNvGrpSpPr/>
          <p:nvPr/>
        </p:nvGrpSpPr>
        <p:grpSpPr>
          <a:xfrm>
            <a:off x="6951960" y="271440"/>
            <a:ext cx="1833480" cy="348120"/>
            <a:chOff x="6951960" y="271440"/>
            <a:chExt cx="1833480" cy="348120"/>
          </a:xfrm>
        </p:grpSpPr>
        <p:sp>
          <p:nvSpPr>
            <p:cNvPr id="457" name="Rectangle 145_0"/>
            <p:cNvSpPr/>
            <p:nvPr/>
          </p:nvSpPr>
          <p:spPr>
            <a:xfrm>
              <a:off x="7049880" y="307800"/>
              <a:ext cx="1656720" cy="3117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58" name="Group 146_0"/>
            <p:cNvGrpSpPr/>
            <p:nvPr/>
          </p:nvGrpSpPr>
          <p:grpSpPr>
            <a:xfrm>
              <a:off x="6951960" y="271440"/>
              <a:ext cx="1833480" cy="348120"/>
              <a:chOff x="6951960" y="271440"/>
              <a:chExt cx="1833480" cy="348120"/>
            </a:xfrm>
          </p:grpSpPr>
          <p:sp>
            <p:nvSpPr>
              <p:cNvPr id="459" name="Rectangle 147_0"/>
              <p:cNvSpPr/>
              <p:nvPr/>
            </p:nvSpPr>
            <p:spPr>
              <a:xfrm>
                <a:off x="6951960" y="271440"/>
                <a:ext cx="587520" cy="348120"/>
              </a:xfrm>
              <a:prstGeom prst="rect">
                <a:avLst/>
              </a:prstGeom>
              <a:solidFill>
                <a:srgbClr val="ffffff">
                  <a:alpha val="53000"/>
                </a:srgbClr>
              </a:solidFill>
              <a:ln w="0">
                <a:solidFill>
                  <a:srgbClr val="000000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 </a:t>
                </a: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DF age</a:t>
                </a:r>
                <a:endParaRPr b="0" lang="en-US" sz="800" spc="-1" strike="noStrike">
                  <a:latin typeface="Arial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b="0" lang="en-US" sz="8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Year</a:t>
                </a:r>
                <a:endParaRPr b="0" lang="en-US" sz="800" spc="-1" strike="noStrike">
                  <a:latin typeface="Arial"/>
                </a:endParaRPr>
              </a:p>
            </p:txBody>
          </p:sp>
          <p:sp>
            <p:nvSpPr>
              <p:cNvPr id="460" name="Rectangle 148_0"/>
              <p:cNvSpPr/>
              <p:nvPr/>
            </p:nvSpPr>
            <p:spPr>
              <a:xfrm>
                <a:off x="7512480" y="307800"/>
                <a:ext cx="1272960" cy="311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>
                <a:noAutofit/>
              </a:bodyPr>
              <a:p>
                <a:pPr>
                  <a:lnSpc>
                    <a:spcPct val="100000"/>
                  </a:lnSpc>
                </a:pPr>
                <a:r>
                  <a:rPr b="0" lang="en-US" sz="1400" spc="-1" strike="noStrike">
                    <a:solidFill>
                      <a:srgbClr val="000000"/>
                    </a:solidFill>
                    <a:latin typeface="Arial"/>
                    <a:ea typeface="DejaVu Sans"/>
                  </a:rPr>
                  <a:t>Measurement</a:t>
                </a:r>
                <a:endParaRPr b="0" lang="en-US" sz="1400" spc="-1" strike="noStrike">
                  <a:latin typeface="Arial"/>
                </a:endParaRPr>
              </a:p>
            </p:txBody>
          </p:sp>
        </p:grpSp>
      </p:grpSp>
      <p:grpSp>
        <p:nvGrpSpPr>
          <p:cNvPr id="461" name="Group 89_5"/>
          <p:cNvGrpSpPr/>
          <p:nvPr/>
        </p:nvGrpSpPr>
        <p:grpSpPr>
          <a:xfrm>
            <a:off x="1865880" y="246240"/>
            <a:ext cx="1334520" cy="311760"/>
            <a:chOff x="1865880" y="246240"/>
            <a:chExt cx="1334520" cy="311760"/>
          </a:xfrm>
        </p:grpSpPr>
        <p:sp>
          <p:nvSpPr>
            <p:cNvPr id="462" name="Rectangle 93_5"/>
            <p:cNvSpPr/>
            <p:nvPr/>
          </p:nvSpPr>
          <p:spPr>
            <a:xfrm>
              <a:off x="1865880" y="24624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traight Connector 98_0"/>
          <p:cNvSpPr/>
          <p:nvPr/>
        </p:nvSpPr>
        <p:spPr>
          <a:xfrm>
            <a:off x="47023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Straight Connector 99_1"/>
          <p:cNvSpPr/>
          <p:nvPr/>
        </p:nvSpPr>
        <p:spPr>
          <a:xfrm>
            <a:off x="38728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5" name="Straight Connector 100_1"/>
          <p:cNvSpPr/>
          <p:nvPr/>
        </p:nvSpPr>
        <p:spPr>
          <a:xfrm>
            <a:off x="30434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traight Connector 101_1"/>
          <p:cNvSpPr/>
          <p:nvPr/>
        </p:nvSpPr>
        <p:spPr>
          <a:xfrm>
            <a:off x="22140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Straight Connector 102_1"/>
          <p:cNvSpPr/>
          <p:nvPr/>
        </p:nvSpPr>
        <p:spPr>
          <a:xfrm>
            <a:off x="553140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Straight Connector 103_1"/>
          <p:cNvSpPr/>
          <p:nvPr/>
        </p:nvSpPr>
        <p:spPr>
          <a:xfrm>
            <a:off x="636084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Straight Connector 104_1"/>
          <p:cNvSpPr/>
          <p:nvPr/>
        </p:nvSpPr>
        <p:spPr>
          <a:xfrm>
            <a:off x="719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0" name="Straight Connector 105_1"/>
          <p:cNvSpPr/>
          <p:nvPr/>
        </p:nvSpPr>
        <p:spPr>
          <a:xfrm>
            <a:off x="801972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traight Connector 106_1"/>
          <p:cNvSpPr/>
          <p:nvPr/>
        </p:nvSpPr>
        <p:spPr>
          <a:xfrm>
            <a:off x="884916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Rectangle 107_1"/>
          <p:cNvSpPr/>
          <p:nvPr/>
        </p:nvSpPr>
        <p:spPr>
          <a:xfrm>
            <a:off x="207720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3" name="Rectangle 108_1"/>
          <p:cNvSpPr/>
          <p:nvPr/>
        </p:nvSpPr>
        <p:spPr>
          <a:xfrm>
            <a:off x="284148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4" name="Rectangle 109_1"/>
          <p:cNvSpPr/>
          <p:nvPr/>
        </p:nvSpPr>
        <p:spPr>
          <a:xfrm>
            <a:off x="36709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15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5" name="Rectangle 110_1"/>
          <p:cNvSpPr/>
          <p:nvPr/>
        </p:nvSpPr>
        <p:spPr>
          <a:xfrm>
            <a:off x="45003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6" name="Rectangle 111_1"/>
          <p:cNvSpPr/>
          <p:nvPr/>
        </p:nvSpPr>
        <p:spPr>
          <a:xfrm>
            <a:off x="532980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25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7" name="Rectangle 112_1"/>
          <p:cNvSpPr/>
          <p:nvPr/>
        </p:nvSpPr>
        <p:spPr>
          <a:xfrm>
            <a:off x="615924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8" name="Rectangle 113_1"/>
          <p:cNvSpPr/>
          <p:nvPr/>
        </p:nvSpPr>
        <p:spPr>
          <a:xfrm>
            <a:off x="6982920" y="3989520"/>
            <a:ext cx="41256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35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Rectangle 114_1"/>
          <p:cNvSpPr/>
          <p:nvPr/>
        </p:nvSpPr>
        <p:spPr>
          <a:xfrm>
            <a:off x="781812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0" name="Rectangle 115_1"/>
          <p:cNvSpPr/>
          <p:nvPr/>
        </p:nvSpPr>
        <p:spPr>
          <a:xfrm>
            <a:off x="8647560" y="3989520"/>
            <a:ext cx="3913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1" name="Rectangle 116_1"/>
          <p:cNvSpPr/>
          <p:nvPr/>
        </p:nvSpPr>
        <p:spPr>
          <a:xfrm>
            <a:off x="1275120" y="3989520"/>
            <a:ext cx="27612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2" name="Rectangle 117_1"/>
          <p:cNvSpPr/>
          <p:nvPr/>
        </p:nvSpPr>
        <p:spPr>
          <a:xfrm>
            <a:off x="3840120" y="4692240"/>
            <a:ext cx="73188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Age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3" name="Rectangle 118_1"/>
          <p:cNvSpPr/>
          <p:nvPr/>
        </p:nvSpPr>
        <p:spPr>
          <a:xfrm>
            <a:off x="597240" y="8978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4" name="Rectangle 119_1"/>
          <p:cNvSpPr/>
          <p:nvPr/>
        </p:nvSpPr>
        <p:spPr>
          <a:xfrm>
            <a:off x="532080" y="151992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25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5" name="Rectangle 120_1"/>
          <p:cNvSpPr/>
          <p:nvPr/>
        </p:nvSpPr>
        <p:spPr>
          <a:xfrm>
            <a:off x="597240" y="21632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RA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6" name="Rectangle 121_1"/>
          <p:cNvSpPr/>
          <p:nvPr/>
        </p:nvSpPr>
        <p:spPr>
          <a:xfrm>
            <a:off x="499320" y="27766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CW 12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7" name="Rectangle 122_1"/>
          <p:cNvSpPr/>
          <p:nvPr/>
        </p:nvSpPr>
        <p:spPr>
          <a:xfrm>
            <a:off x="695520" y="339588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DF 0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88" name="Straight Connector 123_1"/>
          <p:cNvSpPr/>
          <p:nvPr/>
        </p:nvSpPr>
        <p:spPr>
          <a:xfrm>
            <a:off x="1430280" y="865440"/>
            <a:ext cx="360" cy="3110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Rectangle 124_1"/>
          <p:cNvSpPr/>
          <p:nvPr/>
        </p:nvSpPr>
        <p:spPr>
          <a:xfrm>
            <a:off x="1430640" y="86544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Rectangle 125_1"/>
          <p:cNvSpPr/>
          <p:nvPr/>
        </p:nvSpPr>
        <p:spPr>
          <a:xfrm>
            <a:off x="1430640" y="1487160"/>
            <a:ext cx="331524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1" name="Rectangle 126_1"/>
          <p:cNvSpPr/>
          <p:nvPr/>
        </p:nvSpPr>
        <p:spPr>
          <a:xfrm>
            <a:off x="1430280" y="210960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2" name="Rectangle 127_1"/>
          <p:cNvSpPr/>
          <p:nvPr/>
        </p:nvSpPr>
        <p:spPr>
          <a:xfrm>
            <a:off x="1430280" y="2731320"/>
            <a:ext cx="54115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Rectangle 128_1"/>
          <p:cNvSpPr/>
          <p:nvPr/>
        </p:nvSpPr>
        <p:spPr>
          <a:xfrm>
            <a:off x="1430280" y="3353400"/>
            <a:ext cx="7416720" cy="412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Rectangle 129_1"/>
          <p:cNvSpPr/>
          <p:nvPr/>
        </p:nvSpPr>
        <p:spPr>
          <a:xfrm>
            <a:off x="8632080" y="33847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45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5" name="Rectangle 130_1"/>
          <p:cNvSpPr/>
          <p:nvPr/>
        </p:nvSpPr>
        <p:spPr>
          <a:xfrm>
            <a:off x="661068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6" name="Rectangle 131_1"/>
          <p:cNvSpPr/>
          <p:nvPr/>
        </p:nvSpPr>
        <p:spPr>
          <a:xfrm>
            <a:off x="6610680" y="214236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33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7" name="Rectangle 132_1"/>
          <p:cNvSpPr/>
          <p:nvPr/>
        </p:nvSpPr>
        <p:spPr>
          <a:xfrm>
            <a:off x="4527360" y="151884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8" name="Rectangle 133_1"/>
          <p:cNvSpPr/>
          <p:nvPr/>
        </p:nvSpPr>
        <p:spPr>
          <a:xfrm>
            <a:off x="4527360" y="8971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2020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499" name="Rectangle 134_1"/>
          <p:cNvSpPr/>
          <p:nvPr/>
        </p:nvSpPr>
        <p:spPr>
          <a:xfrm>
            <a:off x="7092360" y="33847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36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0" name="Rectangle 136_1"/>
          <p:cNvSpPr/>
          <p:nvPr/>
        </p:nvSpPr>
        <p:spPr>
          <a:xfrm>
            <a:off x="2977920" y="337860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12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1987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1" name="Rectangle 137_1"/>
          <p:cNvSpPr/>
          <p:nvPr/>
        </p:nvSpPr>
        <p:spPr>
          <a:xfrm>
            <a:off x="5227920" y="276408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2" name="Rectangle 138_1"/>
          <p:cNvSpPr/>
          <p:nvPr/>
        </p:nvSpPr>
        <p:spPr>
          <a:xfrm>
            <a:off x="5232960" y="2140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24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3" name="Rectangle 139_1"/>
          <p:cNvSpPr/>
          <p:nvPr/>
        </p:nvSpPr>
        <p:spPr>
          <a:xfrm>
            <a:off x="2981160" y="8971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4" name="Rectangle 140_1"/>
          <p:cNvSpPr/>
          <p:nvPr/>
        </p:nvSpPr>
        <p:spPr>
          <a:xfrm>
            <a:off x="2975040" y="1519920"/>
            <a:ext cx="41868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11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2011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5" name="Rectangle 141_1"/>
          <p:cNvSpPr/>
          <p:nvPr/>
        </p:nvSpPr>
        <p:spPr>
          <a:xfrm>
            <a:off x="2608920" y="214092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6" name="Rectangle 142_1"/>
          <p:cNvSpPr/>
          <p:nvPr/>
        </p:nvSpPr>
        <p:spPr>
          <a:xfrm>
            <a:off x="2594160" y="2764080"/>
            <a:ext cx="426960" cy="348120"/>
          </a:xfrm>
          <a:prstGeom prst="rect">
            <a:avLst/>
          </a:prstGeom>
          <a:solidFill>
            <a:srgbClr val="ffffff">
              <a:alpha val="53000"/>
            </a:srgbClr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8</a:t>
            </a:r>
            <a:endParaRPr b="0" lang="en-US" sz="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1995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507" name="Rectangle 143_1"/>
          <p:cNvSpPr/>
          <p:nvPr/>
        </p:nvSpPr>
        <p:spPr>
          <a:xfrm rot="16180800">
            <a:off x="-355680" y="2197080"/>
            <a:ext cx="12729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Treatment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3200400" y="3765600"/>
            <a:ext cx="0" cy="5778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"/>
          <p:cNvSpPr/>
          <p:nvPr/>
        </p:nvSpPr>
        <p:spPr>
          <a:xfrm>
            <a:off x="7315200" y="3732840"/>
            <a:ext cx="0" cy="61056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0" name=""/>
          <p:cNvSpPr/>
          <p:nvPr/>
        </p:nvSpPr>
        <p:spPr>
          <a:xfrm>
            <a:off x="27432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"/>
          <p:cNvSpPr/>
          <p:nvPr/>
        </p:nvSpPr>
        <p:spPr>
          <a:xfrm>
            <a:off x="6858000" y="3200400"/>
            <a:ext cx="457200" cy="114300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2" name=""/>
          <p:cNvSpPr/>
          <p:nvPr/>
        </p:nvSpPr>
        <p:spPr>
          <a:xfrm>
            <a:off x="7423200" y="373320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"/>
          <p:cNvSpPr/>
          <p:nvPr/>
        </p:nvSpPr>
        <p:spPr>
          <a:xfrm>
            <a:off x="8935200" y="3733560"/>
            <a:ext cx="0" cy="57780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4" name=""/>
          <p:cNvSpPr/>
          <p:nvPr/>
        </p:nvSpPr>
        <p:spPr>
          <a:xfrm>
            <a:off x="3200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"/>
          <p:cNvSpPr/>
          <p:nvPr/>
        </p:nvSpPr>
        <p:spPr>
          <a:xfrm>
            <a:off x="4748400" y="685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6" name=""/>
          <p:cNvSpPr/>
          <p:nvPr/>
        </p:nvSpPr>
        <p:spPr>
          <a:xfrm>
            <a:off x="4748400" y="685800"/>
            <a:ext cx="7380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7" name=""/>
          <p:cNvSpPr/>
          <p:nvPr/>
        </p:nvSpPr>
        <p:spPr>
          <a:xfrm flipH="1">
            <a:off x="2815200" y="685800"/>
            <a:ext cx="385200" cy="13716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Rectangle 118_2"/>
          <p:cNvSpPr/>
          <p:nvPr/>
        </p:nvSpPr>
        <p:spPr>
          <a:xfrm>
            <a:off x="3573000" y="374040"/>
            <a:ext cx="926640" cy="31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43c330"/>
                </a:solidFill>
                <a:latin typeface="Arial"/>
                <a:ea typeface="DejaVu Sans"/>
              </a:rPr>
              <a:t>EARLY</a:t>
            </a:r>
            <a:endParaRPr b="0" lang="en-US" sz="1600" spc="-1" strike="noStrike">
              <a:solidFill>
                <a:srgbClr val="43c330"/>
              </a:solidFill>
              <a:latin typeface="Arial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4500000" y="437616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db00"/>
                </a:solidFill>
                <a:latin typeface="Arial"/>
                <a:ea typeface="DejaVu Sans"/>
              </a:rPr>
              <a:t>MIDDLE</a:t>
            </a:r>
            <a:endParaRPr b="0" lang="en-US" sz="1600" spc="-1" strike="noStrike">
              <a:solidFill>
                <a:srgbClr val="ffdb00"/>
              </a:solidFill>
              <a:latin typeface="Arial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7929000" y="4343400"/>
            <a:ext cx="986400" cy="31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600" spc="-1" strike="noStrike">
                <a:solidFill>
                  <a:srgbClr val="ff3838"/>
                </a:solidFill>
                <a:latin typeface="Arial"/>
                <a:ea typeface="DejaVu Sans"/>
              </a:rPr>
              <a:t>LATE</a:t>
            </a:r>
            <a:endParaRPr b="0" lang="en-US" sz="1600" spc="-1" strike="noStrike">
              <a:solidFill>
                <a:srgbClr val="ff3838"/>
              </a:solidFill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3200400" y="1297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"/>
          <p:cNvSpPr/>
          <p:nvPr/>
        </p:nvSpPr>
        <p:spPr>
          <a:xfrm>
            <a:off x="4748400" y="126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3" name=""/>
          <p:cNvSpPr/>
          <p:nvPr/>
        </p:nvSpPr>
        <p:spPr>
          <a:xfrm>
            <a:off x="2840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"/>
          <p:cNvSpPr/>
          <p:nvPr/>
        </p:nvSpPr>
        <p:spPr>
          <a:xfrm>
            <a:off x="5468400" y="2521800"/>
            <a:ext cx="0" cy="18000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"/>
          <p:cNvSpPr/>
          <p:nvPr/>
        </p:nvSpPr>
        <p:spPr>
          <a:xfrm>
            <a:off x="2743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6" name=""/>
          <p:cNvSpPr/>
          <p:nvPr/>
        </p:nvSpPr>
        <p:spPr>
          <a:xfrm>
            <a:off x="6847200" y="2521800"/>
            <a:ext cx="0" cy="20952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7" name=""/>
          <p:cNvSpPr/>
          <p:nvPr/>
        </p:nvSpPr>
        <p:spPr>
          <a:xfrm flipH="1">
            <a:off x="3200400" y="4343400"/>
            <a:ext cx="11430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8" name=""/>
          <p:cNvSpPr/>
          <p:nvPr/>
        </p:nvSpPr>
        <p:spPr>
          <a:xfrm flipH="1">
            <a:off x="4343400" y="4343400"/>
            <a:ext cx="2971800" cy="0"/>
          </a:xfrm>
          <a:prstGeom prst="line">
            <a:avLst/>
          </a:prstGeom>
          <a:ln w="36720">
            <a:solidFill>
              <a:srgbClr val="ffdb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"/>
          <p:cNvSpPr/>
          <p:nvPr/>
        </p:nvSpPr>
        <p:spPr>
          <a:xfrm flipH="1">
            <a:off x="7423200" y="4301280"/>
            <a:ext cx="1512000" cy="10080"/>
          </a:xfrm>
          <a:prstGeom prst="line">
            <a:avLst/>
          </a:prstGeom>
          <a:ln w="36720">
            <a:solidFill>
              <a:srgbClr val="ff383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"/>
          <p:cNvSpPr/>
          <p:nvPr/>
        </p:nvSpPr>
        <p:spPr>
          <a:xfrm>
            <a:off x="3200400" y="685800"/>
            <a:ext cx="1548000" cy="0"/>
          </a:xfrm>
          <a:prstGeom prst="line">
            <a:avLst/>
          </a:prstGeom>
          <a:ln w="36720">
            <a:solidFill>
              <a:srgbClr val="43c33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31" name="Group 89_4"/>
          <p:cNvGrpSpPr/>
          <p:nvPr/>
        </p:nvGrpSpPr>
        <p:grpSpPr>
          <a:xfrm>
            <a:off x="1865880" y="265320"/>
            <a:ext cx="1334520" cy="311760"/>
            <a:chOff x="1865880" y="265320"/>
            <a:chExt cx="1334520" cy="311760"/>
          </a:xfrm>
        </p:grpSpPr>
        <p:sp>
          <p:nvSpPr>
            <p:cNvPr id="532" name="Rectangle 93_4"/>
            <p:cNvSpPr/>
            <p:nvPr/>
          </p:nvSpPr>
          <p:spPr>
            <a:xfrm>
              <a:off x="1865880" y="265320"/>
              <a:ext cx="1334520" cy="31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2400" spc="-1" strike="noStrike">
                  <a:solidFill>
                    <a:srgbClr val="000000"/>
                  </a:solidFill>
                  <a:latin typeface="Arial"/>
                  <a:ea typeface="DejaVu Sans"/>
                </a:rPr>
                <a:t>APIARY</a:t>
              </a:r>
              <a:endParaRPr b="0" lang="en-US" sz="2400" spc="-1" strike="noStrike">
                <a:latin typeface="Arial"/>
              </a:endParaRPr>
            </a:p>
          </p:txBody>
        </p:sp>
      </p:grpSp>
      <p:grpSp>
        <p:nvGrpSpPr>
          <p:cNvPr id="533" name=""/>
          <p:cNvGrpSpPr/>
          <p:nvPr/>
        </p:nvGrpSpPr>
        <p:grpSpPr>
          <a:xfrm>
            <a:off x="6172200" y="112320"/>
            <a:ext cx="2351880" cy="1997280"/>
            <a:chOff x="6172200" y="112320"/>
            <a:chExt cx="2351880" cy="1997280"/>
          </a:xfrm>
        </p:grpSpPr>
        <p:pic>
          <p:nvPicPr>
            <p:cNvPr id="534" name="" descr=""/>
            <p:cNvPicPr/>
            <p:nvPr/>
          </p:nvPicPr>
          <p:blipFill>
            <a:blip r:embed="rId1"/>
            <a:stretch/>
          </p:blipFill>
          <p:spPr>
            <a:xfrm>
              <a:off x="6172200" y="137160"/>
              <a:ext cx="2351880" cy="1972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535" name=""/>
            <p:cNvSpPr/>
            <p:nvPr/>
          </p:nvSpPr>
          <p:spPr>
            <a:xfrm flipV="1">
              <a:off x="7030440" y="613440"/>
              <a:ext cx="362880" cy="32472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6" name=""/>
            <p:cNvSpPr/>
            <p:nvPr/>
          </p:nvSpPr>
          <p:spPr>
            <a:xfrm flipV="1">
              <a:off x="6750000" y="1012320"/>
              <a:ext cx="181440" cy="445680"/>
            </a:xfrm>
            <a:prstGeom prst="line">
              <a:avLst/>
            </a:prstGeom>
            <a:ln w="18360">
              <a:solidFill>
                <a:srgbClr val="fc5c00"/>
              </a:solidFill>
              <a:prstDash val="dot"/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7" name=""/>
            <p:cNvSpPr/>
            <p:nvPr/>
          </p:nvSpPr>
          <p:spPr>
            <a:xfrm rot="18982200">
              <a:off x="6971760" y="547920"/>
              <a:ext cx="470160" cy="16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38" name=""/>
            <p:cNvSpPr/>
            <p:nvPr/>
          </p:nvSpPr>
          <p:spPr>
            <a:xfrm rot="17616000">
              <a:off x="6609240" y="954000"/>
              <a:ext cx="470160" cy="163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900" spc="-1" strike="noStrike">
                  <a:solidFill>
                    <a:srgbClr val="fc5c00"/>
                  </a:solidFill>
                  <a:latin typeface="Arial"/>
                  <a:ea typeface="Arial"/>
                </a:rPr>
                <a:t>ΔBA</a:t>
              </a:r>
              <a:r>
                <a:rPr b="0" lang="en" sz="9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900" spc="-1" strike="noStrike">
                <a:latin typeface="Arial"/>
              </a:endParaRPr>
            </a:p>
          </p:txBody>
        </p:sp>
        <p:sp>
          <p:nvSpPr>
            <p:cNvPr id="539" name=""/>
            <p:cNvSpPr/>
            <p:nvPr/>
          </p:nvSpPr>
          <p:spPr>
            <a:xfrm flipV="1">
              <a:off x="67500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0" name=""/>
            <p:cNvSpPr/>
            <p:nvPr/>
          </p:nvSpPr>
          <p:spPr>
            <a:xfrm flipV="1">
              <a:off x="6922800" y="252720"/>
              <a:ext cx="36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1" name=""/>
            <p:cNvSpPr/>
            <p:nvPr/>
          </p:nvSpPr>
          <p:spPr>
            <a:xfrm flipV="1">
              <a:off x="702180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2" name=""/>
            <p:cNvSpPr/>
            <p:nvPr/>
          </p:nvSpPr>
          <p:spPr>
            <a:xfrm flipV="1">
              <a:off x="7392240" y="252720"/>
              <a:ext cx="0" cy="1568160"/>
            </a:xfrm>
            <a:prstGeom prst="line">
              <a:avLst/>
            </a:prstGeom>
            <a:ln w="0">
              <a:solidFill>
                <a:srgbClr val="808080"/>
              </a:solidFill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43" name=""/>
            <p:cNvSpPr/>
            <p:nvPr/>
          </p:nvSpPr>
          <p:spPr>
            <a:xfrm>
              <a:off x="6741360" y="12060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1</a:t>
              </a:r>
              <a:endParaRPr b="0" lang="en-US" sz="1300" spc="-1" strike="noStrike">
                <a:latin typeface="Arial"/>
              </a:endParaRPr>
            </a:p>
          </p:txBody>
        </p:sp>
        <p:sp>
          <p:nvSpPr>
            <p:cNvPr id="544" name=""/>
            <p:cNvSpPr/>
            <p:nvPr/>
          </p:nvSpPr>
          <p:spPr>
            <a:xfrm>
              <a:off x="7111800" y="112320"/>
              <a:ext cx="280080" cy="18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>
              <a:noAutofit/>
            </a:bodyPr>
            <a:p>
              <a:pPr>
                <a:lnSpc>
                  <a:spcPct val="100000"/>
                </a:lnSpc>
              </a:pPr>
              <a:r>
                <a:rPr b="0" lang="en" sz="1300" spc="-1" strike="noStrike">
                  <a:solidFill>
                    <a:srgbClr val="fc5c00"/>
                  </a:solidFill>
                  <a:latin typeface="Arial"/>
                  <a:ea typeface="Arial"/>
                </a:rPr>
                <a:t>t</a:t>
              </a:r>
              <a:r>
                <a:rPr b="0" lang="en" sz="1300" spc="-1" strike="noStrike" baseline="-8000">
                  <a:solidFill>
                    <a:srgbClr val="fc5c00"/>
                  </a:solidFill>
                  <a:latin typeface="Arial"/>
                  <a:ea typeface="Arial"/>
                </a:rPr>
                <a:t>2</a:t>
              </a:r>
              <a:endParaRPr b="0" lang="en-US" sz="13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</TotalTime>
  <Application>LibreOffice/7.1.5.2$Windows_X86_64 LibreOffice_project/85f04e9f809797b8199d13c421bd8a2b025d52b5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2022-08-25T11:51:54Z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