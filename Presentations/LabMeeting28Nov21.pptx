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56" r:id="rId5"/>
    <p:sldId id="257" r:id="rId6"/>
    <p:sldId id="261" r:id="rId7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68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/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fld id="{51682B4C-C00A-4646-892B-3163A4F05CF5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Apiary LRR Rotation Study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US" dirty="0" smtClean="0"/>
              <a:t>Lab </a:t>
            </a:r>
            <a:r>
              <a:rPr lang="en-US" dirty="0"/>
              <a:t>m</a:t>
            </a:r>
            <a:r>
              <a:rPr lang="en-US" dirty="0" smtClean="0"/>
              <a:t>eeting presentation 28 Nov 221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895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US" dirty="0" smtClean="0"/>
              <a:t>Established following </a:t>
            </a:r>
            <a:r>
              <a:rPr lang="en-US" dirty="0" err="1" smtClean="0"/>
              <a:t>clearcut</a:t>
            </a:r>
            <a:r>
              <a:rPr lang="en-US" dirty="0" smtClean="0"/>
              <a:t> of 45yo Doug fir in 1974</a:t>
            </a:r>
          </a:p>
          <a:p>
            <a:r>
              <a:rPr lang="en-US" dirty="0" smtClean="0"/>
              <a:t>Site with history of moderate to severe LRR</a:t>
            </a:r>
          </a:p>
          <a:p>
            <a:pPr lvl="1"/>
            <a:r>
              <a:rPr lang="en-US" dirty="0" err="1" smtClean="0"/>
              <a:t>Poria</a:t>
            </a:r>
            <a:r>
              <a:rPr lang="en-US" dirty="0" smtClean="0"/>
              <a:t> &gt; Phellinus &gt; </a:t>
            </a:r>
            <a:r>
              <a:rPr lang="en-US" dirty="0" err="1" smtClean="0"/>
              <a:t>Coniferiporia</a:t>
            </a:r>
            <a:r>
              <a:rPr lang="en-US" dirty="0" smtClean="0"/>
              <a:t> </a:t>
            </a:r>
            <a:r>
              <a:rPr lang="en-US" dirty="0" err="1" smtClean="0"/>
              <a:t>sulfrascens</a:t>
            </a:r>
            <a:endParaRPr lang="en-US" dirty="0" smtClean="0"/>
          </a:p>
          <a:p>
            <a:r>
              <a:rPr lang="en-US" dirty="0" smtClean="0"/>
              <a:t>Near Apiary OR in Columbia County (NW corner]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381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US" dirty="0" smtClean="0"/>
              <a:t>5 Blocks organized by 1973 incidence of LRR</a:t>
            </a:r>
          </a:p>
          <a:p>
            <a:r>
              <a:rPr lang="en-US" dirty="0" smtClean="0"/>
              <a:t>4 treatments randomly assigned to plots within block</a:t>
            </a:r>
          </a:p>
          <a:p>
            <a:r>
              <a:rPr lang="en-US" dirty="0" smtClean="0"/>
              <a:t>5 55 </a:t>
            </a:r>
            <a:r>
              <a:rPr lang="en-US" dirty="0" err="1" smtClean="0"/>
              <a:t>ft</a:t>
            </a:r>
            <a:r>
              <a:rPr lang="en-US" dirty="0" smtClean="0"/>
              <a:t> diameter subplots per plot organized to maximize LRR stumps</a:t>
            </a:r>
          </a:p>
          <a:p>
            <a:r>
              <a:rPr lang="en-US" dirty="0" smtClean="0"/>
              <a:t>37 DF seedlings planted in each subplot</a:t>
            </a:r>
          </a:p>
          <a:p>
            <a:r>
              <a:rPr lang="en-US" dirty="0" smtClean="0"/>
              <a:t>DBH and condition recorded periodically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48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traight Connector 40"/>
          <p:cNvSpPr/>
          <p:nvPr/>
        </p:nvSpPr>
        <p:spPr>
          <a:xfrm>
            <a:off x="51840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" name="Straight Connector 41"/>
          <p:cNvSpPr/>
          <p:nvPr/>
        </p:nvSpPr>
        <p:spPr>
          <a:xfrm>
            <a:off x="42696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Straight Connector 42"/>
          <p:cNvSpPr/>
          <p:nvPr/>
        </p:nvSpPr>
        <p:spPr>
          <a:xfrm>
            <a:off x="33552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4" name="Straight Connector 43"/>
          <p:cNvSpPr/>
          <p:nvPr/>
        </p:nvSpPr>
        <p:spPr>
          <a:xfrm>
            <a:off x="24408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5" name="Straight Connector 44"/>
          <p:cNvSpPr/>
          <p:nvPr/>
        </p:nvSpPr>
        <p:spPr>
          <a:xfrm>
            <a:off x="60984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Straight Connector 45"/>
          <p:cNvSpPr/>
          <p:nvPr/>
        </p:nvSpPr>
        <p:spPr>
          <a:xfrm>
            <a:off x="70128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Straight Connector 46"/>
          <p:cNvSpPr/>
          <p:nvPr/>
        </p:nvSpPr>
        <p:spPr>
          <a:xfrm>
            <a:off x="79272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8" name="Straight Connector 47"/>
          <p:cNvSpPr/>
          <p:nvPr/>
        </p:nvSpPr>
        <p:spPr>
          <a:xfrm>
            <a:off x="88416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9" name="Straight Connector 48"/>
          <p:cNvSpPr/>
          <p:nvPr/>
        </p:nvSpPr>
        <p:spPr>
          <a:xfrm>
            <a:off x="97560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0" name="TextBox 49"/>
          <p:cNvSpPr txBox="1"/>
          <p:nvPr/>
        </p:nvSpPr>
        <p:spPr>
          <a:xfrm>
            <a:off x="2290320" y="4682880"/>
            <a:ext cx="48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‘80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32720" y="4682880"/>
            <a:ext cx="48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‘85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47120" y="4682880"/>
            <a:ext cx="48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‘90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61520" y="4682880"/>
            <a:ext cx="48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‘95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5000" y="4682880"/>
            <a:ext cx="68652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2000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90320" y="4682880"/>
            <a:ext cx="48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‘05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98600" y="4682880"/>
            <a:ext cx="5310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‘10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19120" y="4682880"/>
            <a:ext cx="48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‘15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33520" y="4682880"/>
            <a:ext cx="48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‘20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05800" y="4682880"/>
            <a:ext cx="68652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1975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19400" y="5140080"/>
            <a:ext cx="7956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Year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800" y="950400"/>
            <a:ext cx="102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RA 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6800" y="1636200"/>
            <a:ext cx="102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CW 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800" y="2345400"/>
            <a:ext cx="102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RA 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0800" y="3021480"/>
            <a:ext cx="102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CW 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6800" y="3704400"/>
            <a:ext cx="102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DF 0</a:t>
            </a:r>
          </a:p>
        </p:txBody>
      </p:sp>
      <p:sp>
        <p:nvSpPr>
          <p:cNvPr id="66" name="Straight Connector 65"/>
          <p:cNvSpPr/>
          <p:nvPr/>
        </p:nvSpPr>
        <p:spPr>
          <a:xfrm>
            <a:off x="1576800" y="91476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7" name="Rectangle 66"/>
          <p:cNvSpPr/>
          <p:nvPr/>
        </p:nvSpPr>
        <p:spPr>
          <a:xfrm>
            <a:off x="1576800" y="3657600"/>
            <a:ext cx="8179200" cy="4568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8" name="TextBox 67"/>
          <p:cNvSpPr txBox="1"/>
          <p:nvPr/>
        </p:nvSpPr>
        <p:spPr>
          <a:xfrm>
            <a:off x="9516600" y="3692160"/>
            <a:ext cx="47340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45</a:t>
            </a:r>
          </a:p>
          <a:p>
            <a:pPr algn="ctr"/>
            <a:r>
              <a:rPr lang="en-US" sz="1050" b="0" strike="noStrike" spc="-1">
                <a:latin typeface="Arial"/>
              </a:rPr>
              <a:t>2020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55200" y="3692160"/>
            <a:ext cx="46404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36</a:t>
            </a:r>
          </a:p>
          <a:p>
            <a:pPr algn="ctr"/>
            <a:r>
              <a:rPr lang="en-US" sz="1050" b="0" strike="noStrike" spc="-1">
                <a:latin typeface="Arial"/>
              </a:rPr>
              <a:t>2011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516960" y="3692520"/>
            <a:ext cx="47340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45</a:t>
            </a:r>
          </a:p>
          <a:p>
            <a:pPr algn="ctr"/>
            <a:r>
              <a:rPr lang="en-US" sz="1050" b="0" strike="noStrike" spc="-1">
                <a:latin typeface="Arial"/>
              </a:rPr>
              <a:t>2020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63200" y="3685320"/>
            <a:ext cx="47340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12</a:t>
            </a:r>
          </a:p>
          <a:p>
            <a:pPr algn="ctr"/>
            <a:r>
              <a:rPr lang="en-US" sz="1050" b="0" strike="noStrike" spc="-1">
                <a:latin typeface="Arial"/>
              </a:rPr>
              <a:t>1987</a:t>
            </a:r>
          </a:p>
        </p:txBody>
      </p:sp>
      <p:grpSp>
        <p:nvGrpSpPr>
          <p:cNvPr id="72" name="Group 71"/>
          <p:cNvGrpSpPr/>
          <p:nvPr/>
        </p:nvGrpSpPr>
        <p:grpSpPr>
          <a:xfrm>
            <a:off x="1575000" y="914400"/>
            <a:ext cx="8398800" cy="2514240"/>
            <a:chOff x="1575000" y="914400"/>
            <a:chExt cx="8398800" cy="2514240"/>
          </a:xfrm>
        </p:grpSpPr>
        <p:sp>
          <p:nvSpPr>
            <p:cNvPr id="73" name="Rectangle 72"/>
            <p:cNvSpPr/>
            <p:nvPr/>
          </p:nvSpPr>
          <p:spPr>
            <a:xfrm>
              <a:off x="5184000" y="914400"/>
              <a:ext cx="4559400" cy="45684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4" name="Rectangle 73"/>
            <p:cNvSpPr/>
            <p:nvPr/>
          </p:nvSpPr>
          <p:spPr>
            <a:xfrm>
              <a:off x="5184000" y="1599840"/>
              <a:ext cx="4559400" cy="45684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5" name="TextBox 74"/>
            <p:cNvSpPr txBox="1"/>
            <p:nvPr/>
          </p:nvSpPr>
          <p:spPr>
            <a:xfrm>
              <a:off x="9500400" y="1634760"/>
              <a:ext cx="473400" cy="38628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050" b="0" strike="noStrike" spc="-1">
                  <a:latin typeface="Arial"/>
                </a:rPr>
                <a:t>25</a:t>
              </a:r>
            </a:p>
            <a:p>
              <a:pPr algn="ctr"/>
              <a:r>
                <a:rPr lang="en-US" sz="1050" b="0" strike="noStrike" spc="-1">
                  <a:latin typeface="Arial"/>
                </a:rPr>
                <a:t>2020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9500400" y="948960"/>
              <a:ext cx="473400" cy="38628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050" b="0" strike="noStrike" spc="-1">
                  <a:latin typeface="Arial"/>
                </a:rPr>
                <a:t>25</a:t>
              </a:r>
            </a:p>
            <a:p>
              <a:pPr algn="ctr"/>
              <a:r>
                <a:rPr lang="en-US" sz="1050" b="0" strike="noStrike" spc="-1">
                  <a:latin typeface="Arial"/>
                </a:rPr>
                <a:t>2020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867800" y="948960"/>
              <a:ext cx="464040" cy="38628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050" b="0" strike="noStrike" spc="-1">
                  <a:latin typeface="Arial"/>
                </a:rPr>
                <a:t>16</a:t>
              </a:r>
            </a:p>
            <a:p>
              <a:pPr algn="ctr"/>
              <a:r>
                <a:rPr lang="en-US" sz="1050" b="0" strike="noStrike" spc="-1">
                  <a:latin typeface="Arial"/>
                </a:rPr>
                <a:t>2011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860960" y="1635840"/>
              <a:ext cx="464040" cy="38628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050" b="0" strike="noStrike" spc="-1">
                  <a:latin typeface="Arial"/>
                </a:rPr>
                <a:t>16</a:t>
              </a:r>
            </a:p>
            <a:p>
              <a:pPr algn="ctr"/>
              <a:r>
                <a:rPr lang="en-US" sz="1050" b="0" strike="noStrike" spc="-1">
                  <a:latin typeface="Arial"/>
                </a:rPr>
                <a:t>2011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1576800" y="914400"/>
              <a:ext cx="3607200" cy="456840"/>
            </a:xfrm>
            <a:prstGeom prst="rect">
              <a:avLst/>
            </a:prstGeom>
            <a:solidFill>
              <a:srgbClr val="FF3838"/>
            </a:solidFill>
            <a:ln w="0">
              <a:solidFill>
                <a:srgbClr val="C9211E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0" name="Rectangle 79"/>
            <p:cNvSpPr/>
            <p:nvPr/>
          </p:nvSpPr>
          <p:spPr>
            <a:xfrm>
              <a:off x="1576800" y="2286360"/>
              <a:ext cx="1778400" cy="456840"/>
            </a:xfrm>
            <a:prstGeom prst="rect">
              <a:avLst/>
            </a:prstGeom>
            <a:solidFill>
              <a:srgbClr val="FF3838"/>
            </a:solidFill>
            <a:ln w="0">
              <a:solidFill>
                <a:srgbClr val="C9211E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1" name="Rectangle 80"/>
            <p:cNvSpPr/>
            <p:nvPr/>
          </p:nvSpPr>
          <p:spPr>
            <a:xfrm>
              <a:off x="1576800" y="1600560"/>
              <a:ext cx="3607200" cy="456840"/>
            </a:xfrm>
            <a:prstGeom prst="rect">
              <a:avLst/>
            </a:prstGeom>
            <a:solidFill>
              <a:srgbClr val="3FAF46"/>
            </a:solidFill>
            <a:ln w="0">
              <a:solidFill>
                <a:srgbClr val="12762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2" name="Rectangle 81"/>
            <p:cNvSpPr/>
            <p:nvPr/>
          </p:nvSpPr>
          <p:spPr>
            <a:xfrm>
              <a:off x="1575000" y="2971800"/>
              <a:ext cx="1780200" cy="456840"/>
            </a:xfrm>
            <a:prstGeom prst="rect">
              <a:avLst/>
            </a:prstGeom>
            <a:solidFill>
              <a:srgbClr val="3FAF46"/>
            </a:solidFill>
            <a:ln w="0">
              <a:solidFill>
                <a:srgbClr val="12762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83" name="Group 82"/>
          <p:cNvGrpSpPr/>
          <p:nvPr/>
        </p:nvGrpSpPr>
        <p:grpSpPr>
          <a:xfrm>
            <a:off x="3355200" y="2286360"/>
            <a:ext cx="6638400" cy="1142280"/>
            <a:chOff x="3355200" y="2286360"/>
            <a:chExt cx="6638400" cy="1142280"/>
          </a:xfrm>
        </p:grpSpPr>
        <p:sp>
          <p:nvSpPr>
            <p:cNvPr id="84" name="Rectangle 83"/>
            <p:cNvSpPr/>
            <p:nvPr/>
          </p:nvSpPr>
          <p:spPr>
            <a:xfrm>
              <a:off x="3355200" y="2286360"/>
              <a:ext cx="6408000" cy="45684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5" name="Rectangle 84"/>
            <p:cNvSpPr/>
            <p:nvPr/>
          </p:nvSpPr>
          <p:spPr>
            <a:xfrm>
              <a:off x="3355200" y="2971800"/>
              <a:ext cx="6408000" cy="45684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86" name="TextBox 85"/>
            <p:cNvSpPr txBox="1"/>
            <p:nvPr/>
          </p:nvSpPr>
          <p:spPr>
            <a:xfrm>
              <a:off x="9520200" y="3007800"/>
              <a:ext cx="473400" cy="38628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050" b="0" strike="noStrike" spc="-1">
                  <a:latin typeface="Arial"/>
                </a:rPr>
                <a:t>35</a:t>
              </a:r>
            </a:p>
            <a:p>
              <a:pPr algn="ctr"/>
              <a:r>
                <a:rPr lang="en-US" sz="1050" b="0" strike="noStrike" spc="-1">
                  <a:latin typeface="Arial"/>
                </a:rPr>
                <a:t>2020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9520200" y="2322360"/>
              <a:ext cx="473400" cy="38628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050" b="0" strike="noStrike" spc="-1">
                  <a:latin typeface="Arial"/>
                </a:rPr>
                <a:t>35</a:t>
              </a:r>
            </a:p>
            <a:p>
              <a:pPr algn="ctr"/>
              <a:r>
                <a:rPr lang="en-US" sz="1050" b="0" strike="noStrike" spc="-1">
                  <a:latin typeface="Arial"/>
                </a:rPr>
                <a:t>2020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851600" y="3007800"/>
              <a:ext cx="464040" cy="38628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050" b="0" strike="noStrike" spc="-1">
                  <a:latin typeface="Arial"/>
                </a:rPr>
                <a:t>26</a:t>
              </a:r>
            </a:p>
            <a:p>
              <a:pPr algn="ctr"/>
              <a:r>
                <a:rPr lang="en-US" sz="1050" b="0" strike="noStrike" spc="-1">
                  <a:latin typeface="Arial"/>
                </a:rPr>
                <a:t>2011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857360" y="2320920"/>
              <a:ext cx="464040" cy="38628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050" b="0" strike="noStrike" spc="-1">
                  <a:latin typeface="Arial"/>
                </a:rPr>
                <a:t>26</a:t>
              </a:r>
            </a:p>
            <a:p>
              <a:pPr algn="ctr"/>
              <a:r>
                <a:rPr lang="en-US" sz="1050" b="0" strike="noStrike" spc="-1">
                  <a:latin typeface="Arial"/>
                </a:rPr>
                <a:t>2011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4964400" y="2320920"/>
              <a:ext cx="473400" cy="38628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050" b="0" strike="noStrike" spc="-1">
                  <a:latin typeface="Arial"/>
                </a:rPr>
                <a:t>10</a:t>
              </a:r>
            </a:p>
            <a:p>
              <a:pPr algn="ctr"/>
              <a:r>
                <a:rPr lang="en-US" sz="1050" b="0" strike="noStrike" spc="-1">
                  <a:latin typeface="Arial"/>
                </a:rPr>
                <a:t>1995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948200" y="3007800"/>
              <a:ext cx="473400" cy="386280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  <a:ln w="0">
              <a:solidFill>
                <a:srgbClr val="000000"/>
              </a:solidFill>
            </a:ln>
          </p:spPr>
          <p:txBody>
            <a:bodyPr lIns="90000" tIns="45000" rIns="90000" bIns="45000">
              <a:noAutofit/>
            </a:bodyPr>
            <a:lstStyle/>
            <a:p>
              <a:pPr algn="ctr"/>
              <a:r>
                <a:rPr lang="en-US" sz="1050" b="0" strike="noStrike" spc="-1">
                  <a:latin typeface="Arial"/>
                </a:rPr>
                <a:t>10</a:t>
              </a:r>
            </a:p>
            <a:p>
              <a:pPr algn="ctr"/>
              <a:r>
                <a:rPr lang="en-US" sz="1050" b="0" strike="noStrike" spc="-1">
                  <a:latin typeface="Arial"/>
                </a:rPr>
                <a:t>1995</a:t>
              </a:r>
            </a:p>
          </p:txBody>
        </p:sp>
      </p:grpSp>
      <p:sp>
        <p:nvSpPr>
          <p:cNvPr id="92" name="TextBox 91"/>
          <p:cNvSpPr txBox="1"/>
          <p:nvPr/>
        </p:nvSpPr>
        <p:spPr>
          <a:xfrm rot="16180800">
            <a:off x="-392040" y="2382840"/>
            <a:ext cx="1405800" cy="373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2000" b="0" strike="noStrike" spc="-1">
                <a:latin typeface="Arial"/>
              </a:rPr>
              <a:t>Treatment</a:t>
            </a:r>
          </a:p>
        </p:txBody>
      </p:sp>
      <p:grpSp>
        <p:nvGrpSpPr>
          <p:cNvPr id="93" name="Group 92"/>
          <p:cNvGrpSpPr/>
          <p:nvPr/>
        </p:nvGrpSpPr>
        <p:grpSpPr>
          <a:xfrm>
            <a:off x="7592400" y="228600"/>
            <a:ext cx="2008800" cy="386280"/>
            <a:chOff x="7592400" y="228600"/>
            <a:chExt cx="2008800" cy="386280"/>
          </a:xfrm>
        </p:grpSpPr>
        <p:sp>
          <p:nvSpPr>
            <p:cNvPr id="94" name="Rectangle 93"/>
            <p:cNvSpPr/>
            <p:nvPr/>
          </p:nvSpPr>
          <p:spPr>
            <a:xfrm>
              <a:off x="7772400" y="268560"/>
              <a:ext cx="1828800" cy="3463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95" name="Group 94"/>
            <p:cNvGrpSpPr/>
            <p:nvPr/>
          </p:nvGrpSpPr>
          <p:grpSpPr>
            <a:xfrm>
              <a:off x="7592400" y="228600"/>
              <a:ext cx="1987920" cy="386280"/>
              <a:chOff x="7592400" y="228600"/>
              <a:chExt cx="1987920" cy="386280"/>
            </a:xfrm>
          </p:grpSpPr>
          <p:sp>
            <p:nvSpPr>
              <p:cNvPr id="96" name="TextBox 95"/>
              <p:cNvSpPr txBox="1"/>
              <p:nvPr/>
            </p:nvSpPr>
            <p:spPr>
              <a:xfrm>
                <a:off x="7592400" y="228600"/>
                <a:ext cx="613440" cy="386280"/>
              </a:xfrm>
              <a:prstGeom prst="rect">
                <a:avLst/>
              </a:prstGeom>
              <a:solidFill>
                <a:srgbClr val="FFFFFF">
                  <a:alpha val="53000"/>
                </a:srgbClr>
              </a:solidFill>
              <a:ln w="0">
                <a:solidFill>
                  <a:srgbClr val="000000"/>
                </a:solidFill>
              </a:ln>
            </p:spPr>
            <p:txBody>
              <a:bodyPr lIns="90000" tIns="45000" rIns="90000" bIns="45000">
                <a:noAutofit/>
              </a:bodyPr>
              <a:lstStyle/>
              <a:p>
                <a:pPr algn="ctr"/>
                <a:r>
                  <a:rPr lang="en-US" sz="1050" b="0" strike="noStrike" spc="-1">
                    <a:latin typeface="Arial"/>
                  </a:rPr>
                  <a:t>DF age</a:t>
                </a:r>
              </a:p>
              <a:p>
                <a:pPr algn="ctr"/>
                <a:r>
                  <a:rPr lang="en-US" sz="1050" b="0" strike="noStrike" spc="-1">
                    <a:latin typeface="Arial"/>
                  </a:rPr>
                  <a:t>year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8174520" y="268560"/>
                <a:ext cx="1405800" cy="3463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>
                <a:noAutofit/>
              </a:bodyPr>
              <a:lstStyle/>
              <a:p>
                <a:r>
                  <a:rPr lang="en-US" sz="1400" b="0" strike="noStrike" spc="-1">
                    <a:latin typeface="Arial"/>
                  </a:rPr>
                  <a:t>Measurement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traight Connector 97"/>
          <p:cNvSpPr/>
          <p:nvPr/>
        </p:nvSpPr>
        <p:spPr>
          <a:xfrm>
            <a:off x="51840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9" name="Straight Connector 98"/>
          <p:cNvSpPr/>
          <p:nvPr/>
        </p:nvSpPr>
        <p:spPr>
          <a:xfrm>
            <a:off x="42696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0" name="Straight Connector 99"/>
          <p:cNvSpPr/>
          <p:nvPr/>
        </p:nvSpPr>
        <p:spPr>
          <a:xfrm>
            <a:off x="33552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1" name="Straight Connector 100"/>
          <p:cNvSpPr/>
          <p:nvPr/>
        </p:nvSpPr>
        <p:spPr>
          <a:xfrm>
            <a:off x="24408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2" name="Straight Connector 101"/>
          <p:cNvSpPr/>
          <p:nvPr/>
        </p:nvSpPr>
        <p:spPr>
          <a:xfrm>
            <a:off x="60984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3" name="Straight Connector 102"/>
          <p:cNvSpPr/>
          <p:nvPr/>
        </p:nvSpPr>
        <p:spPr>
          <a:xfrm>
            <a:off x="70128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Straight Connector 103"/>
          <p:cNvSpPr/>
          <p:nvPr/>
        </p:nvSpPr>
        <p:spPr>
          <a:xfrm>
            <a:off x="79272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5" name="Straight Connector 104"/>
          <p:cNvSpPr/>
          <p:nvPr/>
        </p:nvSpPr>
        <p:spPr>
          <a:xfrm>
            <a:off x="88416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6" name="Straight Connector 105"/>
          <p:cNvSpPr/>
          <p:nvPr/>
        </p:nvSpPr>
        <p:spPr>
          <a:xfrm>
            <a:off x="9756000" y="91440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7" name="TextBox 106"/>
          <p:cNvSpPr txBox="1"/>
          <p:nvPr/>
        </p:nvSpPr>
        <p:spPr>
          <a:xfrm>
            <a:off x="2290320" y="4682880"/>
            <a:ext cx="30708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132720" y="4682880"/>
            <a:ext cx="4338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10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047120" y="4682880"/>
            <a:ext cx="4338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15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61520" y="4682880"/>
            <a:ext cx="4338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875920" y="4682880"/>
            <a:ext cx="4338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25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790320" y="4682880"/>
            <a:ext cx="4338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30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98600" y="4682880"/>
            <a:ext cx="457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35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19120" y="4682880"/>
            <a:ext cx="4338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40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533520" y="4682880"/>
            <a:ext cx="4338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45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405800" y="4682880"/>
            <a:ext cx="30708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33600" y="5140080"/>
            <a:ext cx="32364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Douglas Fir Stand Age (years)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58800" y="950400"/>
            <a:ext cx="102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RA 20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86800" y="1636200"/>
            <a:ext cx="102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CW 20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58800" y="2345400"/>
            <a:ext cx="102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RA 10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50800" y="3021480"/>
            <a:ext cx="102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CW 10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66800" y="3704400"/>
            <a:ext cx="1024200" cy="346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1800" b="0" strike="noStrike" spc="-1">
                <a:latin typeface="Arial"/>
              </a:rPr>
              <a:t>DF 0</a:t>
            </a:r>
          </a:p>
        </p:txBody>
      </p:sp>
      <p:sp>
        <p:nvSpPr>
          <p:cNvPr id="123" name="Straight Connector 122"/>
          <p:cNvSpPr/>
          <p:nvPr/>
        </p:nvSpPr>
        <p:spPr>
          <a:xfrm>
            <a:off x="1576800" y="914760"/>
            <a:ext cx="0" cy="3429000"/>
          </a:xfrm>
          <a:prstGeom prst="line">
            <a:avLst/>
          </a:prstGeom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4" name="Rectangle 123"/>
          <p:cNvSpPr/>
          <p:nvPr/>
        </p:nvSpPr>
        <p:spPr>
          <a:xfrm>
            <a:off x="1576800" y="914760"/>
            <a:ext cx="4521600" cy="4568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5" name="Rectangle 124"/>
          <p:cNvSpPr/>
          <p:nvPr/>
        </p:nvSpPr>
        <p:spPr>
          <a:xfrm>
            <a:off x="1576800" y="1600200"/>
            <a:ext cx="4521600" cy="4568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6" name="Rectangle 125"/>
          <p:cNvSpPr/>
          <p:nvPr/>
        </p:nvSpPr>
        <p:spPr>
          <a:xfrm>
            <a:off x="1576800" y="2286360"/>
            <a:ext cx="6350400" cy="4568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7" name="Rectangle 126"/>
          <p:cNvSpPr/>
          <p:nvPr/>
        </p:nvSpPr>
        <p:spPr>
          <a:xfrm>
            <a:off x="1576800" y="2971800"/>
            <a:ext cx="6350400" cy="4568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8" name="Rectangle 127"/>
          <p:cNvSpPr/>
          <p:nvPr/>
        </p:nvSpPr>
        <p:spPr>
          <a:xfrm>
            <a:off x="1576800" y="3657600"/>
            <a:ext cx="8179200" cy="4568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9" name="TextBox 128"/>
          <p:cNvSpPr txBox="1"/>
          <p:nvPr/>
        </p:nvSpPr>
        <p:spPr>
          <a:xfrm>
            <a:off x="9516600" y="3692160"/>
            <a:ext cx="47340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45</a:t>
            </a:r>
          </a:p>
          <a:p>
            <a:pPr algn="ctr"/>
            <a:r>
              <a:rPr lang="en-US" sz="1050" b="0" strike="noStrike" spc="-1">
                <a:latin typeface="Arial"/>
              </a:rPr>
              <a:t>2020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684200" y="3007800"/>
            <a:ext cx="47340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35</a:t>
            </a:r>
          </a:p>
          <a:p>
            <a:pPr algn="ctr"/>
            <a:r>
              <a:rPr lang="en-US" sz="1050" b="0" strike="noStrike" spc="-1">
                <a:latin typeface="Arial"/>
              </a:rPr>
              <a:t>2020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684200" y="2322360"/>
            <a:ext cx="47340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35</a:t>
            </a:r>
          </a:p>
          <a:p>
            <a:pPr algn="ctr"/>
            <a:r>
              <a:rPr lang="en-US" sz="1050" b="0" strike="noStrike" spc="-1">
                <a:latin typeface="Arial"/>
              </a:rPr>
              <a:t>2020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855400" y="1635120"/>
            <a:ext cx="47340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25</a:t>
            </a:r>
          </a:p>
          <a:p>
            <a:pPr algn="ctr"/>
            <a:r>
              <a:rPr lang="en-US" sz="1050" b="0" strike="noStrike" spc="-1">
                <a:latin typeface="Arial"/>
              </a:rPr>
              <a:t>2020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855400" y="949320"/>
            <a:ext cx="47340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25</a:t>
            </a:r>
          </a:p>
          <a:p>
            <a:pPr algn="ctr"/>
            <a:r>
              <a:rPr lang="en-US" sz="1050" b="0" strike="noStrike" spc="-1">
                <a:latin typeface="Arial"/>
              </a:rPr>
              <a:t>2020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819200" y="3692160"/>
            <a:ext cx="46404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36</a:t>
            </a:r>
          </a:p>
          <a:p>
            <a:pPr algn="ctr"/>
            <a:r>
              <a:rPr lang="en-US" sz="1050" b="0" strike="noStrike" spc="-1">
                <a:latin typeface="Arial"/>
              </a:rPr>
              <a:t>2011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516960" y="3692520"/>
            <a:ext cx="47340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45</a:t>
            </a:r>
          </a:p>
          <a:p>
            <a:pPr algn="ctr"/>
            <a:r>
              <a:rPr lang="en-US" sz="1050" b="0" strike="noStrike" spc="-1">
                <a:latin typeface="Arial"/>
              </a:rPr>
              <a:t>2020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63200" y="3685320"/>
            <a:ext cx="47340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12</a:t>
            </a:r>
          </a:p>
          <a:p>
            <a:pPr algn="ctr"/>
            <a:r>
              <a:rPr lang="en-US" sz="1050" b="0" strike="noStrike" spc="-1">
                <a:latin typeface="Arial"/>
              </a:rPr>
              <a:t>1987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051600" y="3007800"/>
            <a:ext cx="46404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26</a:t>
            </a:r>
          </a:p>
          <a:p>
            <a:pPr algn="ctr"/>
            <a:r>
              <a:rPr lang="en-US" sz="1050" b="0" strike="noStrike" spc="-1">
                <a:latin typeface="Arial"/>
              </a:rPr>
              <a:t>2011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057360" y="2320920"/>
            <a:ext cx="46404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26</a:t>
            </a:r>
          </a:p>
          <a:p>
            <a:pPr algn="ctr"/>
            <a:r>
              <a:rPr lang="en-US" sz="1050" b="0" strike="noStrike" spc="-1">
                <a:latin typeface="Arial"/>
              </a:rPr>
              <a:t>2011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222800" y="949320"/>
            <a:ext cx="46404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16</a:t>
            </a:r>
          </a:p>
          <a:p>
            <a:pPr algn="ctr"/>
            <a:r>
              <a:rPr lang="en-US" sz="1050" b="0" strike="noStrike" spc="-1">
                <a:latin typeface="Arial"/>
              </a:rPr>
              <a:t>2011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215960" y="1636200"/>
            <a:ext cx="46404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16</a:t>
            </a:r>
          </a:p>
          <a:p>
            <a:pPr algn="ctr"/>
            <a:r>
              <a:rPr lang="en-US" sz="1050" b="0" strike="noStrike" spc="-1">
                <a:latin typeface="Arial"/>
              </a:rPr>
              <a:t>2011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128400" y="2320920"/>
            <a:ext cx="47340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10</a:t>
            </a:r>
          </a:p>
          <a:p>
            <a:pPr algn="ctr"/>
            <a:r>
              <a:rPr lang="en-US" sz="1050" b="0" strike="noStrike" spc="-1">
                <a:latin typeface="Arial"/>
              </a:rPr>
              <a:t>1995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112200" y="3007800"/>
            <a:ext cx="473400" cy="386280"/>
          </a:xfrm>
          <a:prstGeom prst="rect">
            <a:avLst/>
          </a:prstGeom>
          <a:solidFill>
            <a:srgbClr val="FFFFFF">
              <a:alpha val="53000"/>
            </a:srgbClr>
          </a:solidFill>
          <a:ln w="0">
            <a:solidFill>
              <a:srgbClr val="000000"/>
            </a:solidFill>
          </a:ln>
        </p:spPr>
        <p:txBody>
          <a:bodyPr lIns="90000" tIns="45000" rIns="90000" bIns="45000">
            <a:noAutofit/>
          </a:bodyPr>
          <a:lstStyle/>
          <a:p>
            <a:pPr algn="ctr"/>
            <a:r>
              <a:rPr lang="en-US" sz="1050" b="0" strike="noStrike" spc="-1">
                <a:latin typeface="Arial"/>
              </a:rPr>
              <a:t>10</a:t>
            </a:r>
          </a:p>
          <a:p>
            <a:pPr algn="ctr"/>
            <a:r>
              <a:rPr lang="en-US" sz="1050" b="0" strike="noStrike" spc="-1">
                <a:latin typeface="Arial"/>
              </a:rPr>
              <a:t>1995</a:t>
            </a:r>
          </a:p>
        </p:txBody>
      </p:sp>
      <p:sp>
        <p:nvSpPr>
          <p:cNvPr id="143" name="TextBox 142"/>
          <p:cNvSpPr txBox="1"/>
          <p:nvPr/>
        </p:nvSpPr>
        <p:spPr>
          <a:xfrm rot="16180800">
            <a:off x="-392040" y="2382840"/>
            <a:ext cx="1405800" cy="373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US" sz="2000" b="0" strike="noStrike" spc="-1">
                <a:latin typeface="Arial"/>
              </a:rPr>
              <a:t>Treatment</a:t>
            </a:r>
          </a:p>
        </p:txBody>
      </p:sp>
      <p:grpSp>
        <p:nvGrpSpPr>
          <p:cNvPr id="144" name="Group 143"/>
          <p:cNvGrpSpPr/>
          <p:nvPr/>
        </p:nvGrpSpPr>
        <p:grpSpPr>
          <a:xfrm>
            <a:off x="7664400" y="299520"/>
            <a:ext cx="2023920" cy="386280"/>
            <a:chOff x="7664400" y="299520"/>
            <a:chExt cx="2023920" cy="386280"/>
          </a:xfrm>
        </p:grpSpPr>
        <p:sp>
          <p:nvSpPr>
            <p:cNvPr id="145" name="Rectangle 144"/>
            <p:cNvSpPr/>
            <p:nvPr/>
          </p:nvSpPr>
          <p:spPr>
            <a:xfrm>
              <a:off x="7772400" y="339480"/>
              <a:ext cx="1828800" cy="34632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146" name="Group 145"/>
            <p:cNvGrpSpPr/>
            <p:nvPr/>
          </p:nvGrpSpPr>
          <p:grpSpPr>
            <a:xfrm>
              <a:off x="7664400" y="299520"/>
              <a:ext cx="2023920" cy="386280"/>
              <a:chOff x="7664400" y="299520"/>
              <a:chExt cx="2023920" cy="386280"/>
            </a:xfrm>
          </p:grpSpPr>
          <p:sp>
            <p:nvSpPr>
              <p:cNvPr id="147" name="TextBox 146"/>
              <p:cNvSpPr txBox="1"/>
              <p:nvPr/>
            </p:nvSpPr>
            <p:spPr>
              <a:xfrm>
                <a:off x="7664400" y="299520"/>
                <a:ext cx="650160" cy="386280"/>
              </a:xfrm>
              <a:prstGeom prst="rect">
                <a:avLst/>
              </a:prstGeom>
              <a:solidFill>
                <a:srgbClr val="FFFFFF">
                  <a:alpha val="53000"/>
                </a:srgbClr>
              </a:solidFill>
              <a:ln w="0">
                <a:solidFill>
                  <a:srgbClr val="000000"/>
                </a:solidFill>
              </a:ln>
            </p:spPr>
            <p:txBody>
              <a:bodyPr lIns="90000" tIns="45000" rIns="90000" bIns="45000">
                <a:noAutofit/>
              </a:bodyPr>
              <a:lstStyle/>
              <a:p>
                <a:pPr algn="ctr"/>
                <a:r>
                  <a:rPr lang="en-US" sz="1050" b="0" strike="noStrike" spc="-1">
                    <a:latin typeface="Arial"/>
                  </a:rPr>
                  <a:t> DF age</a:t>
                </a:r>
              </a:p>
              <a:p>
                <a:pPr algn="ctr"/>
                <a:r>
                  <a:rPr lang="en-US" sz="1050" b="0" strike="noStrike" spc="-1">
                    <a:latin typeface="Arial"/>
                  </a:rPr>
                  <a:t>year</a:t>
                </a:r>
              </a:p>
            </p:txBody>
          </p:sp>
          <p:sp>
            <p:nvSpPr>
              <p:cNvPr id="148" name="TextBox 147"/>
              <p:cNvSpPr txBox="1"/>
              <p:nvPr/>
            </p:nvSpPr>
            <p:spPr>
              <a:xfrm>
                <a:off x="8282520" y="339480"/>
                <a:ext cx="1405800" cy="34632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lIns="90000" tIns="45000" rIns="90000" bIns="45000">
                <a:noAutofit/>
              </a:bodyPr>
              <a:lstStyle/>
              <a:p>
                <a:r>
                  <a:rPr lang="en-US" sz="1400" b="0" strike="noStrike" spc="-1">
                    <a:latin typeface="Arial"/>
                  </a:rPr>
                  <a:t>Measurement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Research Questions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414987" y="2103436"/>
            <a:ext cx="9071640" cy="328824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Does rotation with red alder </a:t>
            </a:r>
            <a:r>
              <a:rPr lang="en-US" u="sng" dirty="0" smtClean="0"/>
              <a:t>reduce mortality</a:t>
            </a:r>
            <a:r>
              <a:rPr lang="en-US" dirty="0" smtClean="0"/>
              <a:t> of DF to LRR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Increase basal area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Cottonwood reduce mortality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Cottonwood increase basal area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Do effects differ across LRR severity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Do effects differ with initial distance from disease center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151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244</Words>
  <Application>Microsoft Office PowerPoint</Application>
  <PresentationFormat>Custom</PresentationFormat>
  <Paragraphs>114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DejaVu Sans</vt:lpstr>
      <vt:lpstr>Symbol</vt:lpstr>
      <vt:lpstr>Times New Roman</vt:lpstr>
      <vt:lpstr>Wingdings</vt:lpstr>
      <vt:lpstr>Office Theme</vt:lpstr>
      <vt:lpstr>Apiary LRR Rotation Study</vt:lpstr>
      <vt:lpstr>PowerPoint Presentation</vt:lpstr>
      <vt:lpstr>PowerPoint Presentation</vt:lpstr>
      <vt:lpstr>PowerPoint Presentation</vt:lpstr>
      <vt:lpstr>PowerPoint Presentation</vt:lpstr>
      <vt:lpstr>Research Questions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David Showalter</dc:creator>
  <dc:description/>
  <cp:lastModifiedBy>Microsoft account</cp:lastModifiedBy>
  <cp:revision>10</cp:revision>
  <dcterms:created xsi:type="dcterms:W3CDTF">2021-11-18T12:11:15Z</dcterms:created>
  <dcterms:modified xsi:type="dcterms:W3CDTF">2021-11-29T17:38:39Z</dcterms:modified>
  <dc:language>en-US</dc:language>
</cp:coreProperties>
</file>